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분자 도킹 실습 워크숍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9688"/>
                </a:solidFill>
                <a:latin typeface="맑은 고딕"/>
              </a:defRPr>
            </a:pPr>
            <a:r>
              <a:t>Google Colab + AutoDock Vina + PyMOL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맑은 고딕"/>
              </a:defRPr>
            </a:pPr>
            <a:r>
              <a:t>&gt; TYK2 단일 타겟 도킹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43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맑은 고딕"/>
              </a:defRPr>
            </a:pPr>
            <a:r>
              <a:t>&gt; Kinase Panel 선택성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846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맑은 고딕"/>
              </a:defRPr>
            </a:pPr>
            <a:r>
              <a:t>&gt; EGFR 변이체 내성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PyMOL 기반 구조 시각화 실습 포함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맑은 고딕"/>
              </a:defRPr>
            </a:pPr>
            <a:r>
              <a:t>실습 로드맵: 이론에서 손끝까지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26517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651760" cy="7315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1단계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환경 설정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맑은 고딕"/>
              </a:defRPr>
            </a:pPr>
            <a:r>
              <a:t>Colab 접속</a:t>
            </a:r>
            <a:br/>
            <a:r>
              <a:t>패키지 설치</a:t>
            </a:r>
            <a:br/>
            <a:r>
              <a:t>PyMOL/Vina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968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71600"/>
            <a:ext cx="26517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29000" y="1371600"/>
            <a:ext cx="2651760" cy="7315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2단계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구조 준비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37744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맑은 고딕"/>
              </a:defRPr>
            </a:pPr>
            <a:r>
              <a:t>PDB 다운로드</a:t>
            </a:r>
            <a:br/>
            <a:r>
              <a:t>단백질 정제</a:t>
            </a:r>
            <a:br/>
            <a:r>
              <a:t>리간드 추출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968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371600"/>
            <a:ext cx="26517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59" y="1371600"/>
            <a:ext cx="2651760" cy="7315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3단계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도킹 실행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237744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맑은 고딕"/>
              </a:defRPr>
            </a:pPr>
            <a:r>
              <a:t>Grid Box 설정</a:t>
            </a:r>
            <a:br/>
            <a:r>
              <a:t>Vina/smina 실행</a:t>
            </a:r>
            <a:br/>
            <a:r>
              <a:t>포즈 생성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79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968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19" y="1371600"/>
            <a:ext cx="26517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89719" y="1371600"/>
            <a:ext cx="2651760" cy="7315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4단계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결과 분석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39" y="237744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맑은 고딕"/>
              </a:defRPr>
            </a:pPr>
            <a:r>
              <a:t>스코어 비교</a:t>
            </a:r>
            <a:br/>
            <a:r>
              <a:t>상호작용 분석</a:t>
            </a:r>
            <a:br/>
            <a:r>
              <a:t>PyMOL 시각화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맑은 고딕"/>
              </a:defRPr>
            </a:pPr>
            <a:r>
              <a:t>Colab 노트북 3개를 순서대로 실행하며, 각 단계에서 PyMOL 명령어로 구조를 직접 확인합니다.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맑은 고딕"/>
              </a:defRPr>
            </a:pPr>
            <a:r>
              <a:t>Step 1: Colab 환경 설정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9688"/>
                </a:solidFill>
                <a:latin typeface="맑은 고딕"/>
              </a:defRPr>
            </a:pPr>
            <a:r>
              <a:t>TYK2_Molecular_Docking_Colab.ipynb  |  Section 1-1 ~ 1-3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맑은 고딕"/>
              </a:defRPr>
            </a:pPr>
            <a:r>
              <a:t>Python 패키지 설치 (Cell 1-1)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5029200" cy="2286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!pip install -q rdkit-pypi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!pip install -q meeko vina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!pip install -q openbabel-wheel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!pip install -q pdbfixer openmm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!pip install -q pymol-open-source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!pip install -q py3Dmol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!pip install -q MDAnalysis prolif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!pip install -q seaborn pandas matplotlib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맑은 고딕"/>
              </a:defRPr>
            </a:pPr>
            <a:r>
              <a:t>바이너리 도구 설치 (Cell 1-2)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920240"/>
            <a:ext cx="5303520" cy="2286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# smina (Vina 변형, 추가 스코어링)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# ADFRsuite (prepare_receptor, prepare_ligand)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#   → PDBQT 포맷 변환 도구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# 자동 다운로드 &amp; 설치됨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# Cell을 실행하면 /content/bin/ 에 설치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맑은 고딕"/>
              </a:defRPr>
            </a:pPr>
            <a:r>
              <a:t>설치되는 핵심 도구 정리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937760"/>
            <a:ext cx="34747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3498DB"/>
                </a:solidFill>
              </a:rPr>
              <a:t>PyMOL</a:t>
            </a:r>
            <a:r>
              <a:rPr sz="1200">
                <a:solidFill>
                  <a:srgbClr val="666666"/>
                </a:solidFill>
              </a:rPr>
              <a:t>  —  구조 로딩/정제/시각화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937760"/>
            <a:ext cx="34747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009688"/>
                </a:solidFill>
              </a:rPr>
              <a:t>RDKit</a:t>
            </a:r>
            <a:r>
              <a:rPr sz="1200">
                <a:solidFill>
                  <a:srgbClr val="666666"/>
                </a:solidFill>
              </a:rPr>
              <a:t>  —  분자 조작/핑거프린트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937760"/>
            <a:ext cx="34747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E74C3C"/>
                </a:solidFill>
              </a:rPr>
              <a:t>AutoDock Vina</a:t>
            </a:r>
            <a:r>
              <a:rPr sz="1200">
                <a:solidFill>
                  <a:srgbClr val="666666"/>
                </a:solidFill>
              </a:rPr>
              <a:t>  —  도킹 엔진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577840"/>
            <a:ext cx="34747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E74C3C"/>
                </a:solidFill>
              </a:rPr>
              <a:t>smina</a:t>
            </a:r>
            <a:r>
              <a:rPr sz="1200">
                <a:solidFill>
                  <a:srgbClr val="666666"/>
                </a:solidFill>
              </a:rPr>
              <a:t>  —  Vina 변형 (추가 SF)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5577840"/>
            <a:ext cx="34747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2ECC71"/>
                </a:solidFill>
              </a:rPr>
              <a:t>PDBFixer</a:t>
            </a:r>
            <a:r>
              <a:rPr sz="1200">
                <a:solidFill>
                  <a:srgbClr val="666666"/>
                </a:solidFill>
              </a:rPr>
              <a:t>  —  구조 결함 복구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5577840"/>
            <a:ext cx="34747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2ECC71"/>
                </a:solidFill>
              </a:rPr>
              <a:t>ProLIF</a:t>
            </a:r>
            <a:r>
              <a:rPr sz="1200">
                <a:solidFill>
                  <a:srgbClr val="666666"/>
                </a:solidFill>
              </a:rPr>
              <a:t>  —  상호작용 분석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맑은 고딕"/>
              </a:defRPr>
            </a:pPr>
            <a:r>
              <a:t>Step 1.5: PDB 구조 검색 &amp; 선택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9688"/>
                </a:solidFill>
                <a:latin typeface="맑은 고딕"/>
              </a:defRPr>
            </a:pPr>
            <a:r>
              <a:t>Section 1.5-1 ~ 1.5-3  |  RCSB PDB Search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맑은 고딕"/>
              </a:defRPr>
            </a:pPr>
            <a:r>
              <a:t>PDB 자동 검색 (Cell 1.5-1)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5029200" cy="18288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# RCSB PDB Search API로 TYK2 구조 검색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search_url = "https://search.rcsb.org/..."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query = {"query": {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   "nodes": [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       {"service": "full_text",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        "value": "TYK2 tyrosine kinase"},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       {"service": "text",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        "value": "X-RAY DIFFRACTION"}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   ]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맑은 고딕"/>
              </a:defRPr>
            </a:pPr>
            <a:r>
              <a:t>구조 선택 기준 (Cell 1.5-2)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3035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300" b="1">
                <a:solidFill>
                  <a:srgbClr val="009688"/>
                </a:solidFill>
              </a:rPr>
              <a:t>Resolution: </a:t>
            </a:r>
            <a:r>
              <a:rPr sz="1300">
                <a:solidFill>
                  <a:srgbClr val="1A1A2E"/>
                </a:solidFill>
              </a:rPr>
              <a:t>&lt; 2.5 A 권장 (낮을수록 정밀)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606040"/>
            <a:ext cx="53035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300" b="1">
                <a:solidFill>
                  <a:srgbClr val="009688"/>
                </a:solidFill>
              </a:rPr>
              <a:t>Co-crystal ligand: </a:t>
            </a:r>
            <a:r>
              <a:rPr sz="1300">
                <a:solidFill>
                  <a:srgbClr val="1A1A2E"/>
                </a:solidFill>
              </a:rPr>
              <a:t>결합 리간드가 있어야 도킹 가능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200400"/>
            <a:ext cx="53035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300" b="1">
                <a:solidFill>
                  <a:srgbClr val="009688"/>
                </a:solidFill>
              </a:rPr>
              <a:t>Chain: </a:t>
            </a:r>
            <a:r>
              <a:rPr sz="1300">
                <a:solidFill>
                  <a:srgbClr val="1A1A2E"/>
                </a:solidFill>
              </a:rPr>
              <a:t>단일 chain 선택 (보통 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794760"/>
            <a:ext cx="53035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300" b="1">
                <a:solidFill>
                  <a:srgbClr val="009688"/>
                </a:solidFill>
              </a:rPr>
              <a:t>Default: </a:t>
            </a:r>
            <a:r>
              <a:rPr sz="1300">
                <a:solidFill>
                  <a:srgbClr val="1A1A2E"/>
                </a:solidFill>
              </a:rPr>
              <a:t>6NZP (TYK2, 2.4A, chain 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89120"/>
            <a:ext cx="11064240" cy="20116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88"/>
                </a:solidFill>
                <a:latin typeface="맑은 고딕"/>
              </a:defRPr>
            </a:pPr>
            <a:r>
              <a:t>PyMOL로 구조 확인하기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937760"/>
            <a:ext cx="10058400" cy="12801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# PyMOL에서 PDB 구조 불러오기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from pymol import cmd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cmd.fetch('6nzp', type='pdb')           # PDB에서 다운로드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cmd.select('Prot', 'polymer.protein')   # 단백질 선택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cmd.select('Lig', 'organic')            # 리간드(약물) 선택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cmd.show('cartoon', 'Prot')             # 단백질: 리본 표시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cmd.show('sticks', 'Lig')              # 리간드: 막대 표시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cmd.color('cyan', 'Prot')              # 단백질 색상: 시안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맑은 고딕"/>
              </a:defRPr>
            </a:pPr>
            <a:r>
              <a:t>Step 2: 단백질 &amp; 리간드 준비 (Preparation)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9688"/>
                </a:solidFill>
                <a:latin typeface="맑은 고딕"/>
              </a:defRPr>
            </a:pPr>
            <a:r>
              <a:t>Section 3-1, 4-1 ~ 4-4  |  이론 PDF "Step 1&amp;2: 데이터 정제" 슬라이드 참조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36576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00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맑은 고딕"/>
              </a:defRPr>
            </a:pPr>
            <a:r>
              <a:t>PDB Clean (pdb_clean)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• PDB 파일에서 특정 chain만 추출</a:t>
            </a:r>
            <a:br/>
            <a:r>
              <a:t>• 단백질(polymer.protein)과</a:t>
            </a:r>
            <a:br/>
            <a:r>
              <a:t>  리간드(organic) 분리</a:t>
            </a:r>
            <a:br/>
            <a:r>
              <a:t>• 물 분자/이종 원자 제거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657600"/>
            <a:ext cx="3383280" cy="2560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2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cmd.fetch("6nzp", type="pdb")</a:t>
            </a:r>
          </a:p>
          <a:p>
            <a:pPr>
              <a:spcAft>
                <a:spcPts val="2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cmd.remove("not chain A")</a:t>
            </a:r>
          </a:p>
          <a:p>
            <a:pPr>
              <a:spcAft>
                <a:spcPts val="2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cmd.select("Prot", "polymer.protein")</a:t>
            </a:r>
          </a:p>
          <a:p>
            <a:pPr>
              <a:spcAft>
                <a:spcPts val="2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cmd.select("Lig", "organic")</a:t>
            </a:r>
          </a:p>
          <a:p>
            <a:pPr>
              <a:spcAft>
                <a:spcPts val="2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cmd.save("6nzp_clean.pdb", "Prot")</a:t>
            </a:r>
          </a:p>
          <a:p>
            <a:pPr>
              <a:spcAft>
                <a:spcPts val="2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cmd.save("6nzp_lig.mol2", "Lig")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371600"/>
            <a:ext cx="36576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89120" y="1554480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00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맑은 고딕"/>
              </a:defRPr>
            </a:pPr>
            <a:r>
              <a:t>Fix &amp; Add H (fix_protein)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10312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• PDBFixer로 누락된 잔기 복구</a:t>
            </a:r>
            <a:br/>
            <a:r>
              <a:t>• 비표준 잔기 → 표준으로 교체</a:t>
            </a:r>
            <a:br/>
            <a:r>
              <a:t>• pH 7.4에서 수소 원자 추가</a:t>
            </a:r>
            <a:br/>
            <a:r>
              <a:t>• X-선의 맹점(Missing Protons) 해결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3657600"/>
            <a:ext cx="3383280" cy="2560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2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from pdbfixer import PDBFixer</a:t>
            </a:r>
          </a:p>
          <a:p>
            <a:pPr>
              <a:spcAft>
                <a:spcPts val="2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fixer = PDBFixer("6nzp_clean.pdb")</a:t>
            </a:r>
          </a:p>
          <a:p>
            <a:pPr>
              <a:spcAft>
                <a:spcPts val="2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fixer.findMissingResidues()</a:t>
            </a:r>
          </a:p>
          <a:p>
            <a:pPr>
              <a:spcAft>
                <a:spcPts val="2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fixer.addMissingAtoms()</a:t>
            </a:r>
          </a:p>
          <a:p>
            <a:pPr>
              <a:spcAft>
                <a:spcPts val="2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fixer.addMissingHydrogens(7.4)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6576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0" y="1554480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600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맑은 고딕"/>
              </a:defRPr>
            </a:pPr>
            <a:r>
              <a:t>PDBQT 변환 (prep_pdbqt)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0312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• 원자에 부분 전하(Charge) 부여</a:t>
            </a:r>
            <a:br/>
            <a:r>
              <a:t>• Gasteiger charge 계산</a:t>
            </a:r>
            <a:br/>
            <a:r>
              <a:t>• ADFRsuite의 prepare_receptor</a:t>
            </a:r>
            <a:br/>
            <a:r>
              <a:t>• 도킹 엔진(Vina)이 읽는 포맷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80" y="3657600"/>
            <a:ext cx="3383280" cy="2560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2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# ADFRsuite 사용</a:t>
            </a:r>
          </a:p>
          <a:p>
            <a:pPr>
              <a:spcAft>
                <a:spcPts val="2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!prepare_receptor -r protein_H.pdb \</a:t>
            </a:r>
          </a:p>
          <a:p>
            <a:pPr>
              <a:spcAft>
                <a:spcPts val="2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-o protein.pdbqt</a:t>
            </a:r>
          </a:p>
          <a:p>
            <a:pPr>
              <a:spcAft>
                <a:spcPts val="2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!prepare_ligand -l ligand_H.mol2 \</a:t>
            </a:r>
          </a:p>
          <a:p>
            <a:pPr>
              <a:spcAft>
                <a:spcPts val="2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-o ligand.pdbqt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맑은 고딕"/>
              </a:defRPr>
            </a:pPr>
            <a:r>
              <a:t>Step 2.5: 도킹 박스 (Grid Box) 설정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9688"/>
                </a:solidFill>
                <a:latin typeface="맑은 고딕"/>
              </a:defRPr>
            </a:pPr>
            <a:r>
              <a:t>Section 2-1 getbox()  |  이론 PDF "활성 부위 지정 (Grid Generation)" 참조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4864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맑은 고딕"/>
              </a:defRPr>
            </a:pPr>
            <a:r>
              <a:t>도킹 박스란?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맑은 고딕"/>
              </a:defRPr>
            </a:pPr>
            <a:r>
              <a:t>• 도킹 엔진이 리간드를 탐색할 3차원 공간</a:t>
            </a:r>
            <a:br/>
            <a:r>
              <a:t>• Co-crystal 리간드 위치를 기준으로 자동 계산</a:t>
            </a:r>
            <a:br/>
            <a:r>
              <a:t>• extending 파라미터로 여유 공간 조절 (기본 6-7 A)</a:t>
            </a:r>
            <a:br/>
            <a:r>
              <a:t>• center (x, y, z) + size (x, y, z) 6개 값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840480"/>
            <a:ext cx="4937760" cy="2286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def getbox(selection='lig', extending=6.0):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   # PyMOL에서 리간드의 bounding box 추출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   ([minX, minY, minZ],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    [maxX, maxY, maxZ]) = cmd.get_extent(selection)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   # 각 방향으로 padding 추가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   center = {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     'center_x': (maxX + minX) / 2,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     'center_y': (maxY + minY) / 2,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     'center_z': (maxZ + minZ) / 2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   size = {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     'size_x': maxX - minX + 2*extending,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     ...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   return center, size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212080" cy="48463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88"/>
                </a:solidFill>
                <a:latin typeface="맑은 고딕"/>
              </a:defRPr>
            </a:pPr>
            <a:r>
              <a:t>PyMOL로 도킹 박스 확인하기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2194560"/>
            <a:ext cx="4663440" cy="39319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# 1. 구조 로드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cmd.load('6nzp_clean_H.pdb', 'prot')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cmd.load('6nzp_lig_H.mol2', 'lig')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# 2. 시각화 설정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cmd.show('cartoon', 'prot')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cmd.color('palegreen', 'prot')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cmd.show('sticks', 'lig')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cmd.color('orange', 'lig')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# 3. 결합 부위 잔기 하이라이트 (5A 이내)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cmd.select('site', 'prot within 5.0 of lig')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cmd.show('sticks', 'site')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cmd.color('skyblue', 'site')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# 4. 리간드 주변 표면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cmd.show('surface', 'site')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cmd.set('transparency', 0.7, 'site')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# 5. H-bond 표시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cmd.distance('hbonds', 'lig', 'site', 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             mode=2)  # mode=2 = H-bonds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맑은 고딕"/>
              </a:defRPr>
            </a:pPr>
            <a:r>
              <a:t>Step 3: 도킹 실행 — Vina &amp; smina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9688"/>
                </a:solidFill>
                <a:latin typeface="맑은 고딕"/>
              </a:defRPr>
            </a:pPr>
            <a:r>
              <a:t>Section 4-5, 4-6  |  이론 PDF "도킹 시뮬레이션의 심장, 두 개의 기어" 참조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4864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98DB"/>
                </a:solidFill>
                <a:latin typeface="맑은 고딕"/>
              </a:defRPr>
            </a:pPr>
            <a:r>
              <a:t>AutoDock Vina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맑은 고딕"/>
              </a:defRPr>
            </a:pPr>
            <a:r>
              <a:t>• Knowledge-based + Empirical 하이브리드 채점</a:t>
            </a:r>
            <a:br/>
            <a:r>
              <a:t>• Iterated Local Search 탐색 알고리즘</a:t>
            </a:r>
            <a:br/>
            <a:r>
              <a:t>• 오픈소스, 학계 표준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108960"/>
            <a:ext cx="4937760" cy="32004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from vina import Vina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v = Vina(sf_name='vina')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v.set_receptor('protein.pdbqt')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v.set_ligand_from_file('ligand.pdbqt')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# Grid Map 계산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v.compute_vina_maps(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   center=[center['center_x'],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           center['center_y'],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           center['center_z']],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   box_size=[size['size_x'],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             size['size_y'],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             size['size_z']]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# 도킹 실행 (~5분)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v.dock(exhaustiveness=128, n_poses=30)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v.write_poses('vina_out.pdbqt', n_poses=30)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  <a:latin typeface="맑은 고딕"/>
              </a:defRPr>
            </a:pPr>
            <a:r>
              <a:t>smina (Vina Fork)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19456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맑은 고딕"/>
              </a:defRPr>
            </a:pPr>
            <a:r>
              <a:t>• Vina 기반 + 추가 스코어링 함수</a:t>
            </a:r>
            <a:br/>
            <a:r>
              <a:t>• vinardo, ad4_scoring 등 교체 가능</a:t>
            </a:r>
            <a:br/>
            <a:r>
              <a:t>• CLI 기반, 빠른 실행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3108960"/>
            <a:ext cx="4663440" cy="32004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# smina 도킹 (~1분)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!smina \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 -r protein.pdbqt \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 -l ligand.pdbqt \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 -o smina_out.sdf \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 --center_x {cx} \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 --center_y {cy} \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 --center_z {cz} \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 --size_x {sx} \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 --size_y {sy} \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 --size_z {sz} \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 --exhaustiveness 256 \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 --num_modes 30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# exhaustiveness: 탐색 깊이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#   높을수록 정확하지만 느림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# num_modes: 출력할 포즈 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맑은 고딕"/>
              </a:defRPr>
            </a:pPr>
            <a:r>
              <a:t>도킹 파라미터 이해하기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642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09728" cy="1188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98DB"/>
                </a:solidFill>
                <a:latin typeface="Consolas"/>
              </a:defRPr>
            </a:pPr>
            <a:r>
              <a:t>exhaustiveness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맑은 고딕"/>
              </a:defRPr>
            </a:pPr>
            <a:r>
              <a:t>128 / 256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46304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탐색 철저성. Monte Carlo 반복 횟수.</a:t>
            </a:r>
            <a:br/>
            <a:r>
              <a:t>높을수록 정확하지만 시간 증가. 기본값 8은 너무 낮음.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39"/>
            <a:ext cx="110642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606039"/>
            <a:ext cx="109728" cy="1188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4319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88"/>
                </a:solidFill>
                <a:latin typeface="Consolas"/>
              </a:defRPr>
            </a:pPr>
            <a:r>
              <a:t>n_poses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546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맑은 고딕"/>
              </a:defRPr>
            </a:pPr>
            <a:r>
              <a:t>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788919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출력할 결합 포즈 수.</a:t>
            </a:r>
            <a:br/>
            <a:r>
              <a:t>상위 30개 자세를 에너지 순으로 정렬 출력.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110642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931920"/>
            <a:ext cx="109728" cy="1188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69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Consolas"/>
              </a:defRPr>
            </a:pPr>
            <a:r>
              <a:t>extending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맑은 고딕"/>
              </a:defRPr>
            </a:pPr>
            <a:r>
              <a:t>6.0 ~ 7.0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11480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도킹 박스 여유 공간.</a:t>
            </a:r>
            <a:br/>
            <a:r>
              <a:t>리간드 bounding box 바깥으로 확장하는 거리.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257800"/>
            <a:ext cx="110642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5257800"/>
            <a:ext cx="109728" cy="1188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394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onsolas"/>
              </a:defRPr>
            </a:pPr>
            <a:r>
              <a:t>scoring function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806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맑은 고딕"/>
              </a:defRPr>
            </a:pPr>
            <a:r>
              <a:t>vina / vinardo / ad4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544068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결합력 평가 수식.</a:t>
            </a:r>
            <a:br/>
            <a:r>
              <a:t>Consensus scoring에서 여러 SF를 비교.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맑은 고딕"/>
              </a:defRPr>
            </a:pPr>
            <a:r>
              <a:t>Step 4: 결과 분석 (1) — 스코어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9688"/>
                </a:solidFill>
                <a:latin typeface="맑은 고딕"/>
              </a:defRPr>
            </a:pPr>
            <a:r>
              <a:t>Section 5-1, 5-2, 7.5-2, 7.5-3  |  이론 PDF "채점 함수: 상호작용을 점수로 환산하다" 참조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맑은 고딕"/>
              </a:defRPr>
            </a:pPr>
            <a:r>
              <a:t>도킹 스코어 해석법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Consolas"/>
              </a:defRPr>
            </a:pPr>
            <a:r>
              <a:t>&lt; -10 kcal/mol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맑은 고딕"/>
              </a:defRPr>
            </a:pPr>
            <a:r>
              <a:t>매우 강한 결합 (실제 약물 수준)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871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98DB"/>
                </a:solidFill>
                <a:latin typeface="Consolas"/>
              </a:defRPr>
            </a:pPr>
            <a:r>
              <a:t>-7 ~ -10 kcal/mol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4871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맑은 고딕"/>
              </a:defRPr>
            </a:pPr>
            <a:r>
              <a:t>좋은 결합 (리드 화합물 후보)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71215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  <a:latin typeface="Consolas"/>
              </a:defRPr>
            </a:pPr>
            <a:r>
              <a:t>-5 ~ -7 kcal/mol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871215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맑은 고딕"/>
              </a:defRPr>
            </a:pPr>
            <a:r>
              <a:t>약한 결합 (최적화 필요)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55263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  <a:latin typeface="Consolas"/>
              </a:defRPr>
            </a:pPr>
            <a:r>
              <a:t>&gt; -5 kcal/mol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255263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맑은 고딕"/>
              </a:defRPr>
            </a:pPr>
            <a:r>
              <a:t>결합 가능성 낮음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31920"/>
            <a:ext cx="5486400" cy="25603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1148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88"/>
                </a:solidFill>
                <a:latin typeface="맑은 고딕"/>
              </a:defRPr>
            </a:pPr>
            <a:r>
              <a:t>Ligand Efficiency (LE) &amp; Consensus Scoring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572000"/>
            <a:ext cx="4937760" cy="17373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# Ligand Efficiency = -Score / Heavy Atom Count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# LE &gt; 0.3 = drug-like, LE &gt; 0.4 = excellent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LE = -score / heavy_atoms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BEI = -score / (MW / 1000)  # Binding Efficiency Index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# Consensus Scoring: 여러 SF로 같은 포즈를 재평가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for sf in ["vina", "vinardo", "ad4_scoring"]: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    !smina --scoring {sf} ...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# → Spearman rank correlation으로 일관성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맑은 고딕"/>
              </a:defRPr>
            </a:pPr>
            <a:r>
              <a:t>스코어 분석 코드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920240"/>
            <a:ext cx="5212080" cy="44805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# 결과 로드 &amp; 비교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df_vina = PandasTools.LoadSDF('vina_out.sdf')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df_smina = PandasTools.LoadSDF('smina_out.sdf')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print(f'Vina best:  '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      f'{df_vina["minimizedAffinity"].min():.2f}')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print(f'smina best: '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      f'{df_smina["minimizedAffinity"].min():.2f}')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# Boxplot 비교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fig, ax = plt.subplots()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sns.boxplot(data=df_all,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            x='Method',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            y='minimizedAffinity',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            palette='Set2')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ax.set_ylabel('Binding Affinity (kcal/mol)')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# RMSD 검증 (crystal pose vs docked pose)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rmsd = rdMolAlign.GetBestRMS(ref_mol, docked_mol)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# RMSD &lt; 2.0 A → 성공적 re-docking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Step 4: 결과 분석 (2) — PyMOL 도킹 포즈 시각화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9688"/>
                </a:solidFill>
                <a:latin typeface="맑은 고딕"/>
              </a:defRPr>
            </a:pPr>
            <a:r>
              <a:t>Section 6-1, 6-2  |  도킹 결과를 3D로 직접 확인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5486400" cy="4846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# ============ 도킹 포즈 시각화 (PyMOL) ============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# 1. 단백질 + 도킹 결과 로드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cmd.load('6nzp_clean_H.pdb', 'protein')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cmd.load('6nzp_lig_vina_out.sdf', 'docked')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# 2. 단백질 표현: 리본 + 반투명 표면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cmd.show('cartoon', 'protein')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cmd.color('white', 'protein')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cmd.show('surface', 'protein')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cmd.set('transparency', 0.7, 'protein')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# 3. 도킹된 리간드: 초록색 막대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cmd.show('sticks', 'docked')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cmd.color('green', 'docked')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cmd.set('stick_radius', 0.15, 'docked')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# 4. 결합 부위 잔기 표시 (5A 이내)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cmd.select('pocket', 'protein within 5 of docked')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cmd.show('sticks', 'pocket')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cmd.color('skyblue', 'pocket')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# 5. 수소 결합 표시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cmd.distance('hb', 'docked', 'pocket', mode=2)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cmd.set('dash_color', 'yellow', 'hb')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cmd.set('dash_width', 2.0, 'hb')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cmd.set('dash_gap', 0.15, 'hb')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# 6. 카메라 설정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cmd.zoom('docked', 5)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cmd.bg_color('white')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cmd.ray(1920, 1080)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cmd.png('docking_pose.png', dpi=300)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463040"/>
            <a:ext cx="5212080" cy="4846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# ====== Crystal vs Docked 비교 ======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# 1. 참조 리간드 (co-crystal, 마젠타)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cmd.load('6nzp_lig_H.mol2', 'reference')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cmd.show('sticks', 'reference')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cmd.color('magenta', 'reference')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cmd.set('stick_radius', 0.12, 'reference')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# 2. 도킹 포즈 (green) + 참조 (magenta)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#    → 겹쳐서 RMSD 시각적 확인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# 3. 여러 포즈 동시 표시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cmd.split_states('docked')  # 포즈별 분리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cmd.color('green', 'docked_0001')   # best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cmd.color('yellow', 'docked_0002')  # 2nd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cmd.color('salmon', 'docked_0003')  # 3rd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# 4. 전하 표면 (Electrostatic)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cmd.show('surface', 'pocket')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cmd.set('surface_color', 'skyblue')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# 5. 라벨 추가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cmd.label('pocket and name CA',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          '"  "+resn+" "+resi')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cmd.set('label_size', 14)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cmd.set('label_color', 'black')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# ====== 강의 포인트 ======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# magenta(실험) ↔ green(예측) 겹침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#  → RMSD &lt; 2A면 성공적 re-docking</a:t>
            </a:r>
          </a:p>
          <a:p>
            <a:pPr>
              <a:spcAft>
                <a:spcPts val="200"/>
              </a:spcAft>
              <a:defRPr sz="1200">
                <a:solidFill>
                  <a:srgbClr val="D4D4D4"/>
                </a:solidFill>
                <a:latin typeface="Consolas"/>
              </a:defRPr>
            </a:pPr>
            <a:r>
              <a:t>#  → 위치/방향/수소결합 패턴 비교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맑은 고딕"/>
              </a:defRPr>
            </a:pPr>
            <a:r>
              <a:t>Step 4: 결과 분석 (3) — 상호작용 핑거프린트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9688"/>
                </a:solidFill>
                <a:latin typeface="맑은 고딕"/>
              </a:defRPr>
            </a:pPr>
            <a:r>
              <a:t>Section 7-1 ~ 7-5  |  ProLIF (Protein-Ligand Interaction Fingerprints)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0292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맑은 고딕"/>
              </a:defRPr>
            </a:pPr>
            <a:r>
              <a:t>검출되는 상호작용 유형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228600" cy="228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077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98DB"/>
                </a:solidFill>
                <a:latin typeface="Consolas"/>
              </a:defRPr>
            </a:pPr>
            <a:r>
              <a:t>Hydrophobic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77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소수성 접촉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487168"/>
            <a:ext cx="228600" cy="2286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4617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  <a:latin typeface="Consolas"/>
              </a:defRPr>
            </a:pPr>
            <a:r>
              <a:t>HBDonor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4617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수소결합 공여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871215"/>
            <a:ext cx="228600" cy="2286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845815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Consolas"/>
              </a:defRPr>
            </a:pPr>
            <a:r>
              <a:t>HBAcceptor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84581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수소결합 수용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255263"/>
            <a:ext cx="228600" cy="2286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229863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B59B6"/>
                </a:solidFill>
                <a:latin typeface="Consolas"/>
              </a:defRPr>
            </a:pPr>
            <a:r>
              <a:t>PiStacking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229863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Pi-Pi 상호작용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639311"/>
            <a:ext cx="228600" cy="2286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3613911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  <a:latin typeface="Consolas"/>
              </a:defRPr>
            </a:pPr>
            <a:r>
              <a:t>PiCation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613911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Pi-양이온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4023360"/>
            <a:ext cx="228600" cy="2286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3997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7E22"/>
                </a:solidFill>
                <a:latin typeface="Consolas"/>
              </a:defRPr>
            </a:pPr>
            <a:r>
              <a:t>Ionic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3997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이온 결합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37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맑은 고딕"/>
              </a:defRPr>
            </a:pPr>
            <a:r>
              <a:t>PyMOL에서 상호작용 확인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303520"/>
            <a:ext cx="5029200" cy="11887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# H-bond 거리 측정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cmd.distance('hb1', '/docked//A/LIG/N1',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             '/protein//A/LEU932/O', mode=2)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# 소수성 잔기 표시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cmd.select('hydro', 'pocket and resn ALA+VAL+LEU+ILE')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cmd.color('yelloworange', 'hydro')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1463040"/>
            <a:ext cx="5669280" cy="50292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88"/>
                </a:solidFill>
                <a:latin typeface="맑은 고딕"/>
              </a:defRPr>
            </a:pPr>
            <a:r>
              <a:t>ProLIF 코드 (자동 분석)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2103120"/>
            <a:ext cx="5120640" cy="41148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import prolif as plf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from prolif.plotting.network import LigNetwork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# 1. 단백질 &amp; 리간드 로드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prot_mol = Chem.MolFromPDBFile('protein_H.pdb',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                                removeHs=False)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prot = plf.Molecule(prot_mol)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# 2. 도킹된 포즈들 로드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ligs = list(plf.sdf_supplier('vina_out.sdf'))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# 3. 핑거프린트 계산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fp = plf.Fingerprint()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fp.run_from_iterable(ligs, prot)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# 4. DataFrame으로 변환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df = fp.to_dataframe(return_atoms=True)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# 5. 상호작용 네트워크 시각화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net = LigNetwork.from_ifp(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    df, ligs[0],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    kind='aggregate',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    threshold=0.3,  # 30% 이상 출현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    rotation=270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net.display()  # → HTML 인터랙티브 그래프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# 6. HTML로 저장 &amp; 다운로드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net.save('interactions.html')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맑은 고딕"/>
              </a:defRPr>
            </a:pPr>
            <a:r>
              <a:t>실습 2: Kinase Panel — 10종 키나아제 선택성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9688"/>
                </a:solidFill>
                <a:latin typeface="맑은 고딕"/>
              </a:defRPr>
            </a:pPr>
            <a:r>
              <a:t>Kinase_Panel_Docking_Colab.ipynb  |  Cross-docking + Selectivity Profiling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097280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Kinase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1371600"/>
            <a:ext cx="914400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PDB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1371600"/>
            <a:ext cx="914400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Group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371600"/>
            <a:ext cx="2011680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Drug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1371600"/>
            <a:ext cx="1645920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Disease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10972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74C3C"/>
                </a:solidFill>
              </a:defRPr>
            </a:pPr>
            <a:r>
              <a:t>EGFR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1737360"/>
            <a:ext cx="914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1M17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1737360"/>
            <a:ext cx="914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TK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1737360"/>
            <a:ext cx="2011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Erlotinib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1737360"/>
            <a:ext cx="16459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NSCLC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084831"/>
            <a:ext cx="1097280" cy="329184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74C3C"/>
                </a:solidFill>
              </a:defRPr>
            </a:pPr>
            <a:r>
              <a:t>ABL1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20" y="2084831"/>
            <a:ext cx="914400" cy="329184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1IEP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2084831"/>
            <a:ext cx="914400" cy="329184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TK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2084831"/>
            <a:ext cx="2011680" cy="329184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Imatinib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2084831"/>
            <a:ext cx="1645920" cy="329184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CML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432304"/>
            <a:ext cx="10972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74C3C"/>
                </a:solidFill>
              </a:defRPr>
            </a:pPr>
            <a:r>
              <a:t>JAK2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20" y="2432304"/>
            <a:ext cx="914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3FUP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2432304"/>
            <a:ext cx="914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TK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2432304"/>
            <a:ext cx="2011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Ruxolitinib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2432304"/>
            <a:ext cx="16459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MPN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779776"/>
            <a:ext cx="1097280" cy="329184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498DB"/>
                </a:solidFill>
              </a:defRPr>
            </a:pPr>
            <a:r>
              <a:t>CDK2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45920" y="2779776"/>
            <a:ext cx="914400" cy="329184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1H1S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2779776"/>
            <a:ext cx="914400" cy="329184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CMGC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0" y="2779776"/>
            <a:ext cx="2011680" cy="329184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Roscovitine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0" y="2779776"/>
            <a:ext cx="1645920" cy="329184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Cancer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127248"/>
            <a:ext cx="10972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498DB"/>
                </a:solidFill>
              </a:defRPr>
            </a:pPr>
            <a:r>
              <a:t>p38a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45920" y="3127248"/>
            <a:ext cx="914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3GCP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0" y="3127248"/>
            <a:ext cx="914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CMGC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0" y="3127248"/>
            <a:ext cx="2011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BIRB-796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0" y="3127248"/>
            <a:ext cx="16459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Inflammation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474720"/>
            <a:ext cx="1097280" cy="329184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498DB"/>
                </a:solidFill>
              </a:defRPr>
            </a:pPr>
            <a:r>
              <a:t>GSK3b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45920" y="3474720"/>
            <a:ext cx="914400" cy="329184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1Q5K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0" y="3474720"/>
            <a:ext cx="914400" cy="329184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CMGC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3474720"/>
            <a:ext cx="2011680" cy="329184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Staurosporine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0" y="3474720"/>
            <a:ext cx="1645920" cy="329184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Alzheimer's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822191"/>
            <a:ext cx="10972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ECC71"/>
                </a:solidFill>
              </a:defRPr>
            </a:pPr>
            <a:r>
              <a:t>BRAF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45920" y="3822191"/>
            <a:ext cx="914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3OG7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60320" y="3822191"/>
            <a:ext cx="914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TKL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4720" y="3822191"/>
            <a:ext cx="2011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Vemurafenib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0" y="3822191"/>
            <a:ext cx="16459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Melanoma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169664"/>
            <a:ext cx="1097280" cy="329184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ECC71"/>
                </a:solidFill>
              </a:defRPr>
            </a:pPr>
            <a:r>
              <a:t>ALK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45920" y="4169664"/>
            <a:ext cx="914400" cy="329184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2XP2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60320" y="4169664"/>
            <a:ext cx="914400" cy="329184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TKL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74720" y="4169664"/>
            <a:ext cx="2011680" cy="329184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Crizotinib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0" y="4169664"/>
            <a:ext cx="1645920" cy="329184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NSCLC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4517136"/>
            <a:ext cx="10972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39C12"/>
                </a:solidFill>
              </a:defRPr>
            </a:pPr>
            <a:r>
              <a:t>AKT1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645920" y="4517136"/>
            <a:ext cx="914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3CQW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60320" y="4517136"/>
            <a:ext cx="914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AGC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74720" y="4517136"/>
            <a:ext cx="2011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Inhibitor VIII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0" y="4517136"/>
            <a:ext cx="16459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Cancer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864608"/>
            <a:ext cx="1097280" cy="329184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B59B6"/>
                </a:solidFill>
              </a:defRPr>
            </a:pPr>
            <a:r>
              <a:t>AURKA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645920" y="4864608"/>
            <a:ext cx="914400" cy="329184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3E5A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560320" y="4864608"/>
            <a:ext cx="914400" cy="329184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Other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474720" y="4864608"/>
            <a:ext cx="2011680" cy="329184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Hesperadin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0" y="4864608"/>
            <a:ext cx="1645920" cy="329184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Cancer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132320" y="1371600"/>
            <a:ext cx="4572000" cy="50292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06640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88"/>
                </a:solidFill>
                <a:latin typeface="맑은 고딕"/>
              </a:defRPr>
            </a:pPr>
            <a:r>
              <a:t>실습 흐름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06640" y="2103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맑은 고딕"/>
              </a:defRPr>
            </a:pPr>
            <a:r>
              <a:t>1. 10개 키나아제 자동 준비 (Section 4)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06640" y="248716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맑은 고딕"/>
              </a:defRPr>
            </a:pPr>
            <a:r>
              <a:t>2. Re-docking: 각 타겟의 native ligand (Section 5)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06640" y="2871215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맑은 고딕"/>
              </a:defRPr>
            </a:pPr>
            <a:r>
              <a:t>3. Cross-docking: 100개 조합 (10x10) (Section 7)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06640" y="3255263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맑은 고딕"/>
              </a:defRPr>
            </a:pPr>
            <a:r>
              <a:t>4. Selectivity Heatmap 생성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06640" y="3639311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맑은 고딕"/>
              </a:defRPr>
            </a:pPr>
            <a:r>
              <a:t>5. ProLIF 상호작용 비교 (Section 8)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06640" y="4023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6. IFP Tanimoto 유사도 + PCA (Section 8.5)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06640" y="44074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7. ECFP4 리간드 클러스터링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06640" y="479145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8. Binding site 특성 비교 (Section 10)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06640" y="5486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  <a:latin typeface="맑은 고딕"/>
              </a:defRPr>
            </a:pPr>
            <a:r>
              <a:t>소요 시간: ~60-90분 (Cross-dock 포함)</a:t>
            </a:r>
            <a:br/>
            <a:r>
              <a:t>Cross-dock 생략 시 ~15분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맑은 고딕"/>
              </a:defRPr>
            </a:pPr>
            <a:r>
              <a:t>실습 3: EGFR 변이체 — 약물 내성 도킹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9688"/>
                </a:solidFill>
                <a:latin typeface="맑은 고딕"/>
              </a:defRPr>
            </a:pPr>
            <a:r>
              <a:t>EGFR_WT_Mutant_Docking_Colab.ipynb  |  WT vs L858R vs T790M vs Double Mutant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68580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맑은 고딕"/>
              </a:defRPr>
            </a:pPr>
            <a:r>
              <a:t>EGFR 변이와 약물 세대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137160" cy="2743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77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98DB"/>
                </a:solidFill>
                <a:latin typeface="맑은 고딕"/>
              </a:defRPr>
            </a:pPr>
            <a:r>
              <a:t>Wild-type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77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맑은 고딕"/>
              </a:defRPr>
            </a:pPr>
            <a:r>
              <a:t>정상 EGFR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077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onsolas"/>
              </a:defRPr>
            </a:pPr>
            <a:r>
              <a:t>1M17, 2ITY, 1XKK, 4G5J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487168"/>
            <a:ext cx="137160" cy="2743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4617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  <a:latin typeface="맑은 고딕"/>
              </a:defRPr>
            </a:pPr>
            <a:r>
              <a:t>L858R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4617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맑은 고딕"/>
              </a:defRPr>
            </a:pPr>
            <a:r>
              <a:t>활성화 변이 (exon 21)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4617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onsolas"/>
              </a:defRPr>
            </a:pPr>
            <a:r>
              <a:t>2ITZ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871215"/>
            <a:ext cx="137160" cy="2743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845815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  <a:latin typeface="맑은 고딕"/>
              </a:defRPr>
            </a:pPr>
            <a:r>
              <a:t>T790M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84581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맑은 고딕"/>
              </a:defRPr>
            </a:pPr>
            <a:r>
              <a:t>Gatekeeper 내성 변이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84581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onsolas"/>
              </a:defRPr>
            </a:pPr>
            <a:r>
              <a:t>2JIT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255263"/>
            <a:ext cx="137160" cy="2743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229863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E44AD"/>
                </a:solidFill>
                <a:latin typeface="맑은 고딕"/>
              </a:defRPr>
            </a:pPr>
            <a:r>
              <a:t>T790M/L858R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229863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맑은 고딕"/>
              </a:defRPr>
            </a:pPr>
            <a:r>
              <a:t>이중 변이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22986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onsolas"/>
              </a:defRPr>
            </a:pPr>
            <a:r>
              <a:t>3IKA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31920"/>
            <a:ext cx="6858000" cy="25603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88"/>
                </a:solidFill>
                <a:latin typeface="맑은 고딕"/>
              </a:defRPr>
            </a:pPr>
            <a:r>
              <a:t>교차 도킹할 약물 패널 (4세대)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572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맑은 고딕"/>
              </a:defRPr>
            </a:pPr>
            <a:r>
              <a:t>Erlotinib (1st gen)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572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Reversible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572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맑은 고딕"/>
              </a:defRPr>
            </a:pPr>
            <a:r>
              <a:t>WT/L858R 반응, T790M 내성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9834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맑은 고딕"/>
              </a:defRPr>
            </a:pPr>
            <a:r>
              <a:t>Gefitinib (1st gen)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49834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Reversible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983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맑은 고딕"/>
              </a:defRPr>
            </a:pPr>
            <a:r>
              <a:t>WT/L858R 반응, T790M 내성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394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맑은 고딕"/>
              </a:defRPr>
            </a:pPr>
            <a:r>
              <a:t>Afatinib (2nd gen)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5394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Irreversible (C797)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5394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맑은 고딕"/>
              </a:defRPr>
            </a:pPr>
            <a:r>
              <a:t>Pan-ErbB, T790M 약한 반응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806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맑은 고딕"/>
              </a:defRPr>
            </a:pPr>
            <a:r>
              <a:t>Osimertinib (3rd gen)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5806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Irreversible (C797)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5806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맑은 고딕"/>
              </a:defRPr>
            </a:pPr>
            <a:r>
              <a:t>T790M 선택적, WT 보존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1463040"/>
            <a:ext cx="38404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0" y="1645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맑은 고딕"/>
              </a:defRPr>
            </a:pPr>
            <a:r>
              <a:t>PyMOL: 변이 비교 시각화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2103120"/>
            <a:ext cx="3474720" cy="41148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2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# WT vs T790M 구조 비교</a:t>
            </a:r>
          </a:p>
          <a:p>
            <a:pPr>
              <a:spcAft>
                <a:spcPts val="2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cmd.load('1m17_clean_H.pdb', 'WT')</a:t>
            </a:r>
          </a:p>
          <a:p>
            <a:pPr>
              <a:spcAft>
                <a:spcPts val="2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cmd.load('2jit_clean_H.pdb', 'T790M')</a:t>
            </a:r>
          </a:p>
          <a:p>
            <a:pPr>
              <a:spcAft>
                <a:spcPts val="200"/>
              </a:spcAft>
              <a:defRPr sz="10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# 구조 정렬 (Align)</a:t>
            </a:r>
          </a:p>
          <a:p>
            <a:pPr>
              <a:spcAft>
                <a:spcPts val="2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cmd.cealign('WT', 'T790M')</a:t>
            </a:r>
          </a:p>
          <a:p>
            <a:pPr>
              <a:spcAft>
                <a:spcPts val="200"/>
              </a:spcAft>
              <a:defRPr sz="10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# 색상 구분</a:t>
            </a:r>
          </a:p>
          <a:p>
            <a:pPr>
              <a:spcAft>
                <a:spcPts val="2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cmd.color('palegreen', 'WT')</a:t>
            </a:r>
          </a:p>
          <a:p>
            <a:pPr>
              <a:spcAft>
                <a:spcPts val="2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cmd.color('salmon', 'T790M')</a:t>
            </a:r>
          </a:p>
          <a:p>
            <a:pPr>
              <a:spcAft>
                <a:spcPts val="200"/>
              </a:spcAft>
              <a:defRPr sz="10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# 변이 잔기 하이라이트</a:t>
            </a:r>
          </a:p>
          <a:p>
            <a:pPr>
              <a:spcAft>
                <a:spcPts val="2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cmd.select('mut_site',</a:t>
            </a:r>
          </a:p>
          <a:p>
            <a:pPr>
              <a:spcAft>
                <a:spcPts val="2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'T790M and resi 790')</a:t>
            </a:r>
          </a:p>
          <a:p>
            <a:pPr>
              <a:spcAft>
                <a:spcPts val="2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cmd.show('spheres', 'mut_site')</a:t>
            </a:r>
          </a:p>
          <a:p>
            <a:pPr>
              <a:spcAft>
                <a:spcPts val="2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cmd.color('red', 'mut_site')</a:t>
            </a:r>
          </a:p>
          <a:p>
            <a:pPr>
              <a:spcAft>
                <a:spcPts val="200"/>
              </a:spcAft>
              <a:defRPr sz="10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# Gatekeeper 위치 라벨</a:t>
            </a:r>
          </a:p>
          <a:p>
            <a:pPr>
              <a:spcAft>
                <a:spcPts val="2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cmd.label('mut_site and name CA',</a:t>
            </a:r>
          </a:p>
          <a:p>
            <a:pPr>
              <a:spcAft>
                <a:spcPts val="2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      '"T790M"')</a:t>
            </a:r>
          </a:p>
          <a:p>
            <a:pPr>
              <a:spcAft>
                <a:spcPts val="200"/>
              </a:spcAft>
              <a:defRPr sz="10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# 도킹된 약물 비교</a:t>
            </a:r>
          </a:p>
          <a:p>
            <a:pPr>
              <a:spcAft>
                <a:spcPts val="2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cmd.load('osimertinib.sdf', 'osi')</a:t>
            </a:r>
          </a:p>
          <a:p>
            <a:pPr>
              <a:spcAft>
                <a:spcPts val="2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cmd.show('sticks', 'osi')</a:t>
            </a:r>
          </a:p>
          <a:p>
            <a:pPr>
              <a:spcAft>
                <a:spcPts val="2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cmd.color('cyan', 'osi')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PyMOL 필수 명령어 치트시트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8"/>
                </a:solidFill>
                <a:latin typeface="맑은 고딕"/>
              </a:defRPr>
            </a:pPr>
            <a:r>
              <a:t>구조 로드 &amp; 저장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508760"/>
            <a:ext cx="5486400" cy="4114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/>
            <a:r>
              <a:rPr sz="1000">
                <a:solidFill>
                  <a:srgbClr val="D4D4D4"/>
                </a:solidFill>
                <a:latin typeface="Consolas"/>
              </a:rPr>
              <a:t>cmd.fetch("6nzp")</a:t>
            </a:r>
            <a:r>
              <a:rPr sz="1000">
                <a:solidFill>
                  <a:srgbClr val="6A9955"/>
                </a:solidFill>
                <a:latin typeface="Consolas"/>
              </a:rPr>
              <a:t>   # PDB에서 다운로드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011680"/>
            <a:ext cx="5486400" cy="4114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/>
            <a:r>
              <a:rPr sz="1000">
                <a:solidFill>
                  <a:srgbClr val="D4D4D4"/>
                </a:solidFill>
                <a:latin typeface="Consolas"/>
              </a:rPr>
              <a:t>cmd.load("file.pdb", "name")</a:t>
            </a:r>
            <a:r>
              <a:rPr sz="1000">
                <a:solidFill>
                  <a:srgbClr val="6A9955"/>
                </a:solidFill>
                <a:latin typeface="Consolas"/>
              </a:rPr>
              <a:t>   # 로컬 파일 로드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514600"/>
            <a:ext cx="5486400" cy="4114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/>
            <a:r>
              <a:rPr sz="1000">
                <a:solidFill>
                  <a:srgbClr val="D4D4D4"/>
                </a:solidFill>
                <a:latin typeface="Consolas"/>
              </a:rPr>
              <a:t>cmd.save("out.pdb", "sele")</a:t>
            </a:r>
            <a:r>
              <a:rPr sz="1000">
                <a:solidFill>
                  <a:srgbClr val="6A9955"/>
                </a:solidFill>
                <a:latin typeface="Consolas"/>
              </a:rPr>
              <a:t>   # 선택 영역 저장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017520"/>
            <a:ext cx="5486400" cy="4114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/>
            <a:r>
              <a:rPr sz="1000">
                <a:solidFill>
                  <a:srgbClr val="D4D4D4"/>
                </a:solidFill>
                <a:latin typeface="Consolas"/>
              </a:rPr>
              <a:t>cmd.delete("all")</a:t>
            </a:r>
            <a:r>
              <a:rPr sz="1000">
                <a:solidFill>
                  <a:srgbClr val="6A9955"/>
                </a:solidFill>
                <a:latin typeface="Consolas"/>
              </a:rPr>
              <a:t>   # 모든 객체 삭제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8"/>
                </a:solidFill>
                <a:latin typeface="맑은 고딕"/>
              </a:defRPr>
            </a:pPr>
            <a:r>
              <a:t>선택 (Selection)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508760"/>
            <a:ext cx="5486400" cy="4114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/>
            <a:r>
              <a:rPr sz="1000">
                <a:solidFill>
                  <a:srgbClr val="D4D4D4"/>
                </a:solidFill>
                <a:latin typeface="Consolas"/>
              </a:rPr>
              <a:t>cmd.select("Prot", "polymer.protein")</a:t>
            </a:r>
            <a:r>
              <a:rPr sz="1000">
                <a:solidFill>
                  <a:srgbClr val="6A9955"/>
                </a:solidFill>
                <a:latin typeface="Consolas"/>
              </a:rPr>
              <a:t>   # 단백질만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011680"/>
            <a:ext cx="5486400" cy="4114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/>
            <a:r>
              <a:rPr sz="1000">
                <a:solidFill>
                  <a:srgbClr val="D4D4D4"/>
                </a:solidFill>
                <a:latin typeface="Consolas"/>
              </a:rPr>
              <a:t>cmd.select("Lig", "organic")</a:t>
            </a:r>
            <a:r>
              <a:rPr sz="1000">
                <a:solidFill>
                  <a:srgbClr val="6A9955"/>
                </a:solidFill>
                <a:latin typeface="Consolas"/>
              </a:rPr>
              <a:t>   # 유기 리간드만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514600"/>
            <a:ext cx="5486400" cy="4114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/>
            <a:r>
              <a:rPr sz="1000">
                <a:solidFill>
                  <a:srgbClr val="D4D4D4"/>
                </a:solidFill>
                <a:latin typeface="Consolas"/>
              </a:rPr>
              <a:t>cmd.select("site", "prot within 5 of lig")</a:t>
            </a:r>
            <a:r>
              <a:rPr sz="1000">
                <a:solidFill>
                  <a:srgbClr val="6A9955"/>
                </a:solidFill>
                <a:latin typeface="Consolas"/>
              </a:rPr>
              <a:t>   # 5A 이내 잔기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3017520"/>
            <a:ext cx="5486400" cy="4114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/>
            <a:r>
              <a:rPr sz="1000">
                <a:solidFill>
                  <a:srgbClr val="D4D4D4"/>
                </a:solidFill>
                <a:latin typeface="Consolas"/>
              </a:rPr>
              <a:t>cmd.remove("solvent")</a:t>
            </a:r>
            <a:r>
              <a:rPr sz="1000">
                <a:solidFill>
                  <a:srgbClr val="6A9955"/>
                </a:solidFill>
                <a:latin typeface="Consolas"/>
              </a:rPr>
              <a:t>   # 물 분자 제거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8"/>
                </a:solidFill>
                <a:latin typeface="맑은 고딕"/>
              </a:defRPr>
            </a:pPr>
            <a:r>
              <a:t>표현 (Representation)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251960"/>
            <a:ext cx="5486400" cy="4114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/>
            <a:r>
              <a:rPr sz="1000">
                <a:solidFill>
                  <a:srgbClr val="D4D4D4"/>
                </a:solidFill>
                <a:latin typeface="Consolas"/>
              </a:rPr>
              <a:t>cmd.show("cartoon", "Prot")</a:t>
            </a:r>
            <a:r>
              <a:rPr sz="1000">
                <a:solidFill>
                  <a:srgbClr val="6A9955"/>
                </a:solidFill>
                <a:latin typeface="Consolas"/>
              </a:rPr>
              <a:t>   # 리본 뼈대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754880"/>
            <a:ext cx="5486400" cy="4114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/>
            <a:r>
              <a:rPr sz="1000">
                <a:solidFill>
                  <a:srgbClr val="D4D4D4"/>
                </a:solidFill>
                <a:latin typeface="Consolas"/>
              </a:rPr>
              <a:t>cmd.show("sticks", "Lig")</a:t>
            </a:r>
            <a:r>
              <a:rPr sz="1000">
                <a:solidFill>
                  <a:srgbClr val="6A9955"/>
                </a:solidFill>
                <a:latin typeface="Consolas"/>
              </a:rPr>
              <a:t>   # 막대 모델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257800"/>
            <a:ext cx="5486400" cy="4114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/>
            <a:r>
              <a:rPr sz="1000">
                <a:solidFill>
                  <a:srgbClr val="D4D4D4"/>
                </a:solidFill>
                <a:latin typeface="Consolas"/>
              </a:rPr>
              <a:t>cmd.show("surface", "Prot")</a:t>
            </a:r>
            <a:r>
              <a:rPr sz="1000">
                <a:solidFill>
                  <a:srgbClr val="6A9955"/>
                </a:solidFill>
                <a:latin typeface="Consolas"/>
              </a:rPr>
              <a:t>   # 분자 표면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760720"/>
            <a:ext cx="5486400" cy="4114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/>
            <a:r>
              <a:rPr sz="1000">
                <a:solidFill>
                  <a:srgbClr val="D4D4D4"/>
                </a:solidFill>
                <a:latin typeface="Consolas"/>
              </a:rPr>
              <a:t>cmd.show("spheres", "resi 790")</a:t>
            </a:r>
            <a:r>
              <a:rPr sz="1000">
                <a:solidFill>
                  <a:srgbClr val="6A9955"/>
                </a:solidFill>
                <a:latin typeface="Consolas"/>
              </a:rPr>
              <a:t>   # 구 모델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8"/>
                </a:solidFill>
                <a:latin typeface="맑은 고딕"/>
              </a:defRPr>
            </a:pPr>
            <a:r>
              <a:t>색상 &amp; 분석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251960"/>
            <a:ext cx="5486400" cy="4114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/>
            <a:r>
              <a:rPr sz="1000">
                <a:solidFill>
                  <a:srgbClr val="D4D4D4"/>
                </a:solidFill>
                <a:latin typeface="Consolas"/>
              </a:rPr>
              <a:t>cmd.color("green", "Lig")</a:t>
            </a:r>
            <a:r>
              <a:rPr sz="1000">
                <a:solidFill>
                  <a:srgbClr val="6A9955"/>
                </a:solidFill>
                <a:latin typeface="Consolas"/>
              </a:rPr>
              <a:t>   # 색상 지정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754880"/>
            <a:ext cx="5486400" cy="4114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/>
            <a:r>
              <a:rPr sz="1000">
                <a:solidFill>
                  <a:srgbClr val="D4D4D4"/>
                </a:solidFill>
                <a:latin typeface="Consolas"/>
              </a:rPr>
              <a:t>cmd.spectrum("b", "blue_white_red")</a:t>
            </a:r>
            <a:r>
              <a:rPr sz="1000">
                <a:solidFill>
                  <a:srgbClr val="6A9955"/>
                </a:solidFill>
                <a:latin typeface="Consolas"/>
              </a:rPr>
              <a:t>   # B-factor 색상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5257800"/>
            <a:ext cx="5486400" cy="4114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/>
            <a:r>
              <a:rPr sz="1000">
                <a:solidFill>
                  <a:srgbClr val="D4D4D4"/>
                </a:solidFill>
                <a:latin typeface="Consolas"/>
              </a:rPr>
              <a:t>cmd.distance("hb", "Lig", "Prot", mode=2)</a:t>
            </a:r>
            <a:r>
              <a:rPr sz="1000">
                <a:solidFill>
                  <a:srgbClr val="6A9955"/>
                </a:solidFill>
                <a:latin typeface="Consolas"/>
              </a:rPr>
              <a:t>   # 수소결합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5760720"/>
            <a:ext cx="5486400" cy="4114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/>
            <a:r>
              <a:rPr sz="1000">
                <a:solidFill>
                  <a:srgbClr val="D4D4D4"/>
                </a:solidFill>
                <a:latin typeface="Consolas"/>
              </a:rPr>
              <a:t>cmd.cealign("ref", "mobile")</a:t>
            </a:r>
            <a:r>
              <a:rPr sz="1000">
                <a:solidFill>
                  <a:srgbClr val="6A9955"/>
                </a:solidFill>
                <a:latin typeface="Consolas"/>
              </a:rPr>
              <a:t>   # 구조 정렬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실습 요약 &amp; 다음 단계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743200"/>
            <a:ext cx="109728" cy="5486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98DB"/>
                </a:solidFill>
                <a:latin typeface="맑은 고딕"/>
              </a:defRPr>
            </a:pPr>
            <a:r>
              <a:t>TYK2 단일 타겟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788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맑은 고딕"/>
              </a:defRPr>
            </a:pPr>
            <a:r>
              <a:t>도킹 파이프라인 전체를 1회 완주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566160"/>
            <a:ext cx="109728" cy="5486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88"/>
                </a:solidFill>
                <a:latin typeface="맑은 고딕"/>
              </a:defRPr>
            </a:pPr>
            <a:r>
              <a:t>Kinase Panel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3611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맑은 고딕"/>
              </a:defRPr>
            </a:pPr>
            <a:r>
              <a:t>10종 키나아제 선택성을 Cross-docking으로 평가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389120"/>
            <a:ext cx="109728" cy="548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맑은 고딕"/>
              </a:defRPr>
            </a:pPr>
            <a:r>
              <a:t>EGFR 변이체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4434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맑은 고딕"/>
              </a:defRPr>
            </a:pPr>
            <a:r>
              <a:t>약물 내성 메커니즘을 도킹으로 시뮬레이션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03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88"/>
                </a:solidFill>
                <a:latin typeface="맑은 고딕"/>
              </a:defRPr>
            </a:pPr>
            <a:r>
              <a:t>다음 단계: MD &amp; FEP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60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도킹은 "정적 스냅샷" → 분자 동역학(MD)은 "동적 영화"</a:t>
            </a:r>
            <a:br/>
            <a:r>
              <a:t>도킹 스코어의 한계를 FEP(자유 에너지 섭동)로 극복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