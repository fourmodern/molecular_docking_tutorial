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분자 도킹 실습 워크숍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600" b="0">
                <a:solidFill>
                  <a:srgbClr val="00897B"/>
                </a:solidFill>
                <a:latin typeface="맑은 고딕"/>
              </a:defRPr>
            </a:pPr>
            <a:r>
              <a:t>Google Colab + AutoDock Vina + PyMOL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1. TYK2 단일 타겟 도킹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2. Kinase Panel 선택성 분석</a:t>
            </a:r>
          </a:p>
          <a:p>
            <a:pPr algn="l">
              <a:spcAft>
                <a:spcPts val="400"/>
              </a:spcAft>
              <a:defRPr sz="1800" b="0">
                <a:solidFill>
                  <a:srgbClr val="AAAAAA"/>
                </a:solidFill>
                <a:latin typeface="맑은 고딕"/>
              </a:defRPr>
            </a:pPr>
            <a:r>
              <a:t>3. EGFR 변이체 내성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PyMOL 기반 구조 시각화  |  DataWarrior 결과 분석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로드맵: 4단계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560320" cy="109728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1단계</a:t>
            </a:r>
            <a:br/>
            <a:r>
              <a:t>환경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Colab/Docker 접속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패키지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560320" cy="109728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2단계</a:t>
            </a:r>
            <a:br/>
            <a:r>
              <a:t>구조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3464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PDB 다운로드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단백질/리간드 정제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560320" cy="109728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3단계</a:t>
            </a:r>
            <a:br/>
            <a:r>
              <a:t>도킹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283464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Vina / smina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포즈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39" y="3200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3000" b="1">
                <a:solidFill>
                  <a:srgbClr val="00897B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371600"/>
            <a:ext cx="25603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89719" y="1371600"/>
            <a:ext cx="2560320" cy="10972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4단계</a:t>
            </a:r>
            <a:br/>
            <a:r>
              <a:t>결과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39" y="2834640"/>
            <a:ext cx="2011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스코어 + 상호작용</a:t>
            </a:r>
          </a:p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PyMOL 시각화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1: Colab 환경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1-1 ~ 1-3  |  패키지 &amp; 바이너리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Python 패키지 설치 (Cell 1-1)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rdkit-pypi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meeko vina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openbabel-wheel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pdbfixer openmm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pymol-open-source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py3Dmol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MDAnalysis prolif</a:t>
            </a:r>
          </a:p>
          <a:p>
            <a:pPr>
              <a:spcAft>
                <a:spcPts val="100"/>
              </a:spcAft>
              <a:defRPr sz="1400">
                <a:solidFill>
                  <a:srgbClr val="ABB2BF"/>
                </a:solidFill>
                <a:latin typeface="Consolas"/>
              </a:defRPr>
            </a:pPr>
            <a:r>
              <a:t>!pip install -q seaborn pandas matplotlib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설치되는 핵심 도구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PyMOL  —  구조 로딩 / 정제 /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5176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697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RDKit  —  분자 조작 / 핑거프린트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200399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19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AutoDock Vina  —  도킹 엔진 (scoring + search)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4904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7947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smina  —  Vina fork (추가 scoring functions)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29768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343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PDBFixer  —  PDB 구조 결함 복구 + 수소 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4846320"/>
            <a:ext cx="502920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892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ProLIF  —  단백질-리간드 상호작용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1.5: PDB 구조 검색 &amp; 선택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1.5  |  RCSB PDB Search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자동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# RCSB PDB Search API로 TYK2 구조 검색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query = {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"nodes": [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"full_text",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"TYK2 tyrosine kinase"},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{"service": "text",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   "value": "X-RAY DIFFRACTION"}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  ]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resp = requests.post(search_url, json=query)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구조 선택 기준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Resolution  &lt; 2.5 A  (낮을수록 정밀)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60604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Co-crystal ligand 존재 (도킹 검증용)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10896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Chain 선택 (보통 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611880"/>
            <a:ext cx="5029200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Default: 6NZP (TYK2, 2.4A)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480560"/>
            <a:ext cx="10698480" cy="21031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PyMOL로 구조 확인하기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" y="5029200"/>
            <a:ext cx="1024128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from pymol import cmd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cmd.fetch('6nzp', type='pdb')            # PDB에서 다운로드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cmd.select('Prot', 'polymer.protein')    # 단백질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cmd.select('Lig', 'organic')             # 리간드 선택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cmd.show('cartoon', 'Prot')              # 리본 표시</a:t>
            </a:r>
          </a:p>
          <a:p>
            <a:pPr>
              <a:spcAft>
                <a:spcPts val="100"/>
              </a:spcAft>
              <a:defRPr sz="1300">
                <a:solidFill>
                  <a:srgbClr val="ABB2BF"/>
                </a:solidFill>
                <a:latin typeface="Consolas"/>
              </a:defRPr>
            </a:pPr>
            <a:r>
              <a:t>cmd.show('sticks', 'Lig')               # 막대 표시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2: 단백질 &amp; 리간드 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3-1, 4-1~4-4  |  이론 PDF "데이터 정제"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 Clean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Chain 추출, 단백질/리간드 분리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물 분자·이종 원자 제거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cmd.fetch("6nzp", type="pdb")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cmd.remove("not chain A")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cmd.save("clean.pdb", "polymer.protein")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cmd.save("lig.mol2", "organic")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Fix &amp; Add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3774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PDBFixer로 누락 잔기 복구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pH 7.4에서 수소 원자 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 = PDBFixer("clean.pdb")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fixer.findMissingResidues()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fixer.addMissingAtoms()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fixer.addMissingHydrogens(7.4)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PDBFile.writeFile(..., "clean_H.pdb")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554480"/>
            <a:ext cx="35661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0" y="173736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1783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PDBQT 변환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부분 전하(Gasteiger) 계산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ADFRsuite prepare_receptor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657600"/>
            <a:ext cx="3200400" cy="25603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!prepare_receptor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-r protein_H.pdb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protein.pdbqt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!prepare_ligand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-l ligand_H.mol2 \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-o ligand.pdbqt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2.5: 도킹 박스 (Grid Box)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2-1  |  이론 PDF "활성 부위 지정"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박스 = 리간드 탐색 공간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Co-crystal 리간드 위치 기준으로 자동 계산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extending 파라미터로 여유 공간 조절 (6~7 A)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center (x,y,z) + size (x,y,z) = 6개 값</a:t>
            </a:r>
          </a:p>
          <a:p>
            <a:pPr algn="l">
              <a:spcAft>
                <a:spcPts val="400"/>
              </a:spcAft>
              <a:defRPr sz="1400" b="0">
                <a:solidFill>
                  <a:srgbClr val="212121"/>
                </a:solidFill>
                <a:latin typeface="맑은 고딕"/>
              </a:defRPr>
            </a:pPr>
            <a:r>
              <a:t>• 리간드가 없으면 수동으로 좌표 지정 가능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029200" cy="29260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def getbox(selection='lig', extending=6.0):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([minX,minY,minZ],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[maxX,maxY,maxZ]) = cmd.get_extent(selection)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'center_x': (maxX + minX)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'center_y': (maxY + minY) / 2,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'center_z': (maxZ + minZ) / 2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size = {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'size_x': (maxX - minX)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'size_y': (maxY - minY) + 2 * extending,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'size_z': (maxZ - minZ) + 2 * extending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return center,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54480"/>
            <a:ext cx="5029200" cy="493776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PyMOL: 결합 부위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480560" cy="42062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구조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단백질 + 리간드 표시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cmd.color('palegreen', 'prot')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cmd.color('orange', 'lig')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결합 부위 (5A 이내 잔기)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cmd.select('site', 'prot within 5.0 of lig')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'site')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'lig', 'site', mode=2)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3: 도킹 실행 — Vina &amp; smina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4-5, 4-6  |  이론 PDF "두 개의 기어" 참조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548640"/>
          </a:xfrm>
          <a:prstGeom prst="round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Knowledge + Empirical 하이브리드 채점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Iterated Local Search 알고리즘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오픈소스, 학계 표준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vina import Vina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 = Vina(sf_name='vina')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v.set_receptor('protein.pdbqt')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v.set_ligand_from_file('ligand.pdbqt')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v.compute_vina_maps(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center=[cx, cy, cz],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box_size=[sx, sy, sz]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도킹 실행 (~5분)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v.dock(exhaustiveness=128, n_poses=30)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v.write_poses('vina_out.pdbqt', n_poses=30)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0352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303520" cy="54864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smina (Vina Fork)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 기반 + 교체 가능 스코어링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vinardo, ad4_scoring 지원</a:t>
            </a:r>
          </a:p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• CLI 기반, 더 빠른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200400"/>
            <a:ext cx="4754880" cy="30175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smina CLI 도킹 (~1분)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!smina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-r protein.pdbqt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-l ligand.pdbqt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-o smina_out.sdf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--center_x {cx}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--center_y {cy}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--center_z {cz}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--size_x {sx}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--size_y {sy}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--size_z {sz}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--exhaustiveness 256 \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--num_modes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도킹 파라미터 이해하기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137160" cy="10058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1E88E5"/>
                </a:solidFill>
                <a:latin typeface="Consolas"/>
              </a:defRPr>
            </a:pPr>
            <a:r>
              <a:t>exhaustiveness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8745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128 / 256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55448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탐색 철저성. Monte Carlo 반복 횟수. 높을수록 정확하지만 시간 증가.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10058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6517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Consolas"/>
              </a:defRPr>
            </a:pPr>
            <a:r>
              <a:t>n_poses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063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74320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출력할 결합 포즈 수. 상위 N개를 에너지 순으로 정렬.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4904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49040"/>
            <a:ext cx="137160" cy="10058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E53935"/>
                </a:solidFill>
                <a:latin typeface="Consolas"/>
              </a:defRPr>
            </a:pPr>
            <a:r>
              <a:t>extending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51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6.0 ~ 7.0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9319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도킹 박스 여유 공간. 리간드 bounding box 바깥으로 확장.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698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937760"/>
            <a:ext cx="137160" cy="100584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43A047"/>
                </a:solidFill>
                <a:latin typeface="Consolas"/>
              </a:defRPr>
            </a:pPr>
            <a:r>
              <a:t>scoring function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vina / vinardo / ad4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12064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결합력 평가 수식. Consensus scoring에서 비교.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(1) — 스코어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5, 7.5  |  이론 PDF "채점 함수" 참조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도킹 스코어 해석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9728" cy="36576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&lt; -10 kcal/mol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057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매우 강한 결합 (실제 약물 수준)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109728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-7 ~ 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좋은 결합 (리드 화합물 후보)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06324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632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-5 ~ 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63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약한 결합 (최적화 필요)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566160"/>
            <a:ext cx="109728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566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212121"/>
                </a:solidFill>
                <a:latin typeface="Consolas"/>
              </a:defRPr>
            </a:pPr>
            <a:r>
              <a:t>&gt;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757575"/>
                </a:solidFill>
                <a:latin typeface="맑은 고딕"/>
              </a:defRPr>
            </a:pPr>
            <a:r>
              <a:t>결합 가능성 낮음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Ligand Efficiency &amp; Consensus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663440"/>
            <a:ext cx="5029200" cy="201168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Ligand Efficiency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LE = -score / heavy_atoms   # &gt; 0.3 = drug-like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BEI = -score / (MW / 1000)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Consensus Scoring (여러 SF로 재평가)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for sf in ["vina", "vinardo", "ad4_scoring"]: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!smina --scoring {sf} ...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Spearman rank correlation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스코어 분석 코드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011680"/>
            <a:ext cx="5029200" cy="466344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결과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 = PandasTools.LoadSDF('vina_out.sdf')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df_smina = PandasTools.LoadSDF('smina_out.sdf')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Best score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print(f'Vina:  {df_vina["minimizedAffinity"].min():.2f}')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print(f'smina: {df_smina["minimizedAffinity"].min():.2f}')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Boxplot 비교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sns.boxplot(data=df_all,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  x='Method', y='minimizedAffinity')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검증 (crystal vs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rdkit.Chem import rdMolAlign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rmsd = rdMolAlign.GetBestRMS(ref, 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RMSD &lt; 2.0 A → 성공적 re-docking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스코어 분포 히스토그램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df_vina['minimizedAffinity'].hist(bins=15)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plt.xlabel('Binding Affinity (kcal/mol)')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Step 4: 결과 분석 (2) — PyMOL 도킹 포즈 시각화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6  |  도킹 결과를 3D로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도킹 포즈 시각화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cmd.load('6nzp_clean_H.pdb',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cmd.load('6nzp_lig_vina_out.sdf',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단백질: 리본 + 반투명 표면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cmd.show('cartoon',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cmd.color('white',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cmd.show('surface', 'protein')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cmd.set('transparency', 0.7)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도킹 리간드: 초록 막대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결합 부위 잔기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cmd.select('pocket', 'protein within 5 of 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cmd.color('skyblue', 'pocket')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수소 결합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cmd.distance('hb', 'docked', 'pocket', mode=2)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cmd.set('dash_color', 'yellow', 'hb')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cmd.set('dash_width', 2.5)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6. 이미지 저장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cmd.zoom('docked', 5)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cmd.ray(1920, 1080)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cmd.png('docking_pose.png', dpi=300)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212080" cy="493776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Crystal vs Docked 비교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참조 리간드 (co-crystal, 마젠타)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cmd.load('6nzp_lig_H.mol2',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cmd.show('sticks',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cmd.color('magenta', 'reference')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겹쳐서 RMSD 시각적 확인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magenta = 실험(crystal)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  green   = 예측(docked)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여러 포즈 색상 구분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cmd.split_states('docked')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cmd.color('green', 'docked_0001')    # best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cmd.color('yellow', 'docked_0002')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cmd.color('salmon', 'docked_0003')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잔기 라벨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cmd.label('pocket and name CA',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      '"  "+resn+" "+resi')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cmd.set('label_size', 14)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===== 세션 저장 =====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cmd.save('my_session.pse')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→ 나중에 File &gt; Open 으로 복원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Step 4: 결과 분석 (3) — 상호작용 핑거프린트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Section 7  |  ProLIF (Protein-Ligand Interaction Fingerprints)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검출되는 상호작용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274320" cy="2743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032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Hydrophobic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032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소수성 접촉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14600"/>
            <a:ext cx="274320" cy="27432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4892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HBDonor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4892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공여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971800"/>
            <a:ext cx="274320" cy="274320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9464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HBAcceptor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464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수소결합 수용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428999"/>
            <a:ext cx="274320" cy="27432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40359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PiStacking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03599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π-π 상호작용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886200"/>
            <a:ext cx="27432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8608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PiCation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8608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π-양이온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43400"/>
            <a:ext cx="274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31800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Consolas"/>
              </a:defRPr>
            </a:pPr>
            <a:r>
              <a:t>Ionic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318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이온 결합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212121"/>
                </a:solidFill>
                <a:latin typeface="맑은 고딕"/>
              </a:defRPr>
            </a:pPr>
            <a:r>
              <a:t>PyMOL에서 상호작용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303519"/>
            <a:ext cx="5029200" cy="13716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H-bond 거리 측정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cmd.distance('hb1', '/docked///LIG/N1',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             '/protein///LEU932/O', mode=2)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소수성 잔기 표시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cmd.select('hyd', 'pocket and resn ALA+VAL+LEU+ILE')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cmd.color('yelloworange', 'hyd')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512064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691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00897B"/>
                </a:solidFill>
                <a:latin typeface="맑은 고딕"/>
              </a:defRPr>
            </a:pPr>
            <a:r>
              <a:t>ProLIF 자동 분석 코드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103120"/>
            <a:ext cx="4663440" cy="438912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import prolif as plf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from prolif.plotting.network import LigNetwork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1. 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prot = plf.Molecule(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Chem.MolFromPDBFile('protein_H.pdb', removeHs=False))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ligs = list(plf.sdf_supplier('vina_out.sdf'))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2. 핑거프린트 계산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 = plf.Fingerprint()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fp.run_from_iterable(ligs, prot)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3. DataFrame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df = fp.to_dataframe(return_atoms=True)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4. 네트워크 시각화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 = LigNetwork.from_ifp(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df, ligs[0],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kind='aggregate',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threshold=0.3,    # 30% 이상 출현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    rotation=270)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net.display()          # HTML 인터랙티브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# 5. 저장 &amp; 다운로드</a:t>
            </a:r>
          </a:p>
          <a:p>
            <a:pPr>
              <a:spcAft>
                <a:spcPts val="100"/>
              </a:spcAft>
              <a:defRPr sz="1200">
                <a:solidFill>
                  <a:srgbClr val="ABB2BF"/>
                </a:solidFill>
                <a:latin typeface="Consolas"/>
              </a:defRPr>
            </a:pPr>
            <a:r>
              <a:t>net.save('interactions.html')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2: Kinase Panel — 10종 선택성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Kinase_Panel_Docking_Colab.ipynb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9728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Kinase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PDB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554480"/>
            <a:ext cx="82296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554480"/>
            <a:ext cx="18288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Drug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554480"/>
            <a:ext cx="1371600" cy="365760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Disease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65960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EGFR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1M17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1965960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965960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Erlotinib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1965960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313432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ABL1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1IEP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313432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13432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Imatinib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2313432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660904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JAK2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3FUP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660904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TK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4720" y="2660904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Ruxolitinib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03520" y="2660904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MPN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008376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CDK2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1H1S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3008376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008376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Roscovitine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3008376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55848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p38a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3GCP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51760" y="3355848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3355848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BIRB-796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3355848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Inflammation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703320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GSK3b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82880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1Q5K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51760" y="3703320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CMGC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3703320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Staurosporine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0" y="3703320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Alzheimer's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4050792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BRAF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2880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3OG7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51760" y="4050792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74720" y="4050792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Vemurafenib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303520" y="4050792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Melanoma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4398264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ALK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2880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2XP2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51760" y="4398264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TKL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74720" y="4398264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Crizotinib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03520" y="4398264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NSCLC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" y="4745736"/>
            <a:ext cx="109728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AKT1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82880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3CQW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51760" y="4745736"/>
            <a:ext cx="82296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AGC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474720" y="4745736"/>
            <a:ext cx="18288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Inhibitor VIII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303520" y="4745736"/>
            <a:ext cx="137160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5093208"/>
            <a:ext cx="109728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/>
            </a:pPr>
            <a:r>
              <a:t>AURKA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82880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3E5A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651760" y="5093208"/>
            <a:ext cx="82296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Other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74720" y="5093208"/>
            <a:ext cx="18288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Hesperadin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303520" y="5093208"/>
            <a:ext cx="1371600" cy="3200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/>
            </a:pPr>
            <a:r>
              <a:t>Cancer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E0F2F1"/>
          </a:solidFill>
          <a:ln w="1270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실습 흐름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06640" y="2194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1. 10개 키나아제 자동 준비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06640" y="2651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2. Re-docking (native ligand)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06640" y="31089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3. Cross-docking 100조합 (10×10)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35661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4. Selectivity Heatmap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40233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5. ProLIF 상호작용 비교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44805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6. IFP 유사도 + PCA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06640" y="4937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212121"/>
                </a:solidFill>
                <a:latin typeface="맑은 고딕"/>
              </a:defRPr>
            </a:pPr>
            <a:r>
              <a:t>7. Binding site 특성 비교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06640" y="5577840"/>
            <a:ext cx="3840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소요 시간: ~60-90분 (Cross-dock 포함)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E53935"/>
                </a:solidFill>
                <a:latin typeface="맑은 고딕"/>
              </a:defRPr>
            </a:pPr>
            <a:r>
              <a:t>Cross-dock 생략 시 ~15분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212121"/>
                </a:solidFill>
                <a:latin typeface="맑은 고딕"/>
              </a:defRPr>
            </a:pPr>
            <a:r>
              <a:t>실습 3: EGFR 변이체 — 약물 내성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0">
                <a:solidFill>
                  <a:srgbClr val="00897B"/>
                </a:solidFill>
                <a:latin typeface="맑은 고딕"/>
              </a:defRPr>
            </a:pPr>
            <a:r>
              <a:t>EGFR_WT_Mutant_Docking_Colab.ipynb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EGFR 변이와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37160" cy="36576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1E88E5"/>
                </a:solidFill>
                <a:latin typeface="맑은 고딕"/>
              </a:defRPr>
            </a:pPr>
            <a:r>
              <a:t>Wild-type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0574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정상 EGFR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1M17, 2ITY, 1XKK, 4G5J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6032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L858R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603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활성화 변이 (exon 21)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5603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2ITZ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13716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063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E53935"/>
                </a:solidFill>
                <a:latin typeface="맑은 고딕"/>
              </a:defRPr>
            </a:pPr>
            <a:r>
              <a:t>T790M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06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Gatekeeper 내성 변이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0632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2JIT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66160"/>
            <a:ext cx="137160" cy="365760"/>
          </a:xfrm>
          <a:prstGeom prst="rect">
            <a:avLst/>
          </a:prstGeom>
          <a:solidFill>
            <a:srgbClr val="8E2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400" b="1">
                <a:solidFill>
                  <a:srgbClr val="8E24AA"/>
                </a:solidFill>
                <a:latin typeface="맑은 고딕"/>
              </a:defRPr>
            </a:pPr>
            <a:r>
              <a:t>T790M/L858R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566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757575"/>
                </a:solidFill>
                <a:latin typeface="맑은 고딕"/>
              </a:defRPr>
            </a:pPr>
            <a:r>
              <a:t>이중 변이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566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000" b="0">
                <a:solidFill>
                  <a:srgbClr val="757575"/>
                </a:solidFill>
                <a:latin typeface="Consolas"/>
              </a:defRPr>
            </a:pPr>
            <a:r>
              <a:t>3IKA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교차 도킹 약물 패널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Erlotinib (1st gen)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663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Gefitinib (1st gen)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5120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Reversible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51206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WT/L858R 반응, T790M 내성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577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Afatinib (2nd 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5577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5577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Pan-ErbB, T790M 약함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6035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1">
                <a:solidFill>
                  <a:srgbClr val="212121"/>
                </a:solidFill>
                <a:latin typeface="맑은 고딕"/>
              </a:defRPr>
            </a:pPr>
            <a:r>
              <a:t>Osimertinib (3rd gen)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6035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757575"/>
                </a:solidFill>
                <a:latin typeface="맑은 고딕"/>
              </a:defRPr>
            </a:pPr>
            <a:r>
              <a:t>Irreversible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0350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212121"/>
                </a:solidFill>
                <a:latin typeface="맑은 고딕"/>
              </a:defRPr>
            </a:pPr>
            <a:r>
              <a:t>T790M 선택적, WT 보존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1554480"/>
            <a:ext cx="42976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800" b="1">
                <a:solidFill>
                  <a:srgbClr val="212121"/>
                </a:solidFill>
                <a:latin typeface="맑은 고딕"/>
              </a:defRPr>
            </a:pPr>
            <a:r>
              <a:t>PyMOL: 변이 비교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06640" y="2103120"/>
            <a:ext cx="3931920" cy="4114800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27000" rIns="177800" bIns="127000"/>
          <a:lstStyle/>
          <a:p>
            <a:pPr algn="ctr"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WT vs T790M 비교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cmd.load('1m17_clean_H.pdb',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cmd.load('2jit_clean_H.pdb',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cmd.cealign('WT',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색상 구분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cmd.color('palegreen', 'WT')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cmd.color('salmon', 'T790M')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Gatekeeper 잔기 하이라이트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cmd.select('gate', 'T790M and resi 790')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cmd.show('spheres',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cmd.color('red', 'gate')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cmd.label('gate and name CA', '"T790M"')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# 약물 도킹 포즈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cmd.load('osimertinib.sdf',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cmd.show('sticks', 'osi')</a:t>
            </a:r>
          </a:p>
          <a:p>
            <a:pPr>
              <a:spcAft>
                <a:spcPts val="100"/>
              </a:spcAft>
              <a:defRPr sz="1100">
                <a:solidFill>
                  <a:srgbClr val="ABB2BF"/>
                </a:solidFill>
                <a:latin typeface="Consolas"/>
              </a:defRPr>
            </a:pPr>
            <a:r>
              <a:t>cmd.color('cyan', 'osi')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PyMOL 필수 명령어 치트시트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구조 로드 &amp; 저장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cmd.fetch("6nzp")</a:t>
            </a:r>
            <a:r>
              <a:rPr sz="1100">
                <a:solidFill>
                  <a:srgbClr val="6A9955"/>
                </a:solidFill>
                <a:latin typeface="Consolas"/>
              </a:rPr>
              <a:t>  # PDB에서 다운로드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cmd.load("f.pdb", "name")</a:t>
            </a:r>
            <a:r>
              <a:rPr sz="1100">
                <a:solidFill>
                  <a:srgbClr val="6A9955"/>
                </a:solidFill>
                <a:latin typeface="Consolas"/>
              </a:rPr>
              <a:t>  # 로컬 파일 로드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cmd.save("out.pdb", "sel")</a:t>
            </a:r>
            <a:r>
              <a:rPr sz="1100">
                <a:solidFill>
                  <a:srgbClr val="6A9955"/>
                </a:solidFill>
                <a:latin typeface="Consolas"/>
              </a:rPr>
              <a:t>  # 선택 영역 저장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cmd.delete("all")</a:t>
            </a:r>
            <a:r>
              <a:rPr sz="1100">
                <a:solidFill>
                  <a:srgbClr val="6A9955"/>
                </a:solidFill>
                <a:latin typeface="Consolas"/>
              </a:rPr>
              <a:t>  # 모든 객체 삭제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선택 (Selection)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5544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Prot, polymer.protein</a:t>
            </a:r>
            <a:r>
              <a:rPr sz="1100">
                <a:solidFill>
                  <a:srgbClr val="6A9955"/>
                </a:solidFill>
                <a:latin typeface="Consolas"/>
              </a:rPr>
              <a:t>  # 단백질만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574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Lig, organic</a:t>
            </a:r>
            <a:r>
              <a:rPr sz="1100">
                <a:solidFill>
                  <a:srgbClr val="6A9955"/>
                </a:solidFill>
                <a:latin typeface="Consolas"/>
              </a:rPr>
              <a:t>  # 유기 리간드만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5603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select site, prot w. 5 of lig</a:t>
            </a:r>
            <a:r>
              <a:rPr sz="1100">
                <a:solidFill>
                  <a:srgbClr val="6A9955"/>
                </a:solidFill>
                <a:latin typeface="Consolas"/>
              </a:rPr>
              <a:t>  # 5A 이내 잔기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0632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remove solvent</a:t>
            </a:r>
            <a:r>
              <a:rPr sz="1100">
                <a:solidFill>
                  <a:srgbClr val="6A9955"/>
                </a:solidFill>
                <a:latin typeface="Consolas"/>
              </a:rPr>
              <a:t>  # 물 분자 제거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표현 (Representation)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cartoon,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리본 뼈대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sticks, Lig</a:t>
            </a:r>
            <a:r>
              <a:rPr sz="1100">
                <a:solidFill>
                  <a:srgbClr val="6A9955"/>
                </a:solidFill>
                <a:latin typeface="Consolas"/>
              </a:rPr>
              <a:t>  # 막대 모델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surface, Prot</a:t>
            </a:r>
            <a:r>
              <a:rPr sz="1100">
                <a:solidFill>
                  <a:srgbClr val="6A9955"/>
                </a:solidFill>
                <a:latin typeface="Consolas"/>
              </a:rPr>
              <a:t>  # 분자 표면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show spheres, resi 790</a:t>
            </a:r>
            <a:r>
              <a:rPr sz="1100">
                <a:solidFill>
                  <a:srgbClr val="6A9955"/>
                </a:solidFill>
                <a:latin typeface="Consolas"/>
              </a:rPr>
              <a:t>  # 구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840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1">
                <a:solidFill>
                  <a:srgbClr val="00897B"/>
                </a:solidFill>
                <a:latin typeface="맑은 고딕"/>
              </a:defRPr>
            </a:pPr>
            <a:r>
              <a:t>색상 &amp;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29768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color green, Lig</a:t>
            </a:r>
            <a:r>
              <a:rPr sz="1100">
                <a:solidFill>
                  <a:srgbClr val="6A9955"/>
                </a:solidFill>
                <a:latin typeface="Consolas"/>
              </a:rPr>
              <a:t>  # 색상 지정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80060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spectrum b, blue_white_red</a:t>
            </a:r>
            <a:r>
              <a:rPr sz="1100">
                <a:solidFill>
                  <a:srgbClr val="6A9955"/>
                </a:solidFill>
                <a:latin typeface="Consolas"/>
              </a:rPr>
              <a:t>  # B-factor 색상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530352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distance hb, L, P, mode=2</a:t>
            </a:r>
            <a:r>
              <a:rPr sz="1100">
                <a:solidFill>
                  <a:srgbClr val="6A9955"/>
                </a:solidFill>
                <a:latin typeface="Consolas"/>
              </a:rPr>
              <a:t>  # 수소결합 표시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806440"/>
            <a:ext cx="5486400" cy="384048"/>
          </a:xfrm>
          <a:prstGeom prst="roundRect">
            <a:avLst/>
          </a:prstGeom>
          <a:solidFill>
            <a:srgbClr val="282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100">
                <a:solidFill>
                  <a:srgbClr val="ABB2BF"/>
                </a:solidFill>
                <a:latin typeface="Consolas"/>
              </a:rPr>
              <a:t>cealign ref, mobile</a:t>
            </a:r>
            <a:r>
              <a:rPr sz="1100">
                <a:solidFill>
                  <a:srgbClr val="6A9955"/>
                </a:solidFill>
                <a:latin typeface="Consolas"/>
              </a:rPr>
              <a:t>  # 구조 정렬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4400" b="1">
                <a:solidFill>
                  <a:srgbClr val="FFFFFF"/>
                </a:solidFill>
                <a:latin typeface="맑은 고딕"/>
              </a:defRPr>
            </a:pPr>
            <a:r>
              <a:t>실습 요약 &amp; 다음 단계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743200"/>
            <a:ext cx="137160" cy="54864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1E88E5"/>
                </a:solidFill>
                <a:latin typeface="맑은 고딕"/>
              </a:defRPr>
            </a:pPr>
            <a:r>
              <a:t>TYK2 단일 타겟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889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도킹 파이프라인 전체를 1회 완주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137160" cy="54864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00897B"/>
                </a:solidFill>
                <a:latin typeface="맑은 고딕"/>
              </a:defRPr>
            </a:pPr>
            <a:r>
              <a:t>Kinase Panel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703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10종 키나아제 선택성을 Cross-docking으로 평가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572000"/>
            <a:ext cx="137160" cy="5486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200" b="1">
                <a:solidFill>
                  <a:srgbClr val="E53935"/>
                </a:solidFill>
                <a:latin typeface="맑은 고딕"/>
              </a:defRPr>
            </a:pPr>
            <a:r>
              <a:t>EGFR 변이체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177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600" b="0">
                <a:solidFill>
                  <a:srgbClr val="AAAAAA"/>
                </a:solidFill>
                <a:latin typeface="맑은 고딕"/>
              </a:defRPr>
            </a:pPr>
            <a:r>
              <a:t>약물 내성 메커니즘을 도킹으로 시뮬레이션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2000" b="1">
                <a:solidFill>
                  <a:srgbClr val="00897B"/>
                </a:solidFill>
                <a:latin typeface="맑은 고딕"/>
              </a:defRPr>
            </a:pPr>
            <a:r>
              <a:t>다음 단계: MD &amp; FEP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0">
                <a:solidFill>
                  <a:srgbClr val="757575"/>
                </a:solidFill>
                <a:latin typeface="맑은 고딕"/>
              </a:defRPr>
            </a:pPr>
            <a:r>
              <a:t>도킹 = "정적 스냅샷"  →  분자 동역학(MD) = "동적 영화"  →  FEP = "정량적 자유 에너지"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