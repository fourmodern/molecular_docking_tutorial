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9144000" cy="914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4800" b="1">
                <a:solidFill>
                  <a:srgbClr val="FFFFFF"/>
                </a:solidFill>
                <a:latin typeface="맑은 고딕"/>
              </a:defRPr>
            </a:pPr>
            <a:r>
              <a:t>도킹 결과 시각화 가이드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560320"/>
            <a:ext cx="914400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2400" b="0">
                <a:solidFill>
                  <a:srgbClr val="00897B"/>
                </a:solidFill>
                <a:latin typeface="맑은 고딕"/>
              </a:defRPr>
            </a:pPr>
            <a:r>
              <a:t>PyMOL + DataWarrior로 실전 결과 분석하기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7315200" cy="228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800" b="0">
                <a:solidFill>
                  <a:srgbClr val="AAAAAA"/>
                </a:solidFill>
                <a:latin typeface="맑은 고딕"/>
              </a:defRPr>
            </a:pPr>
            <a:r>
              <a:t>01. Structure Search 결과</a:t>
            </a:r>
          </a:p>
          <a:p>
            <a:pPr algn="l">
              <a:spcAft>
                <a:spcPts val="200"/>
              </a:spcAft>
              <a:defRPr sz="1800" b="0">
                <a:solidFill>
                  <a:srgbClr val="AAAAAA"/>
                </a:solidFill>
                <a:latin typeface="맑은 고딕"/>
              </a:defRPr>
            </a:pPr>
            <a:r>
              <a:t>02. Ligand Screening 결과</a:t>
            </a:r>
          </a:p>
          <a:p>
            <a:pPr algn="l">
              <a:spcAft>
                <a:spcPts val="200"/>
              </a:spcAft>
              <a:defRPr sz="1800" b="0">
                <a:solidFill>
                  <a:srgbClr val="AAAAAA"/>
                </a:solidFill>
                <a:latin typeface="맑은 고딕"/>
              </a:defRPr>
            </a:pPr>
            <a:r>
              <a:t>03. SAR Matrix 결과</a:t>
            </a:r>
          </a:p>
          <a:p>
            <a:pPr algn="l">
              <a:spcAft>
                <a:spcPts val="200"/>
              </a:spcAft>
              <a:defRPr sz="1800" b="0">
                <a:solidFill>
                  <a:srgbClr val="AAAAAA"/>
                </a:solidFill>
                <a:latin typeface="맑은 고딕"/>
              </a:defRPr>
            </a:pPr>
            <a:r>
              <a:t>04. Kinase Panel 결과</a:t>
            </a:r>
          </a:p>
          <a:p>
            <a:pPr algn="l">
              <a:spcAft>
                <a:spcPts val="200"/>
              </a:spcAft>
              <a:defRPr sz="1800" b="0">
                <a:solidFill>
                  <a:srgbClr val="AAAAAA"/>
                </a:solidFill>
                <a:latin typeface="맑은 고딕"/>
              </a:defRPr>
            </a:pPr>
            <a:r>
              <a:t>05. EGFR Mutants 결과</a:t>
            </a:r>
          </a:p>
          <a:p>
            <a:pPr algn="l">
              <a:spcAft>
                <a:spcPts val="200"/>
              </a:spcAft>
              <a:defRPr sz="1800" b="0">
                <a:solidFill>
                  <a:srgbClr val="AAAAAA"/>
                </a:solidFill>
                <a:latin typeface="맑은 고딕"/>
              </a:defRPr>
            </a:pPr>
            <a:r>
              <a:t>06. Scoring Validation 결과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3000" b="1">
                <a:solidFill>
                  <a:srgbClr val="212121"/>
                </a:solidFill>
                <a:latin typeface="맑은 고딕"/>
              </a:defRPr>
            </a:pPr>
            <a:r>
              <a:t>01. Structure Search 결과 — TYK2 PDB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00897B"/>
                </a:solidFill>
                <a:latin typeface="맑은 고딕"/>
              </a:defRPr>
            </a:pPr>
            <a:r>
              <a:t>TYK2_structure_search/ | 5개 PDB × (crystal + docked)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11064240" cy="1097280"/>
          </a:xfrm>
          <a:prstGeom prst="roundRect">
            <a:avLst/>
          </a:prstGeom>
          <a:solidFill>
            <a:srgbClr val="E0F2F1"/>
          </a:solidFill>
          <a:ln w="12700"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17320"/>
            <a:ext cx="13716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400" b="1">
                <a:solidFill>
                  <a:srgbClr val="00897B"/>
                </a:solidFill>
                <a:latin typeface="맑은 고딕"/>
              </a:defRPr>
            </a:pPr>
            <a:r>
              <a:t>결과 파일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91640"/>
            <a:ext cx="1051560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100" b="0">
                <a:solidFill>
                  <a:srgbClr val="212121"/>
                </a:solidFill>
                <a:latin typeface="맑은 고딕"/>
              </a:defRPr>
            </a:pPr>
            <a:r>
              <a:t>*_protein.pdb (정렬된 단백질)  |  *_docked.sdf (도킹 포즈)  |  *_crystal.sdf (Crystal 포즈)  |  *_lig_aligned.mol2 (정렬된 리간드)  |  structure_comparison.csv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651760"/>
            <a:ext cx="5303520" cy="457200"/>
          </a:xfrm>
          <a:prstGeom prst="round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PyMOL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200400"/>
            <a:ext cx="5303520" cy="384048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101600" rIns="152400" bIns="101600">
            <a:normAutofit/>
          </a:bodyPr>
          <a:lstStyle/>
          <a:p>
            <a:pPr algn="ctr">
              <a:spcAft>
                <a:spcPts val="0"/>
              </a:spcAft>
              <a:defRPr sz="1000">
                <a:solidFill>
                  <a:srgbClr val="6A9955"/>
                </a:solidFill>
                <a:latin typeface="Consolas"/>
              </a:defRPr>
            </a:pPr>
            <a:r>
              <a:t># 1. 정렬된 구조 비교</a:t>
            </a:r>
          </a:p>
          <a:p>
            <a:pPr>
              <a:spcAft>
                <a:spcPts val="0"/>
              </a:spcAft>
              <a:defRPr sz="1000">
                <a:solidFill>
                  <a:srgbClr val="ABB2BF"/>
                </a:solidFill>
                <a:latin typeface="Consolas"/>
              </a:defRPr>
            </a:pPr>
            <a:r>
              <a:t>load 4wov/4wov_clean_H_aligned.pdb, PDB_4wov</a:t>
            </a:r>
          </a:p>
          <a:p>
            <a:pPr>
              <a:spcAft>
                <a:spcPts val="0"/>
              </a:spcAft>
              <a:defRPr sz="1000">
                <a:solidFill>
                  <a:srgbClr val="ABB2BF"/>
                </a:solidFill>
                <a:latin typeface="Consolas"/>
              </a:defRPr>
            </a:pPr>
            <a:r>
              <a:t>load 8s99/8s99_clean_H_aligned.pdb, PDB_8s99</a:t>
            </a:r>
          </a:p>
          <a:p>
            <a:pPr>
              <a:spcAft>
                <a:spcPts val="0"/>
              </a:spcAft>
              <a:defRPr sz="1000">
                <a:solidFill>
                  <a:srgbClr val="ABB2BF"/>
                </a:solidFill>
                <a:latin typeface="Consolas"/>
              </a:defRPr>
            </a:pPr>
            <a:r>
              <a:t>show cartoon, all</a:t>
            </a:r>
          </a:p>
          <a:p>
            <a:pPr>
              <a:spcAft>
                <a:spcPts val="0"/>
              </a:spcAft>
              <a:defRPr sz="1000">
                <a:solidFill>
                  <a:srgbClr val="ABB2BF"/>
                </a:solidFill>
                <a:latin typeface="Consolas"/>
              </a:defRPr>
            </a:pPr>
            <a:r>
              <a:t>color palegreen, PDB_4wov</a:t>
            </a:r>
          </a:p>
          <a:p>
            <a:pPr>
              <a:spcAft>
                <a:spcPts val="0"/>
              </a:spcAft>
              <a:defRPr sz="1000">
                <a:solidFill>
                  <a:srgbClr val="ABB2BF"/>
                </a:solidFill>
                <a:latin typeface="Consolas"/>
              </a:defRPr>
            </a:pPr>
            <a:r>
              <a:t>color salmon, PDB_8s99</a:t>
            </a:r>
          </a:p>
          <a:p>
            <a:pPr>
              <a:spcAft>
                <a:spcPts val="0"/>
              </a:spcAft>
              <a:defRPr sz="10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000">
                <a:solidFill>
                  <a:srgbClr val="6A9955"/>
                </a:solidFill>
                <a:latin typeface="Consolas"/>
              </a:defRPr>
            </a:pPr>
            <a:r>
              <a:t># 2. Crystal vs Docked 비교</a:t>
            </a:r>
          </a:p>
          <a:p>
            <a:pPr>
              <a:spcAft>
                <a:spcPts val="0"/>
              </a:spcAft>
              <a:defRPr sz="1000">
                <a:solidFill>
                  <a:srgbClr val="ABB2BF"/>
                </a:solidFill>
                <a:latin typeface="Consolas"/>
              </a:defRPr>
            </a:pPr>
            <a:r>
              <a:t>load 4wov/4wov_crystal.sdf, crystal</a:t>
            </a:r>
          </a:p>
          <a:p>
            <a:pPr>
              <a:spcAft>
                <a:spcPts val="0"/>
              </a:spcAft>
              <a:defRPr sz="1000">
                <a:solidFill>
                  <a:srgbClr val="ABB2BF"/>
                </a:solidFill>
                <a:latin typeface="Consolas"/>
              </a:defRPr>
            </a:pPr>
            <a:r>
              <a:t>load 4wov/4wov_docked.sdf, docked</a:t>
            </a:r>
          </a:p>
          <a:p>
            <a:pPr>
              <a:spcAft>
                <a:spcPts val="0"/>
              </a:spcAft>
              <a:defRPr sz="1000">
                <a:solidFill>
                  <a:srgbClr val="ABB2BF"/>
                </a:solidFill>
                <a:latin typeface="Consolas"/>
              </a:defRPr>
            </a:pPr>
            <a:r>
              <a:t>color magenta, crystal   # 실험 포즈</a:t>
            </a:r>
          </a:p>
          <a:p>
            <a:pPr>
              <a:spcAft>
                <a:spcPts val="0"/>
              </a:spcAft>
              <a:defRPr sz="1000">
                <a:solidFill>
                  <a:srgbClr val="ABB2BF"/>
                </a:solidFill>
                <a:latin typeface="Consolas"/>
              </a:defRPr>
            </a:pPr>
            <a:r>
              <a:t>color green, docked       # 도킹 예측</a:t>
            </a:r>
          </a:p>
          <a:p>
            <a:pPr>
              <a:spcAft>
                <a:spcPts val="0"/>
              </a:spcAft>
              <a:defRPr sz="1000">
                <a:solidFill>
                  <a:srgbClr val="ABB2BF"/>
                </a:solidFill>
                <a:latin typeface="Consolas"/>
              </a:defRPr>
            </a:pPr>
            <a:r>
              <a:t>show sticks, crystal or docked</a:t>
            </a:r>
          </a:p>
          <a:p>
            <a:pPr>
              <a:spcAft>
                <a:spcPts val="0"/>
              </a:spcAft>
              <a:defRPr sz="10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000">
                <a:solidFill>
                  <a:srgbClr val="6A9955"/>
                </a:solidFill>
                <a:latin typeface="Consolas"/>
              </a:defRPr>
            </a:pPr>
            <a:r>
              <a:t># 3. 결합 부위 + 수소결합</a:t>
            </a:r>
          </a:p>
          <a:p>
            <a:pPr>
              <a:spcAft>
                <a:spcPts val="0"/>
              </a:spcAft>
              <a:defRPr sz="1000">
                <a:solidFill>
                  <a:srgbClr val="ABB2BF"/>
                </a:solidFill>
                <a:latin typeface="Consolas"/>
              </a:defRPr>
            </a:pPr>
            <a:r>
              <a:t>select pocket, PDB_4wov within 5 of docked</a:t>
            </a:r>
          </a:p>
          <a:p>
            <a:pPr>
              <a:spcAft>
                <a:spcPts val="0"/>
              </a:spcAft>
              <a:defRPr sz="1000">
                <a:solidFill>
                  <a:srgbClr val="ABB2BF"/>
                </a:solidFill>
                <a:latin typeface="Consolas"/>
              </a:defRPr>
            </a:pPr>
            <a:r>
              <a:t>show sticks, pocket</a:t>
            </a:r>
          </a:p>
          <a:p>
            <a:pPr>
              <a:spcAft>
                <a:spcPts val="0"/>
              </a:spcAft>
              <a:defRPr sz="1000">
                <a:solidFill>
                  <a:srgbClr val="ABB2BF"/>
                </a:solidFill>
                <a:latin typeface="Consolas"/>
              </a:defRPr>
            </a:pPr>
            <a:r>
              <a:t>distance hb, docked, pocket, mode=2</a:t>
            </a:r>
          </a:p>
          <a:p>
            <a:pPr>
              <a:spcAft>
                <a:spcPts val="0"/>
              </a:spcAft>
              <a:defRPr sz="10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000">
                <a:solidFill>
                  <a:srgbClr val="6A9955"/>
                </a:solidFill>
                <a:latin typeface="Consolas"/>
              </a:defRPr>
            </a:pPr>
            <a:r>
              <a:t># 4. 이미지 저장</a:t>
            </a:r>
          </a:p>
          <a:p>
            <a:pPr>
              <a:spcAft>
                <a:spcPts val="0"/>
              </a:spcAft>
              <a:defRPr sz="1000">
                <a:solidFill>
                  <a:srgbClr val="ABB2BF"/>
                </a:solidFill>
                <a:latin typeface="Consolas"/>
              </a:defRPr>
            </a:pPr>
            <a:r>
              <a:t>bg_color white</a:t>
            </a:r>
          </a:p>
          <a:p>
            <a:pPr>
              <a:spcAft>
                <a:spcPts val="0"/>
              </a:spcAft>
              <a:defRPr sz="1000">
                <a:solidFill>
                  <a:srgbClr val="ABB2BF"/>
                </a:solidFill>
                <a:latin typeface="Consolas"/>
              </a:defRPr>
            </a:pPr>
            <a:r>
              <a:t>ray 2400, 1800</a:t>
            </a:r>
          </a:p>
          <a:p>
            <a:pPr>
              <a:spcAft>
                <a:spcPts val="0"/>
              </a:spcAft>
              <a:defRPr sz="1000">
                <a:solidFill>
                  <a:srgbClr val="ABB2BF"/>
                </a:solidFill>
                <a:latin typeface="Consolas"/>
              </a:defRPr>
            </a:pPr>
            <a:r>
              <a:t>png structure_comparison.png, dpi=300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651760"/>
            <a:ext cx="5303520" cy="457200"/>
          </a:xfrm>
          <a:prstGeom prst="round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DataWarrior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3200400"/>
            <a:ext cx="5303520" cy="3840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1. structure_comparison.csv 열기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   → Score, RMSD, Interactions 비교 테이블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2. 정렬: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   Best Score 오름차순 → 가장 좋은 구조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   Best RMSD 오름차순 → 가장 정확한 re-docking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3. 차트 만들기: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   우클릭 → New View → Bar Chart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   X: PDB, Y: Best Score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4. 판정 확인: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   ✓ 추천: Score &lt; -7, RMSD &lt; 2.0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   △ 가능: Score &lt; -6, RMSD &lt; 3.0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   ✗ 부적합: 기준 미달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5. Crystal Score vs Dock Score: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   Delta가 작을수록 scoring 신뢰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→ 최적 PDB를 02~06 노트북에 사용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3000" b="1">
                <a:solidFill>
                  <a:srgbClr val="212121"/>
                </a:solidFill>
                <a:latin typeface="맑은 고딕"/>
              </a:defRPr>
            </a:pPr>
            <a:r>
              <a:t>02. Ligand Screening 결과 — 5개 약물 스크리닝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00897B"/>
                </a:solidFill>
                <a:latin typeface="맑은 고딕"/>
              </a:defRPr>
            </a:pPr>
            <a:r>
              <a:t>6nzp_screening/ | Erlotinib, Gefitinib, Afatinib, Osimertinib, Imatinib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11064240" cy="1097280"/>
          </a:xfrm>
          <a:prstGeom prst="roundRect">
            <a:avLst/>
          </a:prstGeom>
          <a:solidFill>
            <a:srgbClr val="E0F2F1"/>
          </a:solidFill>
          <a:ln w="12700"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17320"/>
            <a:ext cx="13716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400" b="1">
                <a:solidFill>
                  <a:srgbClr val="00897B"/>
                </a:solidFill>
                <a:latin typeface="맑은 고딕"/>
              </a:defRPr>
            </a:pPr>
            <a:r>
              <a:t>결과 파일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91640"/>
            <a:ext cx="1051560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100" b="0">
                <a:solidFill>
                  <a:srgbClr val="212121"/>
                </a:solidFill>
                <a:latin typeface="맑은 고딕"/>
              </a:defRPr>
            </a:pPr>
            <a:r>
              <a:t>screening_results.csv (스코어 테이블)  |  screening_results.sdf (구조+스코어)  |  *_docked.sdf (도킹 포즈)  |  screening_pymol.pml (자동 스크립트)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651760"/>
            <a:ext cx="5303520" cy="457200"/>
          </a:xfrm>
          <a:prstGeom prst="round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PyMOL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200400"/>
            <a:ext cx="5303520" cy="384048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101600" rIns="152400" bIns="101600">
            <a:normAutofit/>
          </a:bodyPr>
          <a:lstStyle/>
          <a:p>
            <a:pPr algn="ctr">
              <a:spcAft>
                <a:spcPts val="0"/>
              </a:spcAft>
              <a:defRPr sz="1000">
                <a:solidFill>
                  <a:srgbClr val="6A9955"/>
                </a:solidFill>
                <a:latin typeface="Consolas"/>
              </a:defRPr>
            </a:pPr>
            <a:r>
              <a:t># 방법 1: PML 스크립트 실행</a:t>
            </a:r>
          </a:p>
          <a:p>
            <a:pPr>
              <a:spcAft>
                <a:spcPts val="0"/>
              </a:spcAft>
              <a:defRPr sz="1000">
                <a:solidFill>
                  <a:srgbClr val="6A9955"/>
                </a:solidFill>
                <a:latin typeface="Consolas"/>
              </a:defRPr>
            </a:pPr>
            <a:r>
              <a:t># File → Run Script → screening_pymol.pml</a:t>
            </a:r>
          </a:p>
          <a:p>
            <a:pPr>
              <a:spcAft>
                <a:spcPts val="0"/>
              </a:spcAft>
              <a:defRPr sz="10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000">
                <a:solidFill>
                  <a:srgbClr val="6A9955"/>
                </a:solidFill>
                <a:latin typeface="Consolas"/>
              </a:defRPr>
            </a:pPr>
            <a:r>
              <a:t># 방법 2: 수동</a:t>
            </a:r>
          </a:p>
          <a:p>
            <a:pPr>
              <a:spcAft>
                <a:spcPts val="0"/>
              </a:spcAft>
              <a:defRPr sz="1000">
                <a:solidFill>
                  <a:srgbClr val="ABB2BF"/>
                </a:solidFill>
                <a:latin typeface="Consolas"/>
              </a:defRPr>
            </a:pPr>
            <a:r>
              <a:t>load 6nzp_clean_H.pdb, protein</a:t>
            </a:r>
          </a:p>
          <a:p>
            <a:pPr>
              <a:spcAft>
                <a:spcPts val="0"/>
              </a:spcAft>
              <a:defRPr sz="1000">
                <a:solidFill>
                  <a:srgbClr val="ABB2BF"/>
                </a:solidFill>
                <a:latin typeface="Consolas"/>
              </a:defRPr>
            </a:pPr>
            <a:r>
              <a:t>show cartoon, protein</a:t>
            </a:r>
          </a:p>
          <a:p>
            <a:pPr>
              <a:spcAft>
                <a:spcPts val="0"/>
              </a:spcAft>
              <a:defRPr sz="1000">
                <a:solidFill>
                  <a:srgbClr val="ABB2BF"/>
                </a:solidFill>
                <a:latin typeface="Consolas"/>
              </a:defRPr>
            </a:pPr>
            <a:r>
              <a:t>color white, protein</a:t>
            </a:r>
          </a:p>
          <a:p>
            <a:pPr>
              <a:spcAft>
                <a:spcPts val="0"/>
              </a:spcAft>
              <a:defRPr sz="10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000">
                <a:solidFill>
                  <a:srgbClr val="6A9955"/>
                </a:solidFill>
                <a:latin typeface="Consolas"/>
              </a:defRPr>
            </a:pPr>
            <a:r>
              <a:t># Top 3 약물 포즈</a:t>
            </a:r>
          </a:p>
          <a:p>
            <a:pPr>
              <a:spcAft>
                <a:spcPts val="0"/>
              </a:spcAft>
              <a:defRPr sz="1000">
                <a:solidFill>
                  <a:srgbClr val="ABB2BF"/>
                </a:solidFill>
                <a:latin typeface="Consolas"/>
              </a:defRPr>
            </a:pPr>
            <a:r>
              <a:t>load Erlotinib_docked.sdf, Erlotinib</a:t>
            </a:r>
          </a:p>
          <a:p>
            <a:pPr>
              <a:spcAft>
                <a:spcPts val="0"/>
              </a:spcAft>
              <a:defRPr sz="1000">
                <a:solidFill>
                  <a:srgbClr val="ABB2BF"/>
                </a:solidFill>
                <a:latin typeface="Consolas"/>
              </a:defRPr>
            </a:pPr>
            <a:r>
              <a:t>load Osimertinib_docked.sdf, Osimertinib</a:t>
            </a:r>
          </a:p>
          <a:p>
            <a:pPr>
              <a:spcAft>
                <a:spcPts val="0"/>
              </a:spcAft>
              <a:defRPr sz="1000">
                <a:solidFill>
                  <a:srgbClr val="ABB2BF"/>
                </a:solidFill>
                <a:latin typeface="Consolas"/>
              </a:defRPr>
            </a:pPr>
            <a:r>
              <a:t>load Afatinib_docked.sdf, Afatinib</a:t>
            </a:r>
          </a:p>
          <a:p>
            <a:pPr>
              <a:spcAft>
                <a:spcPts val="0"/>
              </a:spcAft>
              <a:defRPr sz="1000">
                <a:solidFill>
                  <a:srgbClr val="ABB2BF"/>
                </a:solidFill>
                <a:latin typeface="Consolas"/>
              </a:defRPr>
            </a:pPr>
            <a:r>
              <a:t>color green, Erlotinib</a:t>
            </a:r>
          </a:p>
          <a:p>
            <a:pPr>
              <a:spcAft>
                <a:spcPts val="0"/>
              </a:spcAft>
              <a:defRPr sz="1000">
                <a:solidFill>
                  <a:srgbClr val="ABB2BF"/>
                </a:solidFill>
                <a:latin typeface="Consolas"/>
              </a:defRPr>
            </a:pPr>
            <a:r>
              <a:t>color cyan, Osimertinib</a:t>
            </a:r>
          </a:p>
          <a:p>
            <a:pPr>
              <a:spcAft>
                <a:spcPts val="0"/>
              </a:spcAft>
              <a:defRPr sz="1000">
                <a:solidFill>
                  <a:srgbClr val="ABB2BF"/>
                </a:solidFill>
                <a:latin typeface="Consolas"/>
              </a:defRPr>
            </a:pPr>
            <a:r>
              <a:t>color orange, Afatinib</a:t>
            </a:r>
          </a:p>
          <a:p>
            <a:pPr>
              <a:spcAft>
                <a:spcPts val="0"/>
              </a:spcAft>
              <a:defRPr sz="1000">
                <a:solidFill>
                  <a:srgbClr val="ABB2BF"/>
                </a:solidFill>
                <a:latin typeface="Consolas"/>
              </a:defRPr>
            </a:pPr>
            <a:r>
              <a:t>show sticks, Erlotinib or Osimertinib or Afatinib</a:t>
            </a:r>
          </a:p>
          <a:p>
            <a:pPr>
              <a:spcAft>
                <a:spcPts val="0"/>
              </a:spcAft>
              <a:defRPr sz="10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000">
                <a:solidFill>
                  <a:srgbClr val="6A9955"/>
                </a:solidFill>
                <a:latin typeface="Consolas"/>
              </a:defRPr>
            </a:pPr>
            <a:r>
              <a:t># 결합 부위</a:t>
            </a:r>
          </a:p>
          <a:p>
            <a:pPr>
              <a:spcAft>
                <a:spcPts val="0"/>
              </a:spcAft>
              <a:defRPr sz="1000">
                <a:solidFill>
                  <a:srgbClr val="ABB2BF"/>
                </a:solidFill>
                <a:latin typeface="Consolas"/>
              </a:defRPr>
            </a:pPr>
            <a:r>
              <a:t>select pocket, protein within 5 of Erlotinib</a:t>
            </a:r>
          </a:p>
          <a:p>
            <a:pPr>
              <a:spcAft>
                <a:spcPts val="0"/>
              </a:spcAft>
              <a:defRPr sz="1000">
                <a:solidFill>
                  <a:srgbClr val="ABB2BF"/>
                </a:solidFill>
                <a:latin typeface="Consolas"/>
              </a:defRPr>
            </a:pPr>
            <a:r>
              <a:t>show sticks, pocket; color skyblue, pocket</a:t>
            </a:r>
          </a:p>
          <a:p>
            <a:pPr>
              <a:spcAft>
                <a:spcPts val="0"/>
              </a:spcAft>
              <a:defRPr sz="10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000">
                <a:solidFill>
                  <a:srgbClr val="6A9955"/>
                </a:solidFill>
                <a:latin typeface="Consolas"/>
              </a:defRPr>
            </a:pPr>
            <a:r>
              <a:t># 포즈 순회 (각 약물의 10개 포즈)</a:t>
            </a:r>
          </a:p>
          <a:p>
            <a:pPr>
              <a:spcAft>
                <a:spcPts val="0"/>
              </a:spcAft>
              <a:defRPr sz="1000">
                <a:solidFill>
                  <a:srgbClr val="ABB2BF"/>
                </a:solidFill>
                <a:latin typeface="Consolas"/>
              </a:defRPr>
            </a:pPr>
            <a:r>
              <a:t>set all_states, 0   # best만</a:t>
            </a:r>
          </a:p>
          <a:p>
            <a:pPr>
              <a:spcAft>
                <a:spcPts val="0"/>
              </a:spcAft>
              <a:defRPr sz="1000">
                <a:solidFill>
                  <a:srgbClr val="ABB2BF"/>
                </a:solidFill>
                <a:latin typeface="Consolas"/>
              </a:defRPr>
            </a:pPr>
            <a:r>
              <a:t>frame 1</a:t>
            </a:r>
          </a:p>
          <a:p>
            <a:pPr>
              <a:spcAft>
                <a:spcPts val="0"/>
              </a:spcAft>
              <a:defRPr sz="1000">
                <a:solidFill>
                  <a:srgbClr val="6A9955"/>
                </a:solidFill>
                <a:latin typeface="Consolas"/>
              </a:defRPr>
            </a:pPr>
            <a:r>
              <a:t># set all_states, 1  # 전부 보기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651760"/>
            <a:ext cx="5303520" cy="457200"/>
          </a:xfrm>
          <a:prstGeom prst="round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DataWarrior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3200400"/>
            <a:ext cx="5303520" cy="3840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1. screening_results.sdf 열기 (구조 포함)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   또는 screening_results.csv (스코어만)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2. 속성 계산: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   Chemistry → Calculate Properties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   MW, cLogP, HBA, HBD, Drug-Likeness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3. 스코어 랭킹: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   Score 컬럼 정렬 → 가장 좋은 약물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4. Lipinski 필터: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   MW&lt;500, cLogP&lt;5, HBD≤5, HBA≤10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5. Score vs MW 산점도: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   우클릭 → 2D Scatter Plot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   → MW 500 이하 + Score &lt; -7 영역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6. 선별 → PyMOL: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   원하는 행 선택 → File → Save Special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   → SD-File → PyMOL에서 열기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3000" b="1">
                <a:solidFill>
                  <a:srgbClr val="212121"/>
                </a:solidFill>
                <a:latin typeface="맑은 고딕"/>
              </a:defRPr>
            </a:pPr>
            <a:r>
              <a:t>03. SAR Matrix 결과 — R1×R2 도킹 매트릭스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00897B"/>
                </a:solidFill>
                <a:latin typeface="맑은 고딕"/>
              </a:defRPr>
            </a:pPr>
            <a:r>
              <a:t>6nzp_sar_matrix/ | 7 R1 × 5 R2 = 35 조합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11064240" cy="1097280"/>
          </a:xfrm>
          <a:prstGeom prst="roundRect">
            <a:avLst/>
          </a:prstGeom>
          <a:solidFill>
            <a:srgbClr val="E0F2F1"/>
          </a:solidFill>
          <a:ln w="12700"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17320"/>
            <a:ext cx="13716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400" b="1">
                <a:solidFill>
                  <a:srgbClr val="00897B"/>
                </a:solidFill>
                <a:latin typeface="맑은 고딕"/>
              </a:defRPr>
            </a:pPr>
            <a:r>
              <a:t>결과 파일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91640"/>
            <a:ext cx="1051560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100" b="0">
                <a:solidFill>
                  <a:srgbClr val="212121"/>
                </a:solidFill>
                <a:latin typeface="맑은 고딕"/>
              </a:defRPr>
            </a:pPr>
            <a:r>
              <a:t>sar_matrix.csv (R1×R2 스코어 매트릭스)  |  sar_table.csv (전체 테이블)  |  sar_matrix.sdf (구조+스코어)  |  *_docked.sdf (조합별 포즈)  |  sar_matrix_heatmap.png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651760"/>
            <a:ext cx="5303520" cy="457200"/>
          </a:xfrm>
          <a:prstGeom prst="round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PyMOL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200400"/>
            <a:ext cx="5303520" cy="384048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101600" rIns="152400" bIns="101600">
            <a:normAutofit/>
          </a:bodyPr>
          <a:lstStyle/>
          <a:p>
            <a:pPr algn="ctr">
              <a:spcAft>
                <a:spcPts val="0"/>
              </a:spcAft>
              <a:defRPr sz="1000">
                <a:solidFill>
                  <a:srgbClr val="6A9955"/>
                </a:solidFill>
                <a:latin typeface="Consolas"/>
              </a:defRPr>
            </a:pPr>
            <a:r>
              <a:t># Best vs Worst 포즈 비교</a:t>
            </a:r>
          </a:p>
          <a:p>
            <a:pPr>
              <a:spcAft>
                <a:spcPts val="0"/>
              </a:spcAft>
              <a:defRPr sz="1000">
                <a:solidFill>
                  <a:srgbClr val="ABB2BF"/>
                </a:solidFill>
                <a:latin typeface="Consolas"/>
              </a:defRPr>
            </a:pPr>
            <a:r>
              <a:t>load 6nzp_clean_H.pdb, protein</a:t>
            </a:r>
          </a:p>
          <a:p>
            <a:pPr>
              <a:spcAft>
                <a:spcPts val="0"/>
              </a:spcAft>
              <a:defRPr sz="1000">
                <a:solidFill>
                  <a:srgbClr val="ABB2BF"/>
                </a:solidFill>
                <a:latin typeface="Consolas"/>
              </a:defRPr>
            </a:pPr>
            <a:r>
              <a:t>show cartoon, protein; color white, protein</a:t>
            </a:r>
          </a:p>
          <a:p>
            <a:pPr>
              <a:spcAft>
                <a:spcPts val="0"/>
              </a:spcAft>
              <a:defRPr sz="10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000">
                <a:solidFill>
                  <a:srgbClr val="6A9955"/>
                </a:solidFill>
                <a:latin typeface="Consolas"/>
              </a:defRPr>
            </a:pPr>
            <a:r>
              <a:t># Best: R1=F, R2=OH (가정)</a:t>
            </a:r>
          </a:p>
          <a:p>
            <a:pPr>
              <a:spcAft>
                <a:spcPts val="0"/>
              </a:spcAft>
              <a:defRPr sz="1000">
                <a:solidFill>
                  <a:srgbClr val="ABB2BF"/>
                </a:solidFill>
                <a:latin typeface="Consolas"/>
              </a:defRPr>
            </a:pPr>
            <a:r>
              <a:t>load R1=F_R2=OH_docked.sdf, best</a:t>
            </a:r>
          </a:p>
          <a:p>
            <a:pPr>
              <a:spcAft>
                <a:spcPts val="0"/>
              </a:spcAft>
              <a:defRPr sz="1000">
                <a:solidFill>
                  <a:srgbClr val="ABB2BF"/>
                </a:solidFill>
                <a:latin typeface="Consolas"/>
              </a:defRPr>
            </a:pPr>
            <a:r>
              <a:t>color green, best; show sticks, best</a:t>
            </a:r>
          </a:p>
          <a:p>
            <a:pPr>
              <a:spcAft>
                <a:spcPts val="0"/>
              </a:spcAft>
              <a:defRPr sz="10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000">
                <a:solidFill>
                  <a:srgbClr val="6A9955"/>
                </a:solidFill>
                <a:latin typeface="Consolas"/>
              </a:defRPr>
            </a:pPr>
            <a:r>
              <a:t># Worst: R1=OCH3, R2=H (가정)</a:t>
            </a:r>
          </a:p>
          <a:p>
            <a:pPr>
              <a:spcAft>
                <a:spcPts val="0"/>
              </a:spcAft>
              <a:defRPr sz="1000">
                <a:solidFill>
                  <a:srgbClr val="ABB2BF"/>
                </a:solidFill>
                <a:latin typeface="Consolas"/>
              </a:defRPr>
            </a:pPr>
            <a:r>
              <a:t>load R1=OCH3_R2=H_docked.sdf, worst</a:t>
            </a:r>
          </a:p>
          <a:p>
            <a:pPr>
              <a:spcAft>
                <a:spcPts val="0"/>
              </a:spcAft>
              <a:defRPr sz="1000">
                <a:solidFill>
                  <a:srgbClr val="ABB2BF"/>
                </a:solidFill>
                <a:latin typeface="Consolas"/>
              </a:defRPr>
            </a:pPr>
            <a:r>
              <a:t>color red, worst; show sticks, worst</a:t>
            </a:r>
          </a:p>
          <a:p>
            <a:pPr>
              <a:spcAft>
                <a:spcPts val="0"/>
              </a:spcAft>
              <a:defRPr sz="10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000">
                <a:solidFill>
                  <a:srgbClr val="6A9955"/>
                </a:solidFill>
                <a:latin typeface="Consolas"/>
              </a:defRPr>
            </a:pPr>
            <a:r>
              <a:t># 결합 부위 비교</a:t>
            </a:r>
          </a:p>
          <a:p>
            <a:pPr>
              <a:spcAft>
                <a:spcPts val="0"/>
              </a:spcAft>
              <a:defRPr sz="1000">
                <a:solidFill>
                  <a:srgbClr val="ABB2BF"/>
                </a:solidFill>
                <a:latin typeface="Consolas"/>
              </a:defRPr>
            </a:pPr>
            <a:r>
              <a:t>select pocket, protein within 5 of best</a:t>
            </a:r>
          </a:p>
          <a:p>
            <a:pPr>
              <a:spcAft>
                <a:spcPts val="0"/>
              </a:spcAft>
              <a:defRPr sz="1000">
                <a:solidFill>
                  <a:srgbClr val="ABB2BF"/>
                </a:solidFill>
                <a:latin typeface="Consolas"/>
              </a:defRPr>
            </a:pPr>
            <a:r>
              <a:t>show sticks, pocket</a:t>
            </a:r>
          </a:p>
          <a:p>
            <a:pPr>
              <a:spcAft>
                <a:spcPts val="0"/>
              </a:spcAft>
              <a:defRPr sz="1000">
                <a:solidFill>
                  <a:srgbClr val="ABB2BF"/>
                </a:solidFill>
                <a:latin typeface="Consolas"/>
              </a:defRPr>
            </a:pPr>
            <a:r>
              <a:t>distance hb_best, best, pocket, mode=2</a:t>
            </a:r>
          </a:p>
          <a:p>
            <a:pPr>
              <a:spcAft>
                <a:spcPts val="0"/>
              </a:spcAft>
              <a:defRPr sz="1000">
                <a:solidFill>
                  <a:srgbClr val="ABB2BF"/>
                </a:solidFill>
                <a:latin typeface="Consolas"/>
              </a:defRPr>
            </a:pPr>
            <a:r>
              <a:t>distance hb_worst, worst, pocket, mode=2</a:t>
            </a:r>
          </a:p>
          <a:p>
            <a:pPr>
              <a:spcAft>
                <a:spcPts val="0"/>
              </a:spcAft>
              <a:defRPr sz="10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000">
                <a:solidFill>
                  <a:srgbClr val="6A9955"/>
                </a:solidFill>
                <a:latin typeface="Consolas"/>
              </a:defRPr>
            </a:pPr>
            <a:r>
              <a:t># → Best에만 있는 수소결합 = SAR 핵심</a:t>
            </a:r>
          </a:p>
          <a:p>
            <a:pPr>
              <a:spcAft>
                <a:spcPts val="0"/>
              </a:spcAft>
              <a:defRPr sz="1000">
                <a:solidFill>
                  <a:srgbClr val="6A9955"/>
                </a:solidFill>
                <a:latin typeface="Consolas"/>
              </a:defRPr>
            </a:pPr>
            <a:r>
              <a:t># → Worst의 입체 충돌 확인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651760"/>
            <a:ext cx="5303520" cy="457200"/>
          </a:xfrm>
          <a:prstGeom prst="round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DataWarrior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3200400"/>
            <a:ext cx="5303520" cy="3840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1. sar_matrix.csv 열기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   → R1(행) × R2(열) 히트맵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   → Excel에서 조건부 서식 적용 가능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2. sar_table.csv 열기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   → 전체 조합의 Score, LE, MW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   → Score 정렬 → best 조합 확인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3. sar_matrix.sdf 열기 (구조 포함)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   → R-Group Decomposition: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     Chemistry → R-Group Decomposition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     Core 자동 감지 → R1, R2 분리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4. Activity Cliff: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   Chemistry → Similarity Analysis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   → 구조 비슷 + Score 다른 쌍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   = SAR 핵심 발견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5. R-group별 효과: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   Scatter Plot: R1 vs Score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   → 어떤 R1이 스코어를 높이는가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3000" b="1">
                <a:solidFill>
                  <a:srgbClr val="212121"/>
                </a:solidFill>
                <a:latin typeface="맑은 고딕"/>
              </a:defRPr>
            </a:pPr>
            <a:r>
              <a:t>04. Kinase Panel 결과 — 5종 키나아제 선택성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00897B"/>
                </a:solidFill>
                <a:latin typeface="맑은 고딕"/>
              </a:defRPr>
            </a:pPr>
            <a:r>
              <a:t>kinase_panel_results/ | EGFR, ABL1, JAK2, CDK2, BRAF × Erlotinib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11064240" cy="1097280"/>
          </a:xfrm>
          <a:prstGeom prst="roundRect">
            <a:avLst/>
          </a:prstGeom>
          <a:solidFill>
            <a:srgbClr val="E0F2F1"/>
          </a:solidFill>
          <a:ln w="12700"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17320"/>
            <a:ext cx="13716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400" b="1">
                <a:solidFill>
                  <a:srgbClr val="00897B"/>
                </a:solidFill>
                <a:latin typeface="맑은 고딕"/>
              </a:defRPr>
            </a:pPr>
            <a:r>
              <a:t>결과 파일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91640"/>
            <a:ext cx="1051560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100" b="0">
                <a:solidFill>
                  <a:srgbClr val="212121"/>
                </a:solidFill>
                <a:latin typeface="맑은 고딕"/>
              </a:defRPr>
            </a:pPr>
            <a:r>
              <a:t>kinase_panel_results.csv  |  */Erlotinib_docked.sdf (키나아제별 포즈)  |  *_clean_H_aligned.pdb (정렬된 구조)  |  *_crystal.sdf  |  kinase_panel_pymol.pml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651760"/>
            <a:ext cx="5303520" cy="457200"/>
          </a:xfrm>
          <a:prstGeom prst="round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PyMOL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200400"/>
            <a:ext cx="5303520" cy="384048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101600" rIns="152400" bIns="101600">
            <a:normAutofit/>
          </a:bodyPr>
          <a:lstStyle/>
          <a:p>
            <a:pPr algn="ctr">
              <a:spcAft>
                <a:spcPts val="0"/>
              </a:spcAft>
              <a:defRPr sz="1000">
                <a:solidFill>
                  <a:srgbClr val="6A9955"/>
                </a:solidFill>
                <a:latin typeface="Consolas"/>
              </a:defRPr>
            </a:pPr>
            <a:r>
              <a:t># PML 스크립트 또는 수동:</a:t>
            </a:r>
          </a:p>
          <a:p>
            <a:pPr>
              <a:spcAft>
                <a:spcPts val="0"/>
              </a:spcAft>
              <a:defRPr sz="1000">
                <a:solidFill>
                  <a:srgbClr val="6A9955"/>
                </a:solidFill>
                <a:latin typeface="Consolas"/>
              </a:defRPr>
            </a:pPr>
            <a:r>
              <a:t># 정렬된 키나아제 구조 로드</a:t>
            </a:r>
          </a:p>
          <a:p>
            <a:pPr>
              <a:spcAft>
                <a:spcPts val="0"/>
              </a:spcAft>
              <a:defRPr sz="1000">
                <a:solidFill>
                  <a:srgbClr val="ABB2BF"/>
                </a:solidFill>
                <a:latin typeface="Consolas"/>
              </a:defRPr>
            </a:pPr>
            <a:r>
              <a:t>load EGFR/1m17_clean_H.pdb, EGFR</a:t>
            </a:r>
          </a:p>
          <a:p>
            <a:pPr>
              <a:spcAft>
                <a:spcPts val="0"/>
              </a:spcAft>
              <a:defRPr sz="1000">
                <a:solidFill>
                  <a:srgbClr val="ABB2BF"/>
                </a:solidFill>
                <a:latin typeface="Consolas"/>
              </a:defRPr>
            </a:pPr>
            <a:r>
              <a:t>load ABL1/1iep_clean_H_aligned.pdb, ABL1</a:t>
            </a:r>
          </a:p>
          <a:p>
            <a:pPr>
              <a:spcAft>
                <a:spcPts val="0"/>
              </a:spcAft>
              <a:defRPr sz="1000">
                <a:solidFill>
                  <a:srgbClr val="ABB2BF"/>
                </a:solidFill>
                <a:latin typeface="Consolas"/>
              </a:defRPr>
            </a:pPr>
            <a:r>
              <a:t>load BRAF/3og7_clean_H_aligned.pdb, BRAF</a:t>
            </a:r>
          </a:p>
          <a:p>
            <a:pPr>
              <a:spcAft>
                <a:spcPts val="0"/>
              </a:spcAft>
              <a:defRPr sz="1000">
                <a:solidFill>
                  <a:srgbClr val="ABB2BF"/>
                </a:solidFill>
                <a:latin typeface="Consolas"/>
              </a:defRPr>
            </a:pPr>
            <a:r>
              <a:t>color palegreen, EGFR</a:t>
            </a:r>
          </a:p>
          <a:p>
            <a:pPr>
              <a:spcAft>
                <a:spcPts val="0"/>
              </a:spcAft>
              <a:defRPr sz="1000">
                <a:solidFill>
                  <a:srgbClr val="ABB2BF"/>
                </a:solidFill>
                <a:latin typeface="Consolas"/>
              </a:defRPr>
            </a:pPr>
            <a:r>
              <a:t>color lightblue, ABL1</a:t>
            </a:r>
          </a:p>
          <a:p>
            <a:pPr>
              <a:spcAft>
                <a:spcPts val="0"/>
              </a:spcAft>
              <a:defRPr sz="1000">
                <a:solidFill>
                  <a:srgbClr val="ABB2BF"/>
                </a:solidFill>
                <a:latin typeface="Consolas"/>
              </a:defRPr>
            </a:pPr>
            <a:r>
              <a:t>color lightorange, BRAF</a:t>
            </a:r>
          </a:p>
          <a:p>
            <a:pPr>
              <a:spcAft>
                <a:spcPts val="0"/>
              </a:spcAft>
              <a:defRPr sz="1000">
                <a:solidFill>
                  <a:srgbClr val="ABB2BF"/>
                </a:solidFill>
                <a:latin typeface="Consolas"/>
              </a:defRPr>
            </a:pPr>
            <a:r>
              <a:t>show cartoon, all</a:t>
            </a:r>
          </a:p>
          <a:p>
            <a:pPr>
              <a:spcAft>
                <a:spcPts val="0"/>
              </a:spcAft>
              <a:defRPr sz="10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000">
                <a:solidFill>
                  <a:srgbClr val="6A9955"/>
                </a:solidFill>
                <a:latin typeface="Consolas"/>
              </a:defRPr>
            </a:pPr>
            <a:r>
              <a:t># Erlotinib 포즈 비교</a:t>
            </a:r>
          </a:p>
          <a:p>
            <a:pPr>
              <a:spcAft>
                <a:spcPts val="0"/>
              </a:spcAft>
              <a:defRPr sz="1000">
                <a:solidFill>
                  <a:srgbClr val="ABB2BF"/>
                </a:solidFill>
                <a:latin typeface="Consolas"/>
              </a:defRPr>
            </a:pPr>
            <a:r>
              <a:t>load EGFR/Erlotinib_docked.sdf, Erl_EGFR</a:t>
            </a:r>
          </a:p>
          <a:p>
            <a:pPr>
              <a:spcAft>
                <a:spcPts val="0"/>
              </a:spcAft>
              <a:defRPr sz="1000">
                <a:solidFill>
                  <a:srgbClr val="ABB2BF"/>
                </a:solidFill>
                <a:latin typeface="Consolas"/>
              </a:defRPr>
            </a:pPr>
            <a:r>
              <a:t>load ABL1/Erlotinib_docked.sdf, Erl_ABL1</a:t>
            </a:r>
          </a:p>
          <a:p>
            <a:pPr>
              <a:spcAft>
                <a:spcPts val="0"/>
              </a:spcAft>
              <a:defRPr sz="1000">
                <a:solidFill>
                  <a:srgbClr val="ABB2BF"/>
                </a:solidFill>
                <a:latin typeface="Consolas"/>
              </a:defRPr>
            </a:pPr>
            <a:r>
              <a:t>load BRAF/Erlotinib_docked.sdf, Erl_BRAF</a:t>
            </a:r>
          </a:p>
          <a:p>
            <a:pPr>
              <a:spcAft>
                <a:spcPts val="0"/>
              </a:spcAft>
              <a:defRPr sz="1000">
                <a:solidFill>
                  <a:srgbClr val="ABB2BF"/>
                </a:solidFill>
                <a:latin typeface="Consolas"/>
              </a:defRPr>
            </a:pPr>
            <a:r>
              <a:t>color green, Erl_EGFR</a:t>
            </a:r>
          </a:p>
          <a:p>
            <a:pPr>
              <a:spcAft>
                <a:spcPts val="0"/>
              </a:spcAft>
              <a:defRPr sz="1000">
                <a:solidFill>
                  <a:srgbClr val="ABB2BF"/>
                </a:solidFill>
                <a:latin typeface="Consolas"/>
              </a:defRPr>
            </a:pPr>
            <a:r>
              <a:t>color blue, Erl_ABL1</a:t>
            </a:r>
          </a:p>
          <a:p>
            <a:pPr>
              <a:spcAft>
                <a:spcPts val="0"/>
              </a:spcAft>
              <a:defRPr sz="1000">
                <a:solidFill>
                  <a:srgbClr val="ABB2BF"/>
                </a:solidFill>
                <a:latin typeface="Consolas"/>
              </a:defRPr>
            </a:pPr>
            <a:r>
              <a:t>color orange, Erl_BRAF</a:t>
            </a:r>
          </a:p>
          <a:p>
            <a:pPr>
              <a:spcAft>
                <a:spcPts val="0"/>
              </a:spcAft>
              <a:defRPr sz="1000">
                <a:solidFill>
                  <a:srgbClr val="ABB2BF"/>
                </a:solidFill>
                <a:latin typeface="Consolas"/>
              </a:defRPr>
            </a:pPr>
            <a:r>
              <a:t>show sticks, Erl_*</a:t>
            </a:r>
          </a:p>
          <a:p>
            <a:pPr>
              <a:spcAft>
                <a:spcPts val="0"/>
              </a:spcAft>
              <a:defRPr sz="10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000">
                <a:solidFill>
                  <a:srgbClr val="6A9955"/>
                </a:solidFill>
                <a:latin typeface="Consolas"/>
              </a:defRPr>
            </a:pPr>
            <a:r>
              <a:t># 포켓 표면 비교</a:t>
            </a:r>
          </a:p>
          <a:p>
            <a:pPr>
              <a:spcAft>
                <a:spcPts val="0"/>
              </a:spcAft>
              <a:defRPr sz="1000">
                <a:solidFill>
                  <a:srgbClr val="ABB2BF"/>
                </a:solidFill>
                <a:latin typeface="Consolas"/>
              </a:defRPr>
            </a:pPr>
            <a:r>
              <a:t>show surface, EGFR within 5 of Erl_EGFR</a:t>
            </a:r>
          </a:p>
          <a:p>
            <a:pPr>
              <a:spcAft>
                <a:spcPts val="0"/>
              </a:spcAft>
              <a:defRPr sz="1000">
                <a:solidFill>
                  <a:srgbClr val="ABB2BF"/>
                </a:solidFill>
                <a:latin typeface="Consolas"/>
              </a:defRPr>
            </a:pPr>
            <a:r>
              <a:t>set transparency, 0.7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651760"/>
            <a:ext cx="5303520" cy="457200"/>
          </a:xfrm>
          <a:prstGeom prst="round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DataWarrior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3200400"/>
            <a:ext cx="5303520" cy="3840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1. kinase_panel_results.csv 열기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   → Kinase, Group, Score 비교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2. 선택성 바 차트: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   우클릭 → Bar Chart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   Category: Kinase, Value: Score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   → EGFR에만 강하면 선택적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3. 선택성 지수: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   Best score와의 차이 계산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   차이 클수록 선택적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4. Crystal Score 비교: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   Crystal vs Docked 스코어 차이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   → Scoring 신뢰도 확인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5. 그룹별 비교: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   TK vs CMGC vs TKL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   같은 그룹 내 선택성이 더 중요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3000" b="1">
                <a:solidFill>
                  <a:srgbClr val="212121"/>
                </a:solidFill>
                <a:latin typeface="맑은 고딕"/>
              </a:defRPr>
            </a:pPr>
            <a:r>
              <a:t>05. EGFR Mutants 결과 — 변이체별 약물 내성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00897B"/>
                </a:solidFill>
                <a:latin typeface="맑은 고딕"/>
              </a:defRPr>
            </a:pPr>
            <a:r>
              <a:t>egfr_mutants_results/ | WT/L858R/T790M/DM × 4약물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11064240" cy="1097280"/>
          </a:xfrm>
          <a:prstGeom prst="roundRect">
            <a:avLst/>
          </a:prstGeom>
          <a:solidFill>
            <a:srgbClr val="E0F2F1"/>
          </a:solidFill>
          <a:ln w="12700"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17320"/>
            <a:ext cx="13716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400" b="1">
                <a:solidFill>
                  <a:srgbClr val="00897B"/>
                </a:solidFill>
                <a:latin typeface="맑은 고딕"/>
              </a:defRPr>
            </a:pPr>
            <a:r>
              <a:t>결과 파일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91640"/>
            <a:ext cx="1051560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100" b="0">
                <a:solidFill>
                  <a:srgbClr val="212121"/>
                </a:solidFill>
                <a:latin typeface="맑은 고딕"/>
              </a:defRPr>
            </a:pPr>
            <a:r>
              <a:t>egfr_crossdock.csv (전체 결과)  |  egfr_matrix.csv (히트맵용)  |  */Erlotinib_docked.sdf  |  */Osimertinib_docked.sdf  |  egfr_pymol.pml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651760"/>
            <a:ext cx="5303520" cy="457200"/>
          </a:xfrm>
          <a:prstGeom prst="round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PyMOL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200400"/>
            <a:ext cx="5303520" cy="384048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101600" rIns="152400" bIns="101600">
            <a:normAutofit/>
          </a:bodyPr>
          <a:lstStyle/>
          <a:p>
            <a:pPr algn="ctr">
              <a:spcAft>
                <a:spcPts val="0"/>
              </a:spcAft>
              <a:defRPr sz="1000">
                <a:solidFill>
                  <a:srgbClr val="6A9955"/>
                </a:solidFill>
                <a:latin typeface="Consolas"/>
              </a:defRPr>
            </a:pPr>
            <a:r>
              <a:t># WT vs T790M 비교</a:t>
            </a:r>
          </a:p>
          <a:p>
            <a:pPr>
              <a:spcAft>
                <a:spcPts val="0"/>
              </a:spcAft>
              <a:defRPr sz="1000">
                <a:solidFill>
                  <a:srgbClr val="ABB2BF"/>
                </a:solidFill>
                <a:latin typeface="Consolas"/>
              </a:defRPr>
            </a:pPr>
            <a:r>
              <a:t>load WT_Erlotinib/1m17_clean_H.pdb, WT</a:t>
            </a:r>
          </a:p>
          <a:p>
            <a:pPr>
              <a:spcAft>
                <a:spcPts val="0"/>
              </a:spcAft>
              <a:defRPr sz="1000">
                <a:solidFill>
                  <a:srgbClr val="ABB2BF"/>
                </a:solidFill>
                <a:latin typeface="Consolas"/>
              </a:defRPr>
            </a:pPr>
            <a:r>
              <a:t>load T790M_Neratinib/2jit_clean_H_aligned.pdb, T790M</a:t>
            </a:r>
          </a:p>
          <a:p>
            <a:pPr>
              <a:spcAft>
                <a:spcPts val="0"/>
              </a:spcAft>
              <a:defRPr sz="1000">
                <a:solidFill>
                  <a:srgbClr val="ABB2BF"/>
                </a:solidFill>
                <a:latin typeface="Consolas"/>
              </a:defRPr>
            </a:pPr>
            <a:r>
              <a:t>color palegreen, WT</a:t>
            </a:r>
          </a:p>
          <a:p>
            <a:pPr>
              <a:spcAft>
                <a:spcPts val="0"/>
              </a:spcAft>
              <a:defRPr sz="1000">
                <a:solidFill>
                  <a:srgbClr val="ABB2BF"/>
                </a:solidFill>
                <a:latin typeface="Consolas"/>
              </a:defRPr>
            </a:pPr>
            <a:r>
              <a:t>color salmon, T790M</a:t>
            </a:r>
          </a:p>
          <a:p>
            <a:pPr>
              <a:spcAft>
                <a:spcPts val="0"/>
              </a:spcAft>
              <a:defRPr sz="10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000">
                <a:solidFill>
                  <a:srgbClr val="6A9955"/>
                </a:solidFill>
                <a:latin typeface="Consolas"/>
              </a:defRPr>
            </a:pPr>
            <a:r>
              <a:t># Gatekeeper 변이 잔기</a:t>
            </a:r>
          </a:p>
          <a:p>
            <a:pPr>
              <a:spcAft>
                <a:spcPts val="0"/>
              </a:spcAft>
              <a:defRPr sz="1000">
                <a:solidFill>
                  <a:srgbClr val="ABB2BF"/>
                </a:solidFill>
                <a:latin typeface="Consolas"/>
              </a:defRPr>
            </a:pPr>
            <a:r>
              <a:t>select gate, T790M and resi 790</a:t>
            </a:r>
          </a:p>
          <a:p>
            <a:pPr>
              <a:spcAft>
                <a:spcPts val="0"/>
              </a:spcAft>
              <a:defRPr sz="1000">
                <a:solidFill>
                  <a:srgbClr val="ABB2BF"/>
                </a:solidFill>
                <a:latin typeface="Consolas"/>
              </a:defRPr>
            </a:pPr>
            <a:r>
              <a:t>show spheres, gate; color red, gate</a:t>
            </a:r>
          </a:p>
          <a:p>
            <a:pPr>
              <a:spcAft>
                <a:spcPts val="0"/>
              </a:spcAft>
              <a:defRPr sz="1000">
                <a:solidFill>
                  <a:srgbClr val="ABB2BF"/>
                </a:solidFill>
                <a:latin typeface="Consolas"/>
              </a:defRPr>
            </a:pPr>
            <a:r>
              <a:t>label gate and name CA, "T790M"</a:t>
            </a:r>
          </a:p>
          <a:p>
            <a:pPr>
              <a:spcAft>
                <a:spcPts val="0"/>
              </a:spcAft>
              <a:defRPr sz="10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000">
                <a:solidFill>
                  <a:srgbClr val="6A9955"/>
                </a:solidFill>
                <a:latin typeface="Consolas"/>
              </a:defRPr>
            </a:pPr>
            <a:r>
              <a:t># 1세대 vs 3세대 약물</a:t>
            </a:r>
          </a:p>
          <a:p>
            <a:pPr>
              <a:spcAft>
                <a:spcPts val="0"/>
              </a:spcAft>
              <a:defRPr sz="1000">
                <a:solidFill>
                  <a:srgbClr val="ABB2BF"/>
                </a:solidFill>
                <a:latin typeface="Consolas"/>
              </a:defRPr>
            </a:pPr>
            <a:r>
              <a:t>load WT_Erlotinib/Erlotinib_docked.sdf, Erl_WT</a:t>
            </a:r>
          </a:p>
          <a:p>
            <a:pPr>
              <a:spcAft>
                <a:spcPts val="0"/>
              </a:spcAft>
              <a:defRPr sz="1000">
                <a:solidFill>
                  <a:srgbClr val="ABB2BF"/>
                </a:solidFill>
                <a:latin typeface="Consolas"/>
              </a:defRPr>
            </a:pPr>
            <a:r>
              <a:t>load T790M_Neratinib/Erlotinib_docked.sdf, Erl_T790M</a:t>
            </a:r>
          </a:p>
          <a:p>
            <a:pPr>
              <a:spcAft>
                <a:spcPts val="0"/>
              </a:spcAft>
              <a:defRPr sz="1000">
                <a:solidFill>
                  <a:srgbClr val="ABB2BF"/>
                </a:solidFill>
                <a:latin typeface="Consolas"/>
              </a:defRPr>
            </a:pPr>
            <a:r>
              <a:t>load T790M_Neratinib/Osimertinib_docked.sdf, Osi_T790M</a:t>
            </a:r>
          </a:p>
          <a:p>
            <a:pPr>
              <a:spcAft>
                <a:spcPts val="0"/>
              </a:spcAft>
              <a:defRPr sz="1000">
                <a:solidFill>
                  <a:srgbClr val="ABB2BF"/>
                </a:solidFill>
                <a:latin typeface="Consolas"/>
              </a:defRPr>
            </a:pPr>
            <a:r>
              <a:t>color magenta, Erl_WT</a:t>
            </a:r>
          </a:p>
          <a:p>
            <a:pPr>
              <a:spcAft>
                <a:spcPts val="0"/>
              </a:spcAft>
              <a:defRPr sz="1000">
                <a:solidFill>
                  <a:srgbClr val="ABB2BF"/>
                </a:solidFill>
                <a:latin typeface="Consolas"/>
              </a:defRPr>
            </a:pPr>
            <a:r>
              <a:t>color red, Erl_T790M      # 1세대: 내성</a:t>
            </a:r>
          </a:p>
          <a:p>
            <a:pPr>
              <a:spcAft>
                <a:spcPts val="0"/>
              </a:spcAft>
              <a:defRPr sz="1000">
                <a:solidFill>
                  <a:srgbClr val="ABB2BF"/>
                </a:solidFill>
                <a:latin typeface="Consolas"/>
              </a:defRPr>
            </a:pPr>
            <a:r>
              <a:t>color cyan, Osi_T790M     # 3세대: 극복</a:t>
            </a:r>
          </a:p>
          <a:p>
            <a:pPr>
              <a:spcAft>
                <a:spcPts val="0"/>
              </a:spcAft>
              <a:defRPr sz="1000">
                <a:solidFill>
                  <a:srgbClr val="ABB2BF"/>
                </a:solidFill>
                <a:latin typeface="Consolas"/>
              </a:defRPr>
            </a:pPr>
            <a:r>
              <a:t>show sticks, Erl_* or Osi_*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651760"/>
            <a:ext cx="5303520" cy="457200"/>
          </a:xfrm>
          <a:prstGeom prst="round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DataWarrior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3200400"/>
            <a:ext cx="5303520" cy="3840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1. egfr_matrix.csv 열기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   → 행: 구조(WT/L858R/T790M/DM)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   → 열: 약물(Erl/Gef/Afa/Osi)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   → Excel 조건부 서식 또는 히트맵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2. egfr_crossdock.csv 열기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   → Drug, Structure, Mutation, Score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3. 내성 패턴 확인: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   1세대(Erl/Gef):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     WT 좋음 → T790M 나빠짐 = 내성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   3세대(Osi):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     T790M에서도 좋음 = 내성 극복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4. 변이별 스코어 비교: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   Bar Chart: 약물별, Group by Mutation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5. Crystal Score: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   *_crystal_scored.sdf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   변이체별 crystal 스코어 비교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3000" b="1">
                <a:solidFill>
                  <a:srgbClr val="212121"/>
                </a:solidFill>
                <a:latin typeface="맑은 고딕"/>
              </a:defRPr>
            </a:pPr>
            <a:r>
              <a:t>06. Scoring Validation 결과 — IC50 vs 스코어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00897B"/>
                </a:solidFill>
                <a:latin typeface="맑은 고딕"/>
              </a:defRPr>
            </a:pPr>
            <a:r>
              <a:t>scoring_validation/ | 30 화합물 × 3 Scoring Functions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11064240" cy="1097280"/>
          </a:xfrm>
          <a:prstGeom prst="roundRect">
            <a:avLst/>
          </a:prstGeom>
          <a:solidFill>
            <a:srgbClr val="E0F2F1"/>
          </a:solidFill>
          <a:ln w="12700"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17320"/>
            <a:ext cx="13716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400" b="1">
                <a:solidFill>
                  <a:srgbClr val="00897B"/>
                </a:solidFill>
                <a:latin typeface="맑은 고딕"/>
              </a:defRPr>
            </a:pPr>
            <a:r>
              <a:t>결과 파일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91640"/>
            <a:ext cx="1051560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100" b="0">
                <a:solidFill>
                  <a:srgbClr val="212121"/>
                </a:solidFill>
                <a:latin typeface="맑은 고딕"/>
              </a:defRPr>
            </a:pPr>
            <a:r>
              <a:t>scoring_validation.csv (전체 스코어+pIC50)  |  model_comparison.csv (모델 비교)  |  *_vina_docked.sdf  |  *_vinardo_docked.sdf  |  *_ad4_scoring_docked.sdf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651760"/>
            <a:ext cx="5303520" cy="457200"/>
          </a:xfrm>
          <a:prstGeom prst="round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PyMOL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200400"/>
            <a:ext cx="5303520" cy="384048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101600" rIns="152400" bIns="101600">
            <a:normAutofit/>
          </a:bodyPr>
          <a:lstStyle/>
          <a:p>
            <a:pPr algn="ctr">
              <a:spcAft>
                <a:spcPts val="0"/>
              </a:spcAft>
              <a:defRPr sz="1000">
                <a:solidFill>
                  <a:srgbClr val="6A9955"/>
                </a:solidFill>
                <a:latin typeface="Consolas"/>
              </a:defRPr>
            </a:pPr>
            <a:r>
              <a:t># 30개 화합물의 도킹 포즈 보기</a:t>
            </a:r>
          </a:p>
          <a:p>
            <a:pPr>
              <a:spcAft>
                <a:spcPts val="0"/>
              </a:spcAft>
              <a:defRPr sz="1000">
                <a:solidFill>
                  <a:srgbClr val="ABB2BF"/>
                </a:solidFill>
                <a:latin typeface="Consolas"/>
              </a:defRPr>
            </a:pPr>
            <a:r>
              <a:t>load 1m17_clean_H.pdb, protein</a:t>
            </a:r>
          </a:p>
          <a:p>
            <a:pPr>
              <a:spcAft>
                <a:spcPts val="0"/>
              </a:spcAft>
              <a:defRPr sz="1000">
                <a:solidFill>
                  <a:srgbClr val="ABB2BF"/>
                </a:solidFill>
                <a:latin typeface="Consolas"/>
              </a:defRPr>
            </a:pPr>
            <a:r>
              <a:t>show cartoon, protein; color white, protein</a:t>
            </a:r>
          </a:p>
          <a:p>
            <a:pPr>
              <a:spcAft>
                <a:spcPts val="0"/>
              </a:spcAft>
              <a:defRPr sz="10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000">
                <a:solidFill>
                  <a:srgbClr val="6A9955"/>
                </a:solidFill>
                <a:latin typeface="Consolas"/>
              </a:defRPr>
            </a:pPr>
            <a:r>
              <a:t># 특정 화합물 포즈</a:t>
            </a:r>
          </a:p>
          <a:p>
            <a:pPr>
              <a:spcAft>
                <a:spcPts val="0"/>
              </a:spcAft>
              <a:defRPr sz="1000">
                <a:solidFill>
                  <a:srgbClr val="ABB2BF"/>
                </a:solidFill>
                <a:latin typeface="Consolas"/>
              </a:defRPr>
            </a:pPr>
            <a:r>
              <a:t>load CHEMBL111197_vina_docked.sdf, cpd1_vina</a:t>
            </a:r>
          </a:p>
          <a:p>
            <a:pPr>
              <a:spcAft>
                <a:spcPts val="0"/>
              </a:spcAft>
              <a:defRPr sz="1000">
                <a:solidFill>
                  <a:srgbClr val="ABB2BF"/>
                </a:solidFill>
                <a:latin typeface="Consolas"/>
              </a:defRPr>
            </a:pPr>
            <a:r>
              <a:t>load CHEMBL111197_vinardo_docked.sdf, cpd1_vinardo</a:t>
            </a:r>
          </a:p>
          <a:p>
            <a:pPr>
              <a:spcAft>
                <a:spcPts val="0"/>
              </a:spcAft>
              <a:defRPr sz="1000">
                <a:solidFill>
                  <a:srgbClr val="ABB2BF"/>
                </a:solidFill>
                <a:latin typeface="Consolas"/>
              </a:defRPr>
            </a:pPr>
            <a:r>
              <a:t>color green, cpd1_vina</a:t>
            </a:r>
          </a:p>
          <a:p>
            <a:pPr>
              <a:spcAft>
                <a:spcPts val="0"/>
              </a:spcAft>
              <a:defRPr sz="1000">
                <a:solidFill>
                  <a:srgbClr val="ABB2BF"/>
                </a:solidFill>
                <a:latin typeface="Consolas"/>
              </a:defRPr>
            </a:pPr>
            <a:r>
              <a:t>color orange, cpd1_vinardo</a:t>
            </a:r>
          </a:p>
          <a:p>
            <a:pPr>
              <a:spcAft>
                <a:spcPts val="0"/>
              </a:spcAft>
              <a:defRPr sz="1000">
                <a:solidFill>
                  <a:srgbClr val="ABB2BF"/>
                </a:solidFill>
                <a:latin typeface="Consolas"/>
              </a:defRPr>
            </a:pPr>
            <a:r>
              <a:t>show sticks, cpd1_*</a:t>
            </a:r>
          </a:p>
          <a:p>
            <a:pPr>
              <a:spcAft>
                <a:spcPts val="0"/>
              </a:spcAft>
              <a:defRPr sz="10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000">
                <a:solidFill>
                  <a:srgbClr val="6A9955"/>
                </a:solidFill>
                <a:latin typeface="Consolas"/>
              </a:defRPr>
            </a:pPr>
            <a:r>
              <a:t># SF별 포즈 차이 확인</a:t>
            </a:r>
          </a:p>
          <a:p>
            <a:pPr>
              <a:spcAft>
                <a:spcPts val="0"/>
              </a:spcAft>
              <a:defRPr sz="1000">
                <a:solidFill>
                  <a:srgbClr val="6A9955"/>
                </a:solidFill>
                <a:latin typeface="Consolas"/>
              </a:defRPr>
            </a:pPr>
            <a:r>
              <a:t># → 같은 화합물이 SF에 따라</a:t>
            </a:r>
          </a:p>
          <a:p>
            <a:pPr>
              <a:spcAft>
                <a:spcPts val="0"/>
              </a:spcAft>
              <a:defRPr sz="1000">
                <a:solidFill>
                  <a:srgbClr val="6A9955"/>
                </a:solidFill>
                <a:latin typeface="Consolas"/>
              </a:defRPr>
            </a:pPr>
            <a:r>
              <a:t>#    다른 포즈를 가질 수 있음</a:t>
            </a:r>
          </a:p>
          <a:p>
            <a:pPr>
              <a:spcAft>
                <a:spcPts val="0"/>
              </a:spcAft>
              <a:defRPr sz="1000">
                <a:solidFill>
                  <a:srgbClr val="6A9955"/>
                </a:solidFill>
                <a:latin typeface="Consolas"/>
              </a:defRPr>
            </a:pPr>
            <a:r>
              <a:t># → 결합 부위 + 수소결합 비교</a:t>
            </a:r>
          </a:p>
          <a:p>
            <a:pPr>
              <a:spcAft>
                <a:spcPts val="0"/>
              </a:spcAft>
              <a:defRPr sz="10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000">
                <a:solidFill>
                  <a:srgbClr val="ABB2BF"/>
                </a:solidFill>
                <a:latin typeface="Consolas"/>
              </a:defRPr>
            </a:pPr>
            <a:r>
              <a:t>select pocket, protein within 5 of cpd1_vina</a:t>
            </a:r>
          </a:p>
          <a:p>
            <a:pPr>
              <a:spcAft>
                <a:spcPts val="0"/>
              </a:spcAft>
              <a:defRPr sz="1000">
                <a:solidFill>
                  <a:srgbClr val="ABB2BF"/>
                </a:solidFill>
                <a:latin typeface="Consolas"/>
              </a:defRPr>
            </a:pPr>
            <a:r>
              <a:t>show sticks, pocket</a:t>
            </a:r>
          </a:p>
          <a:p>
            <a:pPr>
              <a:spcAft>
                <a:spcPts val="0"/>
              </a:spcAft>
              <a:defRPr sz="1000">
                <a:solidFill>
                  <a:srgbClr val="ABB2BF"/>
                </a:solidFill>
                <a:latin typeface="Consolas"/>
              </a:defRPr>
            </a:pPr>
            <a:r>
              <a:t>distance hb, cpd1_vina, pocket, mode=2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651760"/>
            <a:ext cx="5303520" cy="457200"/>
          </a:xfrm>
          <a:prstGeom prst="round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DataWarrior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3200400"/>
            <a:ext cx="5303520" cy="3840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1. scoring_validation.csv 열기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   → pIC50, vina_best, vinardo_best,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     ad4_scoring_best 컬럼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2. Score vs pIC50 산점도: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   우클릭 → 2D Scatter Plot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   X: vina_best, Y: pIC50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   → 음의 상관관계가 보이면 유효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3. SF 비교: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   3개 SF의 R² 비교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   → model_comparison.csv 참조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4. Consensus Scoring: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   3 SF 평균 vs pIC50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   → 단일 SF보다 나은지 확인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5. 이상치 확인: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   Score 좋은데 IC50 나쁜 화합물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   → PyMOL에서 포즈 확인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   → 잘못된 포즈? Scoring 한계?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9144000" cy="548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결과 분석 워크플로우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2560320" cy="2011680"/>
          </a:xfrm>
          <a:prstGeom prst="roundRect">
            <a:avLst/>
          </a:prstGeom>
          <a:solidFill>
            <a:srgbClr val="2A2A3E"/>
          </a:solidFill>
          <a:ln w="12700"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280160"/>
            <a:ext cx="2560320" cy="548640"/>
          </a:xfrm>
          <a:prstGeom prst="round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Colab/Docker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2011680" cy="914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400" b="0">
                <a:solidFill>
                  <a:srgbClr val="BBBBBB"/>
                </a:solidFill>
                <a:latin typeface="맑은 고딕"/>
              </a:defRPr>
            </a:pPr>
            <a:r>
              <a:t>노트북 실행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BBBBBB"/>
                </a:solidFill>
                <a:latin typeface="맑은 고딕"/>
              </a:defRPr>
            </a:pPr>
            <a:r>
              <a:t>ZIP 다운로드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1828800"/>
            <a:ext cx="45720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spcAft>
                <a:spcPts val="200"/>
              </a:spcAft>
              <a:defRPr sz="2400" b="1">
                <a:solidFill>
                  <a:srgbClr val="1E88E5"/>
                </a:solidFill>
                <a:latin typeface="맑은 고딕"/>
              </a:defRPr>
            </a:pPr>
            <a: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1280160"/>
            <a:ext cx="2560320" cy="2011680"/>
          </a:xfrm>
          <a:prstGeom prst="roundRect">
            <a:avLst/>
          </a:prstGeom>
          <a:solidFill>
            <a:srgbClr val="2A2A3E"/>
          </a:solidFill>
          <a:ln w="12700">
            <a:solidFill>
              <a:srgbClr val="43A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383280" y="1280160"/>
            <a:ext cx="2560320" cy="548640"/>
          </a:xfrm>
          <a:prstGeom prst="roundRect">
            <a:avLst/>
          </a:prstGeom>
          <a:solidFill>
            <a:srgbClr val="43A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ZIP 압축 풀기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2011680"/>
            <a:ext cx="2011680" cy="914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400" b="0">
                <a:solidFill>
                  <a:srgbClr val="BBBBBB"/>
                </a:solidFill>
                <a:latin typeface="맑은 고딕"/>
              </a:defRPr>
            </a:pPr>
            <a:r>
              <a:t>results_for_viewer/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BBBBBB"/>
                </a:solidFill>
                <a:latin typeface="맑은 고딕"/>
              </a:defRPr>
            </a:pPr>
            <a:r>
              <a:t>CSV, SDF, PDB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1828800"/>
            <a:ext cx="45720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spcAft>
                <a:spcPts val="200"/>
              </a:spcAft>
              <a:defRPr sz="2400" b="1">
                <a:solidFill>
                  <a:srgbClr val="43A047"/>
                </a:solidFill>
                <a:latin typeface="맑은 고딕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280160"/>
            <a:ext cx="2560320" cy="2011680"/>
          </a:xfrm>
          <a:prstGeom prst="roundRect">
            <a:avLst/>
          </a:prstGeom>
          <a:solidFill>
            <a:srgbClr val="2A2A3E"/>
          </a:solidFill>
          <a:ln w="12700"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09360" y="1280160"/>
            <a:ext cx="2560320" cy="548640"/>
          </a:xfrm>
          <a:prstGeom prst="round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PyMOL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011680"/>
            <a:ext cx="2011680" cy="914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400" b="0">
                <a:solidFill>
                  <a:srgbClr val="BBBBBB"/>
                </a:solidFill>
                <a:latin typeface="맑은 고딕"/>
              </a:defRPr>
            </a:pPr>
            <a:r>
              <a:t>구조 시각화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BBBBBB"/>
                </a:solidFill>
                <a:latin typeface="맑은 고딕"/>
              </a:defRPr>
            </a:pPr>
            <a:r>
              <a:t>포즈 비교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BBBBBB"/>
                </a:solidFill>
                <a:latin typeface="맑은 고딕"/>
              </a:defRPr>
            </a:pPr>
            <a:r>
              <a:t>수소결합 확인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1828800"/>
            <a:ext cx="45720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spcAft>
                <a:spcPts val="200"/>
              </a:spcAft>
              <a:defRPr sz="2400" b="1">
                <a:solidFill>
                  <a:srgbClr val="00897B"/>
                </a:solidFill>
                <a:latin typeface="맑은 고딕"/>
              </a:defRPr>
            </a:pPr>
            <a: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235440" y="1280160"/>
            <a:ext cx="2560320" cy="2011680"/>
          </a:xfrm>
          <a:prstGeom prst="roundRect">
            <a:avLst/>
          </a:prstGeom>
          <a:solidFill>
            <a:srgbClr val="2A2A3E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235440" y="1280160"/>
            <a:ext cx="2560320" cy="548640"/>
          </a:xfrm>
          <a:prstGeom prst="round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DataWarrior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09760" y="2011680"/>
            <a:ext cx="2011680" cy="914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400" b="0">
                <a:solidFill>
                  <a:srgbClr val="BBBBBB"/>
                </a:solidFill>
                <a:latin typeface="맑은 고딕"/>
              </a:defRPr>
            </a:pPr>
            <a:r>
              <a:t>스코어 분석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BBBBBB"/>
                </a:solidFill>
                <a:latin typeface="맑은 고딕"/>
              </a:defRPr>
            </a:pPr>
            <a:r>
              <a:t>SAR/클러스터링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BBBBBB"/>
                </a:solidFill>
                <a:latin typeface="맑은 고딕"/>
              </a:defRPr>
            </a:pPr>
            <a:r>
              <a:t>화합물 선별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3840480"/>
            <a:ext cx="10058400" cy="228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600" b="0">
                <a:solidFill>
                  <a:srgbClr val="AAAAAA"/>
                </a:solidFill>
                <a:latin typeface="맑은 고딕"/>
              </a:defRPr>
            </a:pPr>
            <a:r>
              <a:t>핵심</a:t>
            </a:r>
          </a:p>
          <a:p>
            <a:pPr algn="l">
              <a:spcAft>
                <a:spcPts val="200"/>
              </a:spcAft>
              <a:defRPr sz="1600" b="0">
                <a:solidFill>
                  <a:srgbClr val="AAAAAA"/>
                </a:solidFill>
                <a:latin typeface="맑은 고딕"/>
              </a:defRPr>
            </a:pPr>
          </a:p>
          <a:p>
            <a:pPr algn="l">
              <a:spcAft>
                <a:spcPts val="200"/>
              </a:spcAft>
              <a:defRPr sz="1600" b="0">
                <a:solidFill>
                  <a:srgbClr val="AAAAAA"/>
                </a:solidFill>
                <a:latin typeface="맑은 고딕"/>
              </a:defRPr>
            </a:pPr>
            <a:r>
              <a:t>• PDB 파일 → PyMOL: File → Open → 단백질 구조</a:t>
            </a:r>
          </a:p>
          <a:p>
            <a:pPr algn="l">
              <a:spcAft>
                <a:spcPts val="200"/>
              </a:spcAft>
              <a:defRPr sz="1600" b="0">
                <a:solidFill>
                  <a:srgbClr val="AAAAAA"/>
                </a:solidFill>
                <a:latin typeface="맑은 고딕"/>
              </a:defRPr>
            </a:pPr>
            <a:r>
              <a:t>• SDF 파일 → PyMOL: File → Open → 도킹 포즈 (겹쳐서 보기)</a:t>
            </a:r>
          </a:p>
          <a:p>
            <a:pPr algn="l">
              <a:spcAft>
                <a:spcPts val="200"/>
              </a:spcAft>
              <a:defRPr sz="1600" b="0">
                <a:solidFill>
                  <a:srgbClr val="AAAAAA"/>
                </a:solidFill>
                <a:latin typeface="맑은 고딕"/>
              </a:defRPr>
            </a:pPr>
            <a:r>
              <a:t>• CSV 파일 → DataWarrior: File → Open → 스코어 테이블</a:t>
            </a:r>
          </a:p>
          <a:p>
            <a:pPr algn="l">
              <a:spcAft>
                <a:spcPts val="200"/>
              </a:spcAft>
              <a:defRPr sz="1600" b="0">
                <a:solidFill>
                  <a:srgbClr val="AAAAAA"/>
                </a:solidFill>
                <a:latin typeface="맑은 고딕"/>
              </a:defRPr>
            </a:pPr>
            <a:r>
              <a:t>• SDF 파일 → DataWarrior: File → Open → 구조 + 스코어 (검색 가능)</a:t>
            </a:r>
          </a:p>
          <a:p>
            <a:pPr algn="l">
              <a:spcAft>
                <a:spcPts val="200"/>
              </a:spcAft>
              <a:defRPr sz="1600" b="0">
                <a:solidFill>
                  <a:srgbClr val="AAAAAA"/>
                </a:solidFill>
                <a:latin typeface="맑은 고딕"/>
              </a:defRPr>
            </a:pPr>
            <a:r>
              <a:t>• PML 파일 → PyMOL: File → Run Script → 자동 시각화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