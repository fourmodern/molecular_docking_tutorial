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도킹 결과 시각화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400" b="0">
                <a:solidFill>
                  <a:srgbClr val="00897B"/>
                </a:solidFill>
                <a:latin typeface="맑은 고딕"/>
              </a:defRPr>
            </a:pPr>
            <a:r>
              <a:t>PyMOL + DataWarrior로 실전 결과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1.  Structure Search (TYK2)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2.  Ligand Screening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3.  SAR Matrix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4.  Kinase Panel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5.  EGFR Mutants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6.  Scoring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45720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PyMOL 시각화 원칙: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단백질: cartoon (흰색)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결합부위 잔기: sticks (하늘색)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도킹 포즈: sticks (초록)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Crystal 포즈: sticks (마젠타)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변이 잔기: spheres (빨강)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수소결합: 노란 점선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DataWarrior 분석: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CSV/SDF → 스코어 테이블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히스토그램, 산점도, 히트맵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• Lipinski 필터, SAR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1: Structure Search — 파일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TYK2_structure_search/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결과 폴더 구조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TYK2_structure_search/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├── 4wov/                         ← PDB별 폴더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4wov.pdb                 원본 PDB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4wov_clean_H.pdb         정제된 단백질 (chain A, H 추가)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4wov_clean_H_aligned.pdb 정렬된 단백질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4wov_lig.mol2            co-crystal 리간드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4wov_lig_aligned.mol2    정렬된 리간드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4wov_lig_redock.sdf      re-docking 입력 리간드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4wov_docked.sdf          도킹 포즈 (10개)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├── 4wov_crystal.sdf         crystal 포즈 (score_only)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│   └── 4wov_crystal_scored.sdf  crystal 스코어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├── 8s99/ 8s9a/ 8s98/ 5c03/      ← 다른 PDB들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├── structure_comparison.csv      종합 비교 테이블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├── aligned_structures.pml        PyMOL 자동 스크립트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└── results_for_viewer/           뷰어용 PDB+SDF 모음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1: PyMOL — 정렬된 구조 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5개 TYK2 PDB를 겹쳐서 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9728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방법 1: PML 스크립트 실행 (가장 쉬움)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File → Run Script → aligned_structures.pml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방법 2: 수동으로 열기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정렬된 단백질 로드 (각각 다른 색)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4wov/4wov_clean_H_aligned.pdb, PDB_4wov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8s99/8s99_clean_H_aligned.pdb, PDB_8s99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8s9a/8s9a_clean_H_aligned.pdb, PDB_8s9a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8s98/8s98_clean_H_aligned.pdb, PDB_8s98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5c03/5c03_clean_H_aligned.pdb, PDB_5c03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단백질 리본 표현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all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palegreen, PDB_4wov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lightblue, PDB_8s99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salmon, PDB_8s9a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lightorange, PDB_8s98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lightpink, PDB_5c03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정렬된 리간드 로드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4wov/4wov_lig_aligned.mol2, lig_4wov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8s99/8s99_lig_aligned.mol2, lig_8s99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lig_*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lig_4wov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cyan, lig_8s99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1: PyMOL — 결합 부위 &amp; 수소결합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리간드 주변 잔기를 sticks + atom color로 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결합 부위 잔기 선택 (5Å 이내)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pocket, PDB_4wov within 5 of lig_4wov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잔기를 sticks로, 원소별 색상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util.cbac pocket   # C=cyan, N=blue, O=red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잔기 라벨 (이름+번호)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pocket and name CA, resn+resi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label_size, 14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label_color, black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수소 결합 표시 (노란 점선)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hbonds, lig_4wov,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yellow, hbonds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dash_width, 2.5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hide labels, hbonds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리간드 주변 표면 (반투명)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surface,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transparency, 0.75, pocket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897B"/>
                </a:solidFill>
                <a:latin typeface="맑은 고딕"/>
              </a:defRPr>
            </a:pPr>
            <a:r>
              <a:t>시각화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결합 부위 잔기 (sticks)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어떤 아미노산이 리간드와 접촉하는지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util.cbac: 원소별 색상으로 화학적 특성 파악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수소 결합 (노란 점선)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distance mode=2: 자동 H-bond 감지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2.5~3.5Å 거리의 donor-acceptor 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반투명 표면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포켓의 형태/크기 시각화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리간드가 포켓에 잘 맞는지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잔기 라벨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어떤 잔기가 핵심 상호작용하는지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논문/보고서에 인용할 잔기 번호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1: PyMOL — Crystal vs Docked 포즈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마젠타(실험) vs 초록(도킹 예측)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Crystal 리간드 (마젠타 = 실험 구조)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4wov/4wov_crystal.sdf, crystal_4wov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crystal_4wov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magenta, crystal_4wov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stick_radius, 0.12, crystal_4wov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Docked 포즈 (초록 = 도킹 예측)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4wov/4wov_docked.sdf, docked_4wov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docked_4wov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docked_4wov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stick_radius, 0.15, docked_4wov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Best pose만 보기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all_states, 0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1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또는 10개 포즈 모두 보기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set all_states, 1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포즈 순회 (← → 키)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1   # best score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2   # 2nd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frame 3   # 3rd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포즈 분리 (각각 다른 색)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split_states docked_4wov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docked_4wov_0001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yellow, docked_4wov_0002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salmon, docked_4wov_0003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12121"/>
                </a:solidFill>
                <a:latin typeface="맑은 고딕"/>
              </a:defRPr>
            </a:pPr>
            <a:r>
              <a:t>비교 관찰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마젠타(crystal) ↔ 초록(docked)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위치가 겹치는가?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RMSD &lt; 2Å이면 성공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겹치지 않으면 도킹 실패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방향이 같은가?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같은 방향: 결합 모드 재현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뒤집힘: 다른 결합 모드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수소결합 패턴이 유사한가?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crystal의 H-bond가 docked에도 있는지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없으면 scoring 문제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여러 포즈 중 crystal에 가장 가까운 것은?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best score ≠ best RMSD일 수 있음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포즈 순회하며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1: DataWarrior — 구조 비교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structure_comparison.csv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8F00"/>
                </a:solidFill>
                <a:latin typeface="맑은 고딕"/>
              </a:defRPr>
            </a:pPr>
            <a:r>
              <a:t>File → Open → structure_comparison.csv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CSV 컬럼 설명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컬럼 | 의미 | 좋은 값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|------|------|--------|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PDB | PDB 코드 | -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Resolution | 해상도 (Å) | &lt; 2.0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Ligand | co-crystal 리간드 코드 | -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Best Score | 도킹 best 스코어 | &lt; -7.0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Crystal Score | Crystal 포즈 스코어 | &lt; -7.0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Poses | 도킹 포즈 수 | 10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Best RMSD | 최적 RMSD (Å) | &lt; 2.0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Interactions | ProLIF 상호작용 수 | &gt; 10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Conserved | 보존 상호작용 (&gt;50%) | &gt; 5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Delta | Crystal - Dock 스코어 차이 | 작을수록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| Verdict | 판정 | ✓ 추천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DataWarrior 시각화: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우클릭 → New View → Bar Chart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Category: PDB, Value: Best Score → 스코어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우클릭 → New View → 2D Scatter Plot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X: Resolution, Y: Best Score → 해상도 vs 스코어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2: Ligand Screening — PyMOL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6nzp_screening/ | 5개 약물 포즈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9728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단백질 로드 + 리본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6nzp_clean_H.pdb, protein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cartoon, protein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white, protein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5개 약물 도킹 포즈 (각각 다른 색)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Erlotinib_docked.sdf, Erlotinib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Gefitinib_docked.sdf, Gefitinib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Afatinib_docked.sdf, Afatinib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Osimertinib_docked.sdf, Osimertinib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Imatinib_docked.sdf, Imatinib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green, Erlotinib          # 1세대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cyan, Gefitinib           # 1세대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orange, Afatinib          # 2세대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yellow, Osimertinib       # 3세대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magenta, Imatinib         # ABL 억제제 (off-target)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Erlotinib or Gefitinib or Afatinib or Osimertinib or Imatinib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all_states, 0; frame 1     # best pose만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결합 부위 잔기 (sticks, atom color)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select pocket, protein within 5 of Erlotinib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pocket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util.cbac pocket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label pocket and name CA, resn+resi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label_size, 12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수소 결합 (각 약물별)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distance hb_erl, Erlotinib, pocket, mode=2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distance hb_osi, Osimertinib, pocket, mode=2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dash_color, yellow, hb_erl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dash_color, cyan, hb_osi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2: DataWarrior — Screening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screening_results.csv 또는 screening_results.sdf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SDF로 열기 (구조 포함, 권장)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File → Open → screening_results.sdf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2D 구조 + 스코어 테이블 자동 로드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분자 속성 계산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Chemistry → Calculate Properties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MW, cLogP, HBA, HBD, Drug-Likeness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스코어 랭킹 바 차트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우클릭 → New View → Bar Chart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Category: Name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Value: Score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Score vs MW 산점도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우클릭 → New View → 2D Scatter Plot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X: Score, Y: MW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MW &lt; 500, Score &lt; -7 영역이 이상적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5. Lipinski 필터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필터 패널 → MW &lt; 500, cLogP &lt;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CSV 컬럼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Name: 화합물 이름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SMILES: 분자 구조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Score: 도킹 스코어 (kcal/mol)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MW: 분자량 (Da)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cLogP: 소수성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HBA/HBD: 수소결합 수용/공여체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HA: Heavy Atom 수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LE: Ligand Efficiency (-Score/HA)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해석: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Score 가장 낮은 것 = best binder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LE &gt; 0.3 = drug-like 효율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Imatinib(ABL 억제제)이 TYK2에도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결합하면 → off-target 위험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선별 후 PyMOL로 전달: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행 선택 → File → Save Special → SD-File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PyMOL에서 load selected.sdf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3: SAR Matrix — PyMOL 포즈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6nzp_sar_matrix/ | Best vs Worst R-group 조합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단백질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6nzp_clean_H.pdb,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protein; color white,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Best 조합: R1=F, R2=NH2 (Score=-8.45)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R1=F_R2=NH2_docked.sdf, best_combo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best_combo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best_combo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Worst 조합: R1=H, R2=H (Score=-7.65)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R1=H_R2=H_docked.sdf, worst_combo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red, worst_combo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worst_combo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결합 부위 잔기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pocket, protein within 5 of best_combo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util.cbac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수소결합 비교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hb_best, best_combo,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hb_worst, worst_combo,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chartreuse, hb_best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salmon, hb_worst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best에만 있는 H-bond = SAR 핵심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F 치환이 추가 상호작용을 만드는지?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H-bond 수의 차이가 Score 차이의 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897B"/>
                </a:solidFill>
                <a:latin typeface="맑은 고딕"/>
              </a:defRPr>
            </a:pPr>
            <a:r>
              <a:t>비교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초록(best) vs 빨강(worst)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포즈 위치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같은 결합 모드인가?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다르면 R-group이 결합 모드를 변경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R-group 부근 상호작용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F(best)가 어떤 잔기와 접촉하는가?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H(worst)에는 없는 상호작용이 있는가?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입체 충돌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OCH3 같은 큰 그룹이 포켓 벽과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  충돌(steric clash)하는지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show surface, pocket → 공간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Activity Cliff 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R1=F vs R1=H: 구조 비슷 + 점수 다름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이 쌍의 포즈를 겹쳐서 핵심 차이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3: DataWarrior — SAR Matrix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sar_matrix.csv + sar_table.csv + sar_matrix.sdf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sar_matrix.csv — 히트맵용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    H     F     OH    NH2   OCH3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H    -7.65 -7.88 -8.35 -8.45 -7.89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F    -8.24 -8.15 -8.49 -8.23 -8.16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Cl   -7.92 -8.11 -8.14 -8.38 -7.92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...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Excel에서 조건부 서식 (초록-빨강)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또는 DataWarrior Correlation Matrix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sar_table.csv — 전체 테이블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Score 정렬: best 조합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LE 정렬: 효율 좋은 조합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Bar Chart: R1별 평균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SDF 분석 (구조 포함)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sar_matrix.sdf 열기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1. R-Group Decomposition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Chemistry → R-Group Decomposition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Core 자동 감지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R1, R2 컬럼 분리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2. Score vs R-group 산점도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X: R1 (카테고리)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Y: Score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어떤 R1이 스코어를 높이는가?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3. Activity Cliff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Chemistry → Similarity Analysis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Structure-Activity Landscape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구조 비슷 + Score 다른 쌍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= SAR 핵심 발견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4. 선별 → PyMOL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Best 조합 선택 → Save SD-File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PyMOL에서 포즈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4: Kinase Panel — PyMOL 정렬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kinase_panel_results/ | 5키나아제 × Erlotinib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9728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정렬된 키나아제 구조 (각각 다른 색)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EGFR/1m17_clean_H.pdb, EGFR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ABL1/1iep_clean_H_aligned.pdb, ABL1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JAK2/3fup_clean_H_aligned.pdb, JAK2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CDK2/1h1s_clean_H_aligned.pdb, CDK2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BRAF/3og7_clean_H_aligned.pdb, BRAF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cartoon, all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palegreen, EGFR      # reference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lightblue, ABL1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lightorange, JAK2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lightpink, CDK2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lightyellow, BRAF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Erlotinib 도킹 포즈 (키나아제별)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EGFR/Erlotinib_docked.sdf, Erl_EGFR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ABL1/Erlotinib_docked.sdf, Erl_ABL1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JAK2/Erlotinib_docked.sdf, Erl_JAK2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green, Erl_EGFR          # target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blue, Erl_ABL1           # off-target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orange, Erl_JAK2         # off-target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Erl_*; set all_states, 0; frame 1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EGFR 결합 부위 잔기 (atom color)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select egfr_pocket, EGFR within 5 of Erl_EGFR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egfr_pocket; util.cbac egfr_pocket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distance hb_egfr, Erl_EGFR, egfr_pocket, mode=2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dash_color, yellow, hb_egfr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4: DataWarrior — 선택성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kinase_panel_results.csv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kinase_panel_results.csv 컬럼: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Kinase | Group | Score | Selectivity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DataWarrior 시각화: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선택성 바 차트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우클릭 → New View → Bar Chart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Category: Kinase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Value: Score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EGFR에만 강하게 결합하면 선택적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모든 키나아제에 비슷하면 비선택적 (pan-kinase)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Selectivity Index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Selectivity = Score - Best Score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0에 가까울수록 타겟에 가까운 결합력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클수록 결합력 약함 (비선택적이 아님)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Group별 비교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TK(EGFR, ABL1, JAK2) vs CMGC(CDK2) vs TKL(BRAF)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같은 그룹 내 선택성이 임상적으로 더 중요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4. Crystal Score 비교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Crystal vs Docked 스코어 차이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Scoring function 신뢰도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5: EGFR Mutants — PyMOL 변이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egfr_mutants_results/ | WT vs T790M + 약물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WT vs T790M 구조 비교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WT_Erlotinib/1m17_clean_H.pdb, WT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T790M_Neratinib/2jit_clean_H_aligned.pdb,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palegreen, WT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salmon,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WT or T790M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Gatekeeper 변이 잔기 (빨강 구)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gate_wt, WT and resi 790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gate_mut, T790M and resi 790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spheres, gate_wt or gate_mut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sphere_scale, 0.8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blue, gate_wt       # Thr (WT)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red, gate_mut       # Met (mutant)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gate_wt and name CA, "Thr790"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label gate_mut and name CA, "Met790"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label_size, 16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결합 부위 잔기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wt_pocket, WT within 5 of (WT and organic)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wt_pocket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util.cbac wt_pocket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12121"/>
                </a:solidFill>
                <a:latin typeface="맑은 고딕"/>
              </a:defRPr>
            </a:pPr>
            <a:r>
              <a:t>관찰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Gatekeeper 잔기 (790)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Thr(작음, 파랑) → Met(큼, 빨강)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Met의 큰 side chain이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  ATP 포켓 입구를 부분 차단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포켓 형태 변화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show surface, wt_pocket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WT vs T790M 포켓 크기 차이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1세대 약물이 못 들어가는 이유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약물 포즈 비교 (다음 슬라이드)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5: PyMOL — 1세대 vs 3세대 약물 포즈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Erlotinib(내성) vs Osimertinib(극복)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9728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1세대: Erlotinib (T790M에서 내성)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T790M_Neratinib/Erlotinib_docked.sdf, Erl_T790M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red, Erl_T790M         # 내성 = 빨강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Erl_T790M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3세대: Osimertinib (T790M 극복)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T790M_Neratinib/Osimertinib_docked.sdf, Osi_T790M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cyan, Osi_T790M        # 극복 = 시안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Osi_T790M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WT에서의 같은 약물 (비교용)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load WT_Erlotinib/Erlotinib_docked.sdf, Erl_WT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color green, Erl_WT           # WT = 초록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Erl_WT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결합 부위 잔기 + 수소결합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select t790m_pocket, T790M within 5 of Osi_T790M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show sticks, t790m_pocket; util.cbac t790m_pocket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distance hb_osi, Osi_T790M, t790m_pocket, mode=2    # Osimertinib H-bond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distance hb_erl, Erl_T790M, t790m_pocket, mode=2    # Erlotinib H-bond (약함)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dash_color, cyan, hb_osi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set dash_color, red, hb_erl</a:t>
            </a:r>
          </a:p>
          <a:p>
            <a:pPr>
              <a:spcAft>
                <a:spcPts val="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→ Osimertinib(시안)은 Met790과 새로운 상호작용</a:t>
            </a: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→ Erlotinib(빨강)은 Met790에 의해 차단</a:t>
            </a:r>
          </a:p>
          <a:p>
            <a:pPr>
              <a:spcAft>
                <a:spcPts val="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→ 이것이 3세대 TKI의 내성 극복 메커니즘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5: DataWarrior — Cross-docking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egfr_matrix.csv + egfr_crossdock.csv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egfr_matrix.csv — 히트맵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행: 구조 (WT, L858R, T790M, DM)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열: 약물 (Afatinib, Erlotinib, Gefitinib, Osi)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값: Best Score (kcal/mol)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Excel 조건부 서식: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초록 = 강한 결합 (&lt; -8)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빨강 = 약한 결합 (&gt; -7)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내성 패턴 확인: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Erlotinib: WT 좋음 → T790M 나빠짐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= 1세대 내성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Osimertinib: T790M에서도 좋음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= 3세대 내성 극복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egfr_crossdock.csv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전체 결과 테이블: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Drug | Structure | Mutation | Gen | Score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DataWarrior 시각화: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1. 약물별 변이 감수성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우클릭 → 2D Scatter Plot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X: Drug, Y: Best Score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Color by: Mutation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2. 세대별 효과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Category: Generation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Value: Best Score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1st &lt; 2nd &lt; 3rd gen for T790M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3. 선별 → PyMOL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T790M에 가장 좋은 약물 선택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 → SD-File 저장 → PyMOL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6: Scoring Validation — PyMOL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scoring_validation/ | 30 화합물 × 3 SF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단백질 (EGFR 1M17)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1m17_clean_H.pdb,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protein; color white,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특정 화합물의 3 SF 포즈 비교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CHEMBL138363_vina_docked.sdf, cpd1_vina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CHEMBL138363_vinardo_docked.sdf, cpd1_vinardo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CHEMBL138363_ad4_scoring_docked.sdf, cpd1_ad4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SF별 다른 색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cpd1_vina         # vina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orange, cpd1_vinardo     # vinardo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purple, cpd1_ad4         # ad4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cpd1_*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all_states, 0; frame 1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결합 부위 (atom color)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pocket, protein within 5 of cpd1_vina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pocket; util.cbac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수소결합 비교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hb_vina, cpd1_vina,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hb_vinardo, cpd1_vinardo,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chartreuse, hb_vina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set dash_color, orange, hb_vinardo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3 SF가 같은 포즈를 찾으면 신뢰도 높음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다른 포즈면 SF간 의견 불일치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897B"/>
                </a:solidFill>
                <a:latin typeface="맑은 고딕"/>
              </a:defRPr>
            </a:pPr>
            <a:r>
              <a:t>관찰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 Scoring Function 포즈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초록(vina) vs 주황(vinardo) vs 보라(ad4)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포즈가 일치하면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Consensus scoring 효과적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높은 신뢰도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포즈가 다르면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SF간 의견 불일치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어떤 SF의 포즈가 맞는지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  Crystal과 비교 필요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이상치 화합물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Score 좋은데 IC50 나쁜 화합물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PyMOL에서 포즈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잘못된 포즈? Scoring 한계?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212121"/>
                </a:solidFill>
                <a:latin typeface="맑은 고딕"/>
              </a:defRPr>
            </a:pPr>
            <a:r>
              <a:t>Part 6: DataWarrior — Score vs IC50 상관관계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00897B"/>
                </a:solidFill>
                <a:latin typeface="맑은 고딕"/>
              </a:defRPr>
            </a:pPr>
            <a:r>
              <a:t>scoring_validation.csv + model_comparison.csv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scoring_validation.csv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핵심 컬럼: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pIC50: 실험 활성 (-log10 IC50)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vina_best: Vina 스코어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vinardo_best: Vinardo 스코어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ad4_scoring_best: AD4 스코어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consensus_avg: 3 SF 평균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consensus_lr: Linear Regression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DataWarrior 시각화: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Score vs pIC50 산점도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우클릭 → 2D Scatter Plot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X: vina_best, Y: pIC50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음의 상관관계가 보이면 유효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3 SF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각 SF별 산점도 만들기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R² 가장 높은 SF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model_comparison.csv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모델 비교 테이블: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Method | Pearson R | Spearman ρ | R²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R² 기준 정렬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가장 높은 R² 모델이 최적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일반적 기대값: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단일 SF: R² = 0.1~0.4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Consensus: R² = 0.2~0.5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Random Forest: R² = 0.3~0.6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이상치 확인: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산점도에서 추세선에서 벗어난 점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이름 확인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PyMOL에서 해당 화합물 포즈 확인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→ Scoring 한계 또는 잘못된 포즈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결과 이미지: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score_vs_pic50.png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consensus_scoring.png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• model_comparison.png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요약: 파일 → 도구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파일 확장자별 사용 도구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파일 | 도구 | 열기 방법 | 용도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|------|------|----------|------|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.pdb | PyMOL | File → Open | 단백질 구조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.sdf (_docked) | PyMOL | File → Open | 도킹 포즈 (겹쳐서 보기)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.sdf (_crystal) | PyMOL | File → Open | Crystal 참조 포즈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.mol2 (_aligned) | PyMOL | File → Open | 정렬된 리간드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.pml | PyMOL | File → Run Script | 자동 시각화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.csv | DataWarrior | File → Open | 스코어/속성 테이블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.sdf (results) | DataWarrior | File → Open | 구조 + 스코어 (권장)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.png | 이미지 뷰어 | 더블클릭 | 차트/히트맵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PyMOL 색상 규칙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대상 | 색상 | 의미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|------|------|------|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단백질 | 흰색 cartoon | 배경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결합 부위 잔기 | sticks + util.cbac | 화학적 특성 (원소별)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Crystal 리간드 | 마젠타 sticks | 실험 구조 (참조)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도킹 포즈 | 초록 sticks | 도킹 예측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비교 포즈 | 시안/주황/노랑 | 다른 약물/SF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수소결합 | 노란 점선 | 주요 상호작용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변이 잔기 | 빨강 spheres | 내성 관련 |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| 표면 | 반투명 | 포켓 형태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