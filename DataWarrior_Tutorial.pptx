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144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t>DataWarrior 도킹 결과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91440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2200" b="0">
                <a:solidFill>
                  <a:srgbClr val="FF8F00"/>
                </a:solidFill>
                <a:latin typeface="맑은 고딕"/>
              </a:defRPr>
            </a:pPr>
            <a:r>
              <a:t>분자 도킹 결과를 시각적으로 분석하고 SAR을 도출하는 실습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7315200" cy="228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700" b="0">
                <a:solidFill>
                  <a:srgbClr val="AAAAAA"/>
                </a:solidFill>
                <a:latin typeface="맑은 고딕"/>
              </a:defRPr>
            </a:pPr>
            <a:r>
              <a:t>실습 1.  SDF 파일 열기 &amp; 구조 탐색</a:t>
            </a:r>
          </a:p>
          <a:p>
            <a:pPr algn="l">
              <a:spcAft>
                <a:spcPts val="200"/>
              </a:spcAft>
              <a:defRPr sz="1700" b="0">
                <a:solidFill>
                  <a:srgbClr val="AAAAAA"/>
                </a:solidFill>
                <a:latin typeface="맑은 고딕"/>
              </a:defRPr>
            </a:pPr>
            <a:r>
              <a:t>실습 2.  분자 속성 계산</a:t>
            </a:r>
          </a:p>
          <a:p>
            <a:pPr algn="l">
              <a:spcAft>
                <a:spcPts val="200"/>
              </a:spcAft>
              <a:defRPr sz="1700" b="0">
                <a:solidFill>
                  <a:srgbClr val="AAAAAA"/>
                </a:solidFill>
                <a:latin typeface="맑은 고딕"/>
              </a:defRPr>
            </a:pPr>
            <a:r>
              <a:t>실습 3.  스코어 분포 시각화</a:t>
            </a:r>
          </a:p>
          <a:p>
            <a:pPr algn="l">
              <a:spcAft>
                <a:spcPts val="200"/>
              </a:spcAft>
              <a:defRPr sz="1700" b="0">
                <a:solidFill>
                  <a:srgbClr val="AAAAAA"/>
                </a:solidFill>
                <a:latin typeface="맑은 고딕"/>
              </a:defRPr>
            </a:pPr>
            <a:r>
              <a:t>실습 4.  Lipinski Rule of Five 필터</a:t>
            </a:r>
          </a:p>
          <a:p>
            <a:pPr algn="l">
              <a:spcAft>
                <a:spcPts val="200"/>
              </a:spcAft>
              <a:defRPr sz="1700" b="0">
                <a:solidFill>
                  <a:srgbClr val="AAAAAA"/>
                </a:solidFill>
                <a:latin typeface="맑은 고딕"/>
              </a:defRPr>
            </a:pPr>
            <a:r>
              <a:t>실습 5.  SAR Table &amp; Activity Cliff</a:t>
            </a:r>
          </a:p>
          <a:p>
            <a:pPr algn="l">
              <a:spcAft>
                <a:spcPts val="200"/>
              </a:spcAft>
              <a:defRPr sz="1700" b="0">
                <a:solidFill>
                  <a:srgbClr val="AAAAAA"/>
                </a:solidFill>
                <a:latin typeface="맑은 고딕"/>
              </a:defRPr>
            </a:pPr>
            <a:r>
              <a:t>실습 6.  클러스터링 &amp; 화학 공간</a:t>
            </a:r>
          </a:p>
          <a:p>
            <a:pPr algn="l">
              <a:spcAft>
                <a:spcPts val="200"/>
              </a:spcAft>
              <a:defRPr sz="1700" b="0">
                <a:solidFill>
                  <a:srgbClr val="AAAAAA"/>
                </a:solidFill>
                <a:latin typeface="맑은 고딕"/>
              </a:defRPr>
            </a:pPr>
            <a:r>
              <a:t>실습 7.  Kinase Panel CSV 분석</a:t>
            </a:r>
          </a:p>
          <a:p>
            <a:pPr algn="l">
              <a:spcAft>
                <a:spcPts val="200"/>
              </a:spcAft>
              <a:defRPr sz="1700" b="0">
                <a:solidFill>
                  <a:srgbClr val="AAAAAA"/>
                </a:solidFill>
                <a:latin typeface="맑은 고딕"/>
              </a:defRPr>
            </a:pPr>
            <a:r>
              <a:t>실습 8.  PyMOL 연동 워크플로우</a:t>
            </a:r>
          </a:p>
          <a:p>
            <a:pPr algn="l">
              <a:spcAft>
                <a:spcPts val="200"/>
              </a:spcAft>
              <a:defRPr sz="1700" b="0">
                <a:solidFill>
                  <a:srgbClr val="AAAAAA"/>
                </a:solidFill>
                <a:latin typeface="맑은 고딕"/>
              </a:defRPr>
            </a:pPr>
            <a:r>
              <a:t>실습 9.  SAR 노트북 연동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731520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757575"/>
                </a:solidFill>
                <a:latin typeface="맑은 고딕"/>
              </a:defRPr>
            </a:pPr>
            <a:r>
              <a:t>무료 다운로드: https://openmolecules.org/datawarrior/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3200" b="1">
                <a:solidFill>
                  <a:srgbClr val="212121"/>
                </a:solidFill>
                <a:latin typeface="맑은 고딕"/>
              </a:defRPr>
            </a:pPr>
            <a:r>
              <a:t>DataWarrior 인터페이스 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FF8F00"/>
                </a:solidFill>
                <a:latin typeface="맑은 고딕"/>
              </a:defRPr>
            </a:pPr>
            <a:r>
              <a:t>무료 cheminformatics 데스크탑 도구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26517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2651760" cy="82296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테이블 뷰 (Table)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23160"/>
            <a:ext cx="2194560" cy="274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분자 구조 + 속성 테이블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행 = 화합물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열 = 속성/스코어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엑셀처럼 정렬/필터 가능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417320"/>
            <a:ext cx="26517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37560" y="1417320"/>
            <a:ext cx="2651760" cy="822960"/>
          </a:xfrm>
          <a:prstGeom prst="round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차트 뷰 (Charts)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423160"/>
            <a:ext cx="2194560" cy="274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2D Scatter, Box Plot,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Histogram, Heatmap 등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우클릭 → New View로 추가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26517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417320"/>
            <a:ext cx="2651760" cy="822960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필터 패널 (Filters)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423160"/>
            <a:ext cx="2194560" cy="274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슬라이더/체크박스로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실시간 데이터 필터링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구조 서브구조 검색도 가능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417320"/>
            <a:ext cx="26517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098280" y="1417320"/>
            <a:ext cx="2651760" cy="822960"/>
          </a:xfrm>
          <a:prstGeom prst="roundRect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구조 뷰 (Structure)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423160"/>
            <a:ext cx="2194560" cy="274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2D 구조 자동 렌더링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셀 더블클릭 → 확대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SDF 파일에서 자동 로드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3200" b="1">
                <a:solidFill>
                  <a:srgbClr val="212121"/>
                </a:solidFill>
                <a:latin typeface="맑은 고딕"/>
              </a:defRPr>
            </a:pPr>
            <a:r>
              <a:t>실습 1: SDF 파일 열기 &amp; 구조 탐색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212121"/>
                </a:solidFill>
                <a:latin typeface="맑은 고딕"/>
              </a:defRPr>
            </a:pPr>
            <a:r>
              <a:t>Step 1: SDF 파일 로드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029200" cy="182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1. DataWarrior 실행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2. File → Open → 도킹 결과 SDF 선택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   (예: 6nzp_lig_vina_out.sdf)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3. 자동으로 분자 구조 + 속성 테이블 로드됨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로드 후 보이는 컬럼: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• Structure — 2D 분자 구조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• minimizedAffinity — 도킹 스코어 (kcal/mol)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• Pose — 포즈 번호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5029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212121"/>
                </a:solidFill>
                <a:latin typeface="맑은 고딕"/>
              </a:defRPr>
            </a:pPr>
            <a:r>
              <a:t>Step 2: 테이블 정렬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50292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1. minimizedAffinity 컬럼 헤더 클릭 → 오름차순 정렬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2. 가장 위가 best score (가장 낮은 음수)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3. 셀 더블클릭 → 2D 구조 확대 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37759"/>
            <a:ext cx="5029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212121"/>
                </a:solidFill>
                <a:latin typeface="맑은 고딕"/>
              </a:defRPr>
            </a:pPr>
            <a:r>
              <a:t>Step 3: 2D 구조 보기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03520"/>
            <a:ext cx="50292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• 좌측 Structure 컬럼에 2D 구조 자동 표시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• 셀 더블클릭 → 확대 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188720"/>
            <a:ext cx="5029200" cy="5029200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325880"/>
            <a:ext cx="45720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F8F00"/>
                </a:solidFill>
                <a:latin typeface="맑은 고딕"/>
              </a:defRPr>
            </a:pPr>
            <a:r>
              <a:t>SDF vs CSV 차이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737360"/>
            <a:ext cx="4572000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SDF: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• 2D/3D 구조 포함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• 구조 검색, R-Group Decomposition 가능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• DataWarrior의 모든 Chemistry 기능 사용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CSV: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• 구조 없이 숫자/텍스트만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• 빠른 로드, 간단한 차트 분석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474720"/>
            <a:ext cx="45720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F8F00"/>
                </a:solidFill>
                <a:latin typeface="맑은 고딕"/>
              </a:defRPr>
            </a:pPr>
            <a:r>
              <a:t>Colab에서 생성되는 파일들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840480"/>
            <a:ext cx="4572000" cy="182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• sar_results.sdf — 구조 + 스코어 + 속성 통합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• sar_table.csv — SAR 테이블 (R-group별)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• docking_scores.csv — 전체 스코어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• rmsd_validation.csv — RMSD 검증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• all_docking_scores.csv — Kinase Panel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• crossdock_matrix.csv — Cross-docking 매트릭스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3200" b="1">
                <a:solidFill>
                  <a:srgbClr val="212121"/>
                </a:solidFill>
                <a:latin typeface="맑은 고딕"/>
              </a:defRPr>
            </a:pPr>
            <a:r>
              <a:t>실습 2: 분자 속성 계산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FF8F00"/>
                </a:solidFill>
                <a:latin typeface="맑은 고딕"/>
              </a:defRPr>
            </a:pPr>
            <a:r>
              <a:t>Chemistry → From Chemical Structure → Calculate Properties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5029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212121"/>
                </a:solidFill>
                <a:latin typeface="맑은 고딕"/>
              </a:defRPr>
            </a:pPr>
            <a:r>
              <a:t>계산할 항목 선택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0292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2860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212121"/>
                </a:solidFill>
                <a:latin typeface="맑은 고딕"/>
              </a:defRPr>
            </a:pPr>
            <a:r>
              <a:t>Total Molweight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828800"/>
            <a:ext cx="25603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분자량 (Da)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50292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86000"/>
            <a:ext cx="22860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212121"/>
                </a:solidFill>
                <a:latin typeface="맑은 고딕"/>
              </a:defRPr>
            </a:pPr>
            <a:r>
              <a:t>cLogP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286000"/>
            <a:ext cx="25603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소수성 지표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697480"/>
            <a:ext cx="50292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743200"/>
            <a:ext cx="22860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212121"/>
                </a:solidFill>
                <a:latin typeface="맑은 고딕"/>
              </a:defRPr>
            </a:pPr>
            <a:r>
              <a:t>H-Bond Acceptors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743200"/>
            <a:ext cx="25603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수소결합 수용체 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154680"/>
            <a:ext cx="50292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200400"/>
            <a:ext cx="22860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212121"/>
                </a:solidFill>
                <a:latin typeface="맑은 고딕"/>
              </a:defRPr>
            </a:pPr>
            <a:r>
              <a:t>H-Bond Donors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200400"/>
            <a:ext cx="25603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수소결합 공여체 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611880"/>
            <a:ext cx="50292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657600"/>
            <a:ext cx="22860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212121"/>
                </a:solidFill>
                <a:latin typeface="맑은 고딕"/>
              </a:defRPr>
            </a:pPr>
            <a:r>
              <a:t>Total Surface Area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657600"/>
            <a:ext cx="25603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분자 표면적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069080"/>
            <a:ext cx="50292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114800"/>
            <a:ext cx="22860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212121"/>
                </a:solidFill>
                <a:latin typeface="맑은 고딕"/>
              </a:defRPr>
            </a:pPr>
            <a:r>
              <a:t>Rotatable Bond Count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114800"/>
            <a:ext cx="25603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회전 가능 결합 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526280"/>
            <a:ext cx="50292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572000"/>
            <a:ext cx="22860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212121"/>
                </a:solidFill>
                <a:latin typeface="맑은 고딕"/>
              </a:defRPr>
            </a:pPr>
            <a:r>
              <a:t>Drug-Likeness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572000"/>
            <a:ext cx="25603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약물 유사성 스코어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1417320"/>
            <a:ext cx="50292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1554480"/>
            <a:ext cx="45720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212121"/>
                </a:solidFill>
                <a:latin typeface="맑은 고딕"/>
              </a:defRPr>
            </a:pPr>
            <a:r>
              <a:t>독성 예측 (Predict Properties)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1965960"/>
            <a:ext cx="4572000" cy="182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Chemistry → Predict Properties: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• Mutagenicity — 돌연변이 유발성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• Tumorigenicity — 종양 유발성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• Irritant — 자극성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• Reproductive Effect — 생식 독성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→ 독성 위험 화합물을 사전에 제거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4160520"/>
            <a:ext cx="45720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212121"/>
                </a:solidFill>
                <a:latin typeface="맑은 고딕"/>
              </a:defRPr>
            </a:pPr>
            <a:r>
              <a:t>추가 속성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526280"/>
            <a:ext cx="4572000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757575"/>
                </a:solidFill>
                <a:latin typeface="맑은 고딕"/>
              </a:defRPr>
            </a:pPr>
            <a:r>
              <a:t>• Topological Polar Surface Area (TPSA)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757575"/>
                </a:solidFill>
                <a:latin typeface="맑은 고딕"/>
              </a:defRPr>
            </a:pPr>
            <a:r>
              <a:t>• Number of Stereocenters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757575"/>
                </a:solidFill>
                <a:latin typeface="맑은 고딕"/>
              </a:defRPr>
            </a:pPr>
            <a:r>
              <a:t>• Molecular Complexity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757575"/>
                </a:solidFill>
                <a:latin typeface="맑은 고딕"/>
              </a:defRPr>
            </a:pPr>
            <a:r>
              <a:t>• Shape Index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757575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400" b="0">
                <a:solidFill>
                  <a:srgbClr val="757575"/>
                </a:solidFill>
                <a:latin typeface="맑은 고딕"/>
              </a:defRPr>
            </a:pPr>
            <a:r>
              <a:t>OK 클릭 → 새 컬럼으로 자동 추가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3200" b="1">
                <a:solidFill>
                  <a:srgbClr val="212121"/>
                </a:solidFill>
                <a:latin typeface="맑은 고딕"/>
              </a:defRPr>
            </a:pPr>
            <a:r>
              <a:t>실습 3: 스코어 분포 시각화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27432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2743200" cy="59436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Histogram (막대)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2377440" cy="3840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스코어 분포 확인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우클릭 → New View → Bar Chart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X축: minimizedAffinity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→ -7 kcal/mol 이하가 좋은 결합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188720"/>
            <a:ext cx="27432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91840" y="1188720"/>
            <a:ext cx="2743200" cy="594360"/>
          </a:xfrm>
          <a:prstGeom prst="round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Scatter Plot (산점도)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965960"/>
            <a:ext cx="2377440" cy="3840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스코어 vs 분자 속성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우클릭 → New View → 2D-Scatter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X: minimizedAffinity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Y: cLogP (또는 MW)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→ 상관관계 &amp; 이상치 확인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27432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2743200" cy="594360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Box Plot (상자)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65960"/>
            <a:ext cx="2377440" cy="3840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Vina vs smina 비교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우클릭 → New View → Box Plot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Category: Method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Value: minimizedAffinity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→ 중앙값, 사분위수 비교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1188720"/>
            <a:ext cx="27432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0" y="1188720"/>
            <a:ext cx="2743200" cy="594360"/>
          </a:xfrm>
          <a:prstGeom prst="roundRect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Correlation Matrix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1965960"/>
            <a:ext cx="2377440" cy="3840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다중 속성 상관관계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우클릭 → New View →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Correlation Matrix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→ Score vs MW vs cLogP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→ LE vs BEI 관계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3200" b="1">
                <a:solidFill>
                  <a:srgbClr val="212121"/>
                </a:solidFill>
                <a:latin typeface="맑은 고딕"/>
              </a:defRPr>
            </a:pPr>
            <a:r>
              <a:t>실습 4: Lipinski Rule of Five 필터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FF8F00"/>
                </a:solidFill>
                <a:latin typeface="맑은 고딕"/>
              </a:defRPr>
            </a:pPr>
            <a:r>
              <a:t>Drug-likeness 평가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0292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" cy="5486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08760"/>
            <a:ext cx="20116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212121"/>
                </a:solidFill>
                <a:latin typeface="맑은 고딕"/>
              </a:defRPr>
            </a:pPr>
            <a:r>
              <a:t>MW &lt; 500 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508760"/>
            <a:ext cx="26517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분자량이 너무 크면 경구 흡수 불량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57400"/>
            <a:ext cx="50292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057400"/>
            <a:ext cx="109728" cy="5486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20116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212121"/>
                </a:solidFill>
                <a:latin typeface="맑은 고딕"/>
              </a:defRPr>
            </a:pPr>
            <a:r>
              <a:t>cLogP &lt;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148840"/>
            <a:ext cx="26517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너무 소수성이면 용해도 문제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697480"/>
            <a:ext cx="50292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697480"/>
            <a:ext cx="109728" cy="54864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788920"/>
            <a:ext cx="20116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212121"/>
                </a:solidFill>
                <a:latin typeface="맑은 고딕"/>
              </a:defRPr>
            </a:pPr>
            <a:r>
              <a:t>HBD ≤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788920"/>
            <a:ext cx="26517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수소결합 공여체 5개 이하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337559"/>
            <a:ext cx="50292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337559"/>
            <a:ext cx="109728" cy="54864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428999"/>
            <a:ext cx="20116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212121"/>
                </a:solidFill>
                <a:latin typeface="맑은 고딕"/>
              </a:defRPr>
            </a:pPr>
            <a:r>
              <a:t>HBA ≤ 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428999"/>
            <a:ext cx="26517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수소결합 수용체 10개 이하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251960"/>
            <a:ext cx="5029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212121"/>
                </a:solidFill>
                <a:latin typeface="맑은 고딕"/>
              </a:defRPr>
            </a:pPr>
            <a:r>
              <a:t>DataWarrior에서 필터 설정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617720"/>
            <a:ext cx="5029200" cy="182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1. Chemistry → Calculate Properties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   (MW, cLogP, HBA, HBD 계산)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2. 필터 패널에서 각 속성의 슬라이더 조절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3. 또는 Edit → New Filter → 조건 입력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4. 위반 화합물이 자동으로 회색 처리됨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1개 이하 위반은 허용.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2개 이상 위반 → 경구 투여 부적합 가능성.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1417320"/>
            <a:ext cx="5029200" cy="5029200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1554480"/>
            <a:ext cx="45720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F8F00"/>
                </a:solidFill>
                <a:latin typeface="맑은 고딕"/>
              </a:defRPr>
            </a:pPr>
            <a:r>
              <a:t>확장 필터들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1965960"/>
            <a:ext cx="45720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2029968"/>
            <a:ext cx="22860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212121"/>
                </a:solidFill>
                <a:latin typeface="맑은 고딕"/>
              </a:defRPr>
            </a:pPr>
            <a:r>
              <a:t>TPSA &lt; 140 A²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2029968"/>
            <a:ext cx="18288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경구 흡수 지표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75120" y="2514600"/>
            <a:ext cx="45720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2578608"/>
            <a:ext cx="22860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212121"/>
                </a:solidFill>
                <a:latin typeface="맑은 고딕"/>
              </a:defRPr>
            </a:pPr>
            <a:r>
              <a:t>Rotatable Bonds ≤ 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2578608"/>
            <a:ext cx="18288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유연성 제한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75120" y="3063239"/>
            <a:ext cx="45720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0" y="3127247"/>
            <a:ext cx="22860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212121"/>
                </a:solidFill>
                <a:latin typeface="맑은 고딕"/>
              </a:defRPr>
            </a:pPr>
            <a:r>
              <a:t>Drug-Likeness &gt; 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3127247"/>
            <a:ext cx="18288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약물 유사성 양수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75120" y="3611880"/>
            <a:ext cx="45720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0" y="3675888"/>
            <a:ext cx="22860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212121"/>
                </a:solidFill>
                <a:latin typeface="맑은 고딕"/>
              </a:defRPr>
            </a:pPr>
            <a:r>
              <a:t>Toxicity Risk = None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3675888"/>
            <a:ext cx="18288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독성 위험 없음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75120" y="4160520"/>
            <a:ext cx="45720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0" y="4224528"/>
            <a:ext cx="22860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212121"/>
                </a:solidFill>
                <a:latin typeface="맑은 고딕"/>
              </a:defRPr>
            </a:pPr>
            <a:r>
              <a:t>Ligand Efficiency &gt; 0.3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4224528"/>
            <a:ext cx="18288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효율적 결합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4892040"/>
            <a:ext cx="45720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F8F00"/>
                </a:solidFill>
                <a:latin typeface="맑은 고딕"/>
              </a:defRPr>
            </a:pPr>
            <a:r>
              <a:t>Drug-Likeness 스코어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5257800"/>
            <a:ext cx="45720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• DataWarrior 자체 Drug-Likeness 계산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• 양수 → 약물 유사성 높음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• 음수 → 약물 유사성 낮음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• Fragment-based scoring (자체 fragment-based scoring)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3200" b="1">
                <a:solidFill>
                  <a:srgbClr val="212121"/>
                </a:solidFill>
                <a:latin typeface="맑은 고딕"/>
              </a:defRPr>
            </a:pPr>
            <a:r>
              <a:t>실습 5: SAR Table &amp; Activity Cliff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FF8F00"/>
                </a:solidFill>
                <a:latin typeface="맑은 고딕"/>
              </a:defRPr>
            </a:pPr>
            <a:r>
              <a:t>구조-활성 관계(Structure-Activity Relationship) 도출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5029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212121"/>
                </a:solidFill>
                <a:latin typeface="맑은 고딕"/>
              </a:defRPr>
            </a:pPr>
            <a:r>
              <a:t>SAR Table 만들기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5029200" cy="228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1. SDF 열기 (도킹 결과 + SMILES 리간드 시리즈)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2. Chemistry → From Chemical Structure →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   R-Group Decomposition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   → Core structure 자동 감지 (MCS)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   → R-group별로 분해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3. 우클릭 → New View → 2D Scatter Plot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   X: R1 (R-group 1)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   Y: minimizedAffinity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   → R-group 치환에 따른 스코어 변화 확인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43400"/>
            <a:ext cx="5029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212121"/>
                </a:solidFill>
                <a:latin typeface="맑은 고딕"/>
              </a:defRPr>
            </a:pPr>
            <a:r>
              <a:t>Activity Cliff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09160"/>
            <a:ext cx="5029200" cy="182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1. Chemistry → Similarity Analysis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   Descriptor: FragFp (fragment fingerprint)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2. 우클릭 → New View →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   Structure-Activity Landscape (SALI)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   → X/Y: 유사도 좌표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   → Color: minimizedAffinity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3. 구조 비슷 + 스코어 크게 다른 쌍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   = Activity Cliff → 핵심 약효 그룹 발견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17320"/>
            <a:ext cx="50292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554480"/>
            <a:ext cx="45720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212121"/>
                </a:solidFill>
                <a:latin typeface="맑은 고딕"/>
              </a:defRPr>
            </a:pPr>
            <a:r>
              <a:t>SAR Table 예시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1965960"/>
            <a:ext cx="1005840" cy="320040"/>
          </a:xfrm>
          <a:prstGeom prst="round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1965960"/>
            <a:ext cx="914400" cy="320040"/>
          </a:xfrm>
          <a:prstGeom prst="round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1965960"/>
            <a:ext cx="914400" cy="320040"/>
          </a:xfrm>
          <a:prstGeom prst="round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09760" y="1965960"/>
            <a:ext cx="822960" cy="320040"/>
          </a:xfrm>
          <a:prstGeom prst="round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Score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332720" y="1965960"/>
            <a:ext cx="731520" cy="320040"/>
          </a:xfrm>
          <a:prstGeom prst="round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2331720"/>
            <a:ext cx="10058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1000"/>
            </a:pPr>
            <a:r>
              <a:t>Scaffold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0" y="2331720"/>
            <a:ext cx="91440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1000"/>
            </a:pPr>
            <a:r>
              <a:t>—H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95360" y="2331720"/>
            <a:ext cx="91440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1000"/>
            </a:pPr>
            <a:r>
              <a:t>—OH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09760" y="2331720"/>
            <a:ext cx="82296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1000"/>
            </a:pPr>
            <a:r>
              <a:t>-8.2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332720" y="2331720"/>
            <a:ext cx="73152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1000"/>
            </a:pPr>
            <a:r>
              <a:t>0.38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2679192"/>
            <a:ext cx="1005840" cy="3200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1000"/>
            </a:pPr>
            <a:r>
              <a:t>Scaffold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80960" y="2679192"/>
            <a:ext cx="914400" cy="3200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1000"/>
            </a:pPr>
            <a:r>
              <a:t>—CH₃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95360" y="2679192"/>
            <a:ext cx="914400" cy="3200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1000"/>
            </a:pPr>
            <a:r>
              <a:t>—OH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09760" y="2679192"/>
            <a:ext cx="822960" cy="3200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1000"/>
            </a:pPr>
            <a:r>
              <a:t>-8.7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332720" y="2679192"/>
            <a:ext cx="731520" cy="3200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1000"/>
            </a:pPr>
            <a:r>
              <a:t>0.36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75120" y="3026664"/>
            <a:ext cx="10058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1000"/>
            </a:pPr>
            <a:r>
              <a:t>Scaffold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60" y="3026664"/>
            <a:ext cx="91440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1000"/>
            </a:pPr>
            <a:r>
              <a:t>—F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95360" y="3026664"/>
            <a:ext cx="91440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1000"/>
            </a:pPr>
            <a:r>
              <a:t>—OH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09760" y="3026664"/>
            <a:ext cx="82296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1000"/>
            </a:pPr>
            <a:r>
              <a:t>-9.1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332720" y="3026664"/>
            <a:ext cx="73152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1000"/>
            </a:pPr>
            <a:r>
              <a:t>0.42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75120" y="3374136"/>
            <a:ext cx="1005840" cy="3200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1000"/>
            </a:pPr>
            <a:r>
              <a:t>Scaffold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80960" y="3374136"/>
            <a:ext cx="914400" cy="3200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1000"/>
            </a:pPr>
            <a:r>
              <a:t>—Cl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95360" y="3374136"/>
            <a:ext cx="914400" cy="3200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1000"/>
            </a:pPr>
            <a:r>
              <a:t>—NH₂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09760" y="3374136"/>
            <a:ext cx="822960" cy="3200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1000"/>
            </a:pPr>
            <a:r>
              <a:t>-7.5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332720" y="3374136"/>
            <a:ext cx="731520" cy="3200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1000"/>
            </a:pPr>
            <a:r>
              <a:t>0.31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75120" y="3721608"/>
            <a:ext cx="10058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1000"/>
            </a:pPr>
            <a:r>
              <a:t>Scaffold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80960" y="3721608"/>
            <a:ext cx="91440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1000"/>
            </a:pPr>
            <a:r>
              <a:t>—F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95360" y="3721608"/>
            <a:ext cx="91440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1000"/>
            </a:pPr>
            <a:r>
              <a:t>—NH₂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509760" y="3721608"/>
            <a:ext cx="82296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1000"/>
            </a:pPr>
            <a:r>
              <a:t>-8.9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332720" y="3721608"/>
            <a:ext cx="73152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1000"/>
            </a:pPr>
            <a:r>
              <a:t>0.41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75120" y="4069080"/>
            <a:ext cx="1005840" cy="3200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1000"/>
            </a:pPr>
            <a:r>
              <a:t>Scaffold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680960" y="4069080"/>
            <a:ext cx="914400" cy="3200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1000"/>
            </a:pPr>
            <a:r>
              <a:t>—OCH₃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595360" y="4069080"/>
            <a:ext cx="914400" cy="3200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1000"/>
            </a:pPr>
            <a:r>
              <a:t>—OH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09760" y="4069080"/>
            <a:ext cx="822960" cy="3200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1000"/>
            </a:pPr>
            <a:r>
              <a:t>-7.1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332720" y="4069080"/>
            <a:ext cx="731520" cy="3200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1000"/>
            </a:pPr>
            <a:r>
              <a:t>0.28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4617720"/>
            <a:ext cx="45720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F8F00"/>
                </a:solidFill>
                <a:latin typeface="맑은 고딕"/>
              </a:defRPr>
            </a:pPr>
            <a:r>
              <a:t>SAR 인사이트 도출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75120" y="4983480"/>
            <a:ext cx="4572000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• —F 치환 → 스코어 향상 (전기음성도 효과)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• —OH &gt; —NH₂ (수소결합 수용 능력)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• —OCH₃ → 스코어 하락 (입체 장애)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• LE &gt; 0.3인 화합물만 리드 후보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→ SAR 노트북으로 이 분석을 자동화!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3200" b="1">
                <a:solidFill>
                  <a:srgbClr val="212121"/>
                </a:solidFill>
                <a:latin typeface="맑은 고딕"/>
              </a:defRPr>
            </a:pPr>
            <a:r>
              <a:t>실습 6: 클러스터링 &amp; 화학 공간 시각화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212121"/>
                </a:solidFill>
                <a:latin typeface="맑은 고딕"/>
              </a:defRPr>
            </a:pPr>
            <a:r>
              <a:t>화합물 클러스터링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029200" cy="274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1. Chemistry → Cluster Compounds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   Descriptor: SkelSpheres (topological, 2D)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   Algorithm: Complete Linkage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   → 구조적으로 유사한 화합물끼리 그룹화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2. 우클릭 → New View → Scatter Plot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   Color by: Cluster No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   Size by: minimizedAffinity (|value|)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   → 클러스터별 스코어 패턴 확인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3. 대표 화합물 선별: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   각 클러스터에서 best score 화합물 선택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   → 다양한 scaffold 확보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5029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212121"/>
                </a:solidFill>
                <a:latin typeface="맑은 고딕"/>
              </a:defRPr>
            </a:pPr>
            <a:r>
              <a:t>PCA / t-SNE 화학 공간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37759"/>
            <a:ext cx="5029200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1. Chemistry → Principal Component Analysis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   Descriptor: FragFp 또는 SkelSpheres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2. 자동으로 PCA scatter plot 생성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   Color by: minimizedAffinity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   → 화학 공간에서의 위치와 활성 관계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188720"/>
            <a:ext cx="5029200" cy="5029200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325880"/>
            <a:ext cx="45720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F8F00"/>
                </a:solidFill>
                <a:latin typeface="맑은 고딕"/>
              </a:defRPr>
            </a:pPr>
            <a:r>
              <a:t>실습 7: Kinase Panel 결과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737360"/>
            <a:ext cx="457200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1. File → Open → all_docking_scores.csv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2. Box Plot: kinase별 스코어 비교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 Category: kinase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 Value: minimizedAffinity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 Color by: group (TK/CMGC/TKL/AGC)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3. Heatmap: Cross-docking 매트릭스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 File → Open → crossdock_matrix.csv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 → Correlation Matrix 뷰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4. 선택성 분석: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 kinase별 best score 비교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 → 선택적 리간드 식별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5. 선별된 화합물 SDF 내보내기: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 행 선택 → File → Save Special → SD-File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12121"/>
                </a:solidFill>
                <a:latin typeface="맑은 고딕"/>
              </a:defRPr>
            </a:pPr>
            <a:r>
              <a:t>   → PyMOL에서 3D 확인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3200" b="1">
                <a:solidFill>
                  <a:srgbClr val="212121"/>
                </a:solidFill>
                <a:latin typeface="맑은 고딕"/>
              </a:defRPr>
            </a:pPr>
            <a:r>
              <a:t>실습 5b: R-Group Decomposition 상세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FF8F00"/>
                </a:solidFill>
                <a:latin typeface="맑은 고딕"/>
              </a:defRPr>
            </a:pPr>
            <a:r>
              <a:t>DataWarrior의 핵심 SAR 기능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14300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212121"/>
                </a:solidFill>
                <a:latin typeface="맑은 고딕"/>
              </a:defRPr>
            </a:pPr>
            <a:r>
              <a:t>R-Group Decomposition 단계별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50292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Step 1: 메뉴 접근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   Chemistry → From Chemical Structure →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   R-Group Decomposition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Step 2: Core Structure 설정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   • 자동 MCS (Maximum Common Substructure)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   • 또는 수동으로 SMARTS 패턴 입력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   • R-group 위치를 [*] 로 지정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Step 3: 분해 결과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   • R1, R2, R3... 별도 컬럼 생성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   • 각 R-group에 구조가 표시됨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Step 4: 시각화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   • Scatter Plot: R1 vs Score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   • Box Plot: R1 별 Score 분포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   • Heatmap: R1 x R2 조합 Score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Step 5: 인사이트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   • 어떤 R-group이 스코어를 높이는가?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   • R1과 R2의 조합 효과는?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   • 최적 조합 → 새 화합물 설계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17320"/>
            <a:ext cx="50292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554480"/>
            <a:ext cx="45720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212121"/>
                </a:solidFill>
                <a:latin typeface="맑은 고딕"/>
              </a:defRPr>
            </a:pPr>
            <a:r>
              <a:t>Matched Molecular Pair (MMP)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965960"/>
            <a:ext cx="4572000" cy="228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구조가 하나의 변환만 다른 쌍을 분석: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1. Chemistry → Analyze SAR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   → Matched Molecular Pairs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2. 자동으로 "이 치환을 하면 스코어가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   평균 X kcal/mol 변한다" 를 계산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예시: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  —H → —F :  평균 -0.8 kcal/mol 개선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  —H → —Cl:  평균 -0.5 kcal/mol 개선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  —H → —OCH₃: 평균 +0.3 kcal/mol 악화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4434840"/>
            <a:ext cx="45720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212121"/>
                </a:solidFill>
                <a:latin typeface="맑은 고딕"/>
              </a:defRPr>
            </a:pPr>
            <a:r>
              <a:t>Scaffold Hopping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4800600"/>
            <a:ext cx="4572000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• Chemistry → Find Similar Compounds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  → 같은 R-group, 다른 core scaffold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  → 특허 회피 / 새로운 series 발견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• Similarity Map으로 유사 scaffold 시각화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3200" b="1">
                <a:solidFill>
                  <a:srgbClr val="212121"/>
                </a:solidFill>
                <a:latin typeface="맑은 고딕"/>
              </a:defRPr>
            </a:pPr>
            <a:r>
              <a:t>실습 8: DataWarrior → PyMOL 연동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FF8F00"/>
                </a:solidFill>
                <a:latin typeface="맑은 고딕"/>
              </a:defRPr>
            </a:pPr>
            <a:r>
              <a:t>선별한 화합물을 3D로 확인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25603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2560320" cy="54864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Colab/Docker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219456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도킹 실행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SDF + CSV 생성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57400"/>
            <a:ext cx="4572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  <a:defRPr sz="2600" b="1">
                <a:solidFill>
                  <a:srgbClr val="FF8F00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417320"/>
            <a:ext cx="25603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37560" y="1417320"/>
            <a:ext cx="2560320" cy="548640"/>
          </a:xfrm>
          <a:prstGeom prst="round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DataWarrior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103120"/>
            <a:ext cx="219456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스코어 필터링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SAR 분석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관심 포즈 선별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2057400"/>
            <a:ext cx="4572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  <a:defRPr sz="2600" b="1">
                <a:solidFill>
                  <a:srgbClr val="FF8F00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17320"/>
            <a:ext cx="25603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2560320" cy="548640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SDF Export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03120"/>
            <a:ext cx="219456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File → Save Special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→ SD-File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선별된 포즈만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057400"/>
            <a:ext cx="4572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  <a:defRPr sz="2600" b="1">
                <a:solidFill>
                  <a:srgbClr val="FF8F00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417320"/>
            <a:ext cx="25603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98280" y="1417320"/>
            <a:ext cx="2560320" cy="54864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PyMOL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2103120"/>
            <a:ext cx="219456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3D 시각화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상호작용 확인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757575"/>
                </a:solidFill>
                <a:latin typeface="맑은 고딕"/>
              </a:defRPr>
            </a:pPr>
            <a:r>
              <a:t>이미지 저장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520440"/>
            <a:ext cx="5029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212121"/>
                </a:solidFill>
                <a:latin typeface="맑은 고딕"/>
              </a:defRPr>
            </a:pPr>
            <a:r>
              <a:t>DataWarrior에서 선별 &amp; 내보내기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886200"/>
            <a:ext cx="5029200" cy="274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1. 필터로 관심 화합물 선별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   (예: Score &lt; -8, LE &gt; 0.3, Lipinski 통과)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2. 선별된 행 선택 (Ctrl+클릭 또는 필터 적용)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3. File → Save Special → SD-File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   → selected_poses.sdf 저장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400" b="0">
                <a:solidFill>
                  <a:srgbClr val="212121"/>
                </a:solidFill>
                <a:latin typeface="맑은 고딕"/>
              </a:defRPr>
            </a:pPr>
            <a:r>
              <a:t>4. PyMOL에서 이 SDF를 단백질과 함께 로드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520440"/>
            <a:ext cx="5029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212121"/>
                </a:solidFill>
                <a:latin typeface="맑은 고딕"/>
              </a:defRPr>
            </a:pPr>
            <a:r>
              <a:t>PyMOL에서 선별 포즈 보기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886200"/>
            <a:ext cx="5029200" cy="274320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>
            <a:normAutofit/>
          </a:bodyPr>
          <a:lstStyle/>
          <a:p>
            <a:pPr algn="ctr"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단백질 로드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load protein_H.pdb, protein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show cartoon, protein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color white, protein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DataWarrior에서 선별한 포즈 로드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load selected_poses.sdf, hits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show sticks, hits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color green, hits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결합 부위 &amp; 수소 결합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select pocket, protein within 5 of hits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show sticks, pocket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distance hb, hits, pocket, mode=2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zoom hits, 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3200" b="1">
                <a:solidFill>
                  <a:srgbClr val="212121"/>
                </a:solidFill>
                <a:latin typeface="맑은 고딕"/>
              </a:defRPr>
            </a:pPr>
            <a:r>
              <a:t>실습 9: SAR 도킹 노트북 연동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FF8F00"/>
                </a:solidFill>
                <a:latin typeface="맑은 고딕"/>
              </a:defRPr>
            </a:pPr>
            <a:r>
              <a:t>SAR_Docking_Analysis.ipynb — 자동화된 SAR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5029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212121"/>
                </a:solidFill>
                <a:latin typeface="맑은 고딕"/>
              </a:defRPr>
            </a:pPr>
            <a:r>
              <a:t>노트북 워크플로우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11480" cy="41148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01368"/>
            <a:ext cx="1828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212121"/>
                </a:solidFill>
                <a:latin typeface="맑은 고딕"/>
              </a:defRPr>
            </a:pPr>
            <a:r>
              <a:t>SMILES 시리즈 입력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828800"/>
            <a:ext cx="2743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757575"/>
                </a:solidFill>
                <a:latin typeface="맑은 고딕"/>
              </a:defRPr>
            </a:pPr>
            <a:r>
              <a:t>Core scaffold + R-group 치환체 정의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14600"/>
            <a:ext cx="411480" cy="41148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532888"/>
            <a:ext cx="1828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212121"/>
                </a:solidFill>
                <a:latin typeface="맑은 고딕"/>
              </a:defRPr>
            </a:pPr>
            <a:r>
              <a:t>3D 구조 생성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560320"/>
            <a:ext cx="2743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757575"/>
                </a:solidFill>
                <a:latin typeface="맑은 고딕"/>
              </a:defRPr>
            </a:pPr>
            <a:r>
              <a:t>RDKit으로 SMILES → 3D 좌표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46120"/>
            <a:ext cx="411480" cy="411480"/>
          </a:xfrm>
          <a:prstGeom prst="round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264408"/>
            <a:ext cx="1828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212121"/>
                </a:solidFill>
                <a:latin typeface="맑은 고딕"/>
              </a:defRPr>
            </a:pPr>
            <a:r>
              <a:t>자동 도킹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291840"/>
            <a:ext cx="2743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757575"/>
                </a:solidFill>
                <a:latin typeface="맑은 고딕"/>
              </a:defRPr>
            </a:pPr>
            <a:r>
              <a:t>smina로 전체 시리즈 일괄 도킹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77640"/>
            <a:ext cx="411480" cy="411480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995928"/>
            <a:ext cx="1828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212121"/>
                </a:solidFill>
                <a:latin typeface="맑은 고딕"/>
              </a:defRPr>
            </a:pPr>
            <a:r>
              <a:t>SAR Table 생성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023360"/>
            <a:ext cx="2743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757575"/>
                </a:solidFill>
                <a:latin typeface="맑은 고딕"/>
              </a:defRPr>
            </a:pPr>
            <a:r>
              <a:t>Score, LE, MW, cLogP 자동 계산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709160"/>
            <a:ext cx="411480" cy="411480"/>
          </a:xfrm>
          <a:prstGeom prst="roundRect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727448"/>
            <a:ext cx="1828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212121"/>
                </a:solidFill>
                <a:latin typeface="맑은 고딕"/>
              </a:defRPr>
            </a:pPr>
            <a:r>
              <a:t>결과 내보내기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4754880"/>
            <a:ext cx="2743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757575"/>
                </a:solidFill>
                <a:latin typeface="맑은 고딕"/>
              </a:defRPr>
            </a:pPr>
            <a:r>
              <a:t>SDF (DataWarrior) + CSV + PyMOL 스크립트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417320"/>
            <a:ext cx="5029200" cy="502920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>
            <a:normAutofit/>
          </a:bodyPr>
          <a:lstStyle/>
          <a:p>
            <a:pPr algn="ctr"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SAR 시리즈 정의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CORE_NAME = "Quinazoline"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LIGANDS = [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  {"name": "Cpd_01", "R1": "H",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   "R2": "OH",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   "smiles": "c1ccc2ncnc(Nc3ccccc3)c2c1"},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  {"name": "Cpd_02", "R1": "F",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   "R2": "OH",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   "smiles": "c1ccc2ncnc(Nc3ccc(F)cc3)c2c1"},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  {"name": "Cpd_03", "R1": "Cl",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   "R2": "OH",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   "smiles": "c1ccc2ncnc(Nc3ccc(Cl)cc3)c2c1"},</a:t>
            </a: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  # ... 추가 화합물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]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타겟 설정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TARGET_PDB = "6nzp"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  <a:r>
              <a:t>TARGET_CHAIN = "A"</a:t>
            </a:r>
          </a:p>
          <a:p>
            <a:pPr>
              <a:spcAft>
                <a:spcPts val="0"/>
              </a:spcAft>
              <a:defRPr sz="12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→ 자동 실행 결과:</a:t>
            </a: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sar_results.sdf   → DataWarrior</a:t>
            </a: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sar_table.csv     → 스프레드시트</a:t>
            </a:r>
          </a:p>
          <a:p>
            <a:pPr>
              <a:spcAft>
                <a:spcPts val="0"/>
              </a:spcAft>
              <a:defRPr sz="1200">
                <a:solidFill>
                  <a:srgbClr val="6A9955"/>
                </a:solidFill>
                <a:latin typeface="Consolas"/>
              </a:defRPr>
            </a:pPr>
            <a:r>
              <a:t># sar_pymol.pml     → PyMOL 스크립트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전체 워크플로우 요약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2560320" cy="1828800"/>
          </a:xfrm>
          <a:prstGeom prst="roundRect">
            <a:avLst/>
          </a:prstGeom>
          <a:solidFill>
            <a:srgbClr val="2A2A3E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2560320" cy="54864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Colab/Docker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201168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BBBB"/>
                </a:solidFill>
                <a:latin typeface="맑은 고딕"/>
              </a:defRPr>
            </a:pPr>
            <a:r>
              <a:t>도킹 실행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BBBBBB"/>
                </a:solidFill>
                <a:latin typeface="맑은 고딕"/>
              </a:defRPr>
            </a:pPr>
            <a:r>
              <a:t>SDF + CSV 생성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828800"/>
            <a:ext cx="4572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  <a:defRPr sz="2400" b="1">
                <a:solidFill>
                  <a:srgbClr val="1E88E5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280160"/>
            <a:ext cx="2560320" cy="1828800"/>
          </a:xfrm>
          <a:prstGeom prst="roundRect">
            <a:avLst/>
          </a:prstGeom>
          <a:solidFill>
            <a:srgbClr val="2A2A3E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83280" y="1280160"/>
            <a:ext cx="2560320" cy="548640"/>
          </a:xfrm>
          <a:prstGeom prst="round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DataWarrior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011680"/>
            <a:ext cx="201168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BBBB"/>
                </a:solidFill>
                <a:latin typeface="맑은 고딕"/>
              </a:defRPr>
            </a:pPr>
            <a:r>
              <a:t>속성 계산 / 필터링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BBBBBB"/>
                </a:solidFill>
                <a:latin typeface="맑은 고딕"/>
              </a:defRPr>
            </a:pPr>
            <a:r>
              <a:t>SAR / Activity Cliff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1828800"/>
            <a:ext cx="4572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  <a:defRPr sz="2400" b="1">
                <a:solidFill>
                  <a:srgbClr val="FF8F00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280160"/>
            <a:ext cx="2560320" cy="1828800"/>
          </a:xfrm>
          <a:prstGeom prst="roundRect">
            <a:avLst/>
          </a:prstGeom>
          <a:solidFill>
            <a:srgbClr val="2A2A3E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1280160"/>
            <a:ext cx="2560320" cy="54864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PyMOL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011680"/>
            <a:ext cx="201168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BBBB"/>
                </a:solidFill>
                <a:latin typeface="맑은 고딕"/>
              </a:defRPr>
            </a:pPr>
            <a:r>
              <a:t>3D 구조 검증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BBBBBB"/>
                </a:solidFill>
                <a:latin typeface="맑은 고딕"/>
              </a:defRPr>
            </a:pPr>
            <a:r>
              <a:t>상호작용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1828800"/>
            <a:ext cx="4572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  <a:defRPr sz="2400" b="1">
                <a:solidFill>
                  <a:srgbClr val="00897B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280160"/>
            <a:ext cx="2560320" cy="1828800"/>
          </a:xfrm>
          <a:prstGeom prst="roundRect">
            <a:avLst/>
          </a:prstGeom>
          <a:solidFill>
            <a:srgbClr val="2A2A3E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235440" y="1280160"/>
            <a:ext cx="2560320" cy="548640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SAR 노트북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2011680"/>
            <a:ext cx="201168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BBBB"/>
                </a:solidFill>
                <a:latin typeface="맑은 고딕"/>
              </a:defRPr>
            </a:pPr>
            <a:r>
              <a:t>리간드 시리즈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BBBBBB"/>
                </a:solidFill>
                <a:latin typeface="맑은 고딕"/>
              </a:defRPr>
            </a:pPr>
            <a:r>
              <a:t>자동 도킹 + SAR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657600"/>
            <a:ext cx="10058400" cy="274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AAAAAA"/>
                </a:solidFill>
                <a:latin typeface="맑은 고딕"/>
              </a:defRPr>
            </a:pPr>
            <a:r>
              <a:t>핵심 메시지</a:t>
            </a:r>
          </a:p>
          <a:p>
            <a:pPr algn="l">
              <a:spcAft>
                <a:spcPts val="200"/>
              </a:spcAft>
              <a:defRPr sz="1600" b="0">
                <a:solidFill>
                  <a:srgbClr val="AAAAAA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600" b="0">
                <a:solidFill>
                  <a:srgbClr val="AAAAAA"/>
                </a:solidFill>
                <a:latin typeface="맑은 고딕"/>
              </a:defRPr>
            </a:pPr>
            <a:r>
              <a:t>• 스코어만 보지 말고 구조를 보세요 (PyMOL)</a:t>
            </a:r>
          </a:p>
          <a:p>
            <a:pPr algn="l">
              <a:spcAft>
                <a:spcPts val="200"/>
              </a:spcAft>
              <a:defRPr sz="1600" b="0">
                <a:solidFill>
                  <a:srgbClr val="AAAAAA"/>
                </a:solidFill>
                <a:latin typeface="맑은 고딕"/>
              </a:defRPr>
            </a:pPr>
            <a:r>
              <a:t>• 구조만 보지 말고 데이터를 보세요 (DataWarrior)</a:t>
            </a:r>
          </a:p>
          <a:p>
            <a:pPr algn="l">
              <a:spcAft>
                <a:spcPts val="200"/>
              </a:spcAft>
              <a:defRPr sz="1600" b="0">
                <a:solidFill>
                  <a:srgbClr val="AAAAAA"/>
                </a:solidFill>
                <a:latin typeface="맑은 고딕"/>
              </a:defRPr>
            </a:pPr>
            <a:r>
              <a:t>• 두 관점을 결합하면 더 좋은 리드를 찾을 수 있습니다</a:t>
            </a:r>
          </a:p>
          <a:p>
            <a:pPr algn="l">
              <a:spcAft>
                <a:spcPts val="200"/>
              </a:spcAft>
              <a:defRPr sz="1600" b="0">
                <a:solidFill>
                  <a:srgbClr val="AAAAAA"/>
                </a:solidFill>
                <a:latin typeface="맑은 고딕"/>
              </a:defRPr>
            </a:pPr>
            <a:r>
              <a:t>• SAR 노트북으로 반복 최적화 → 스코어와 LE를 개선</a:t>
            </a:r>
          </a:p>
          <a:p>
            <a:pPr algn="l">
              <a:spcAft>
                <a:spcPts val="200"/>
              </a:spcAft>
              <a:defRPr sz="1600" b="0">
                <a:solidFill>
                  <a:srgbClr val="AAAAAA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600" b="0">
                <a:solidFill>
                  <a:srgbClr val="AAAAAA"/>
                </a:solidFill>
                <a:latin typeface="맑은 고딕"/>
              </a:defRPr>
            </a:pPr>
            <a:r>
              <a:t>리포트 생성 &amp; 내보내기:</a:t>
            </a:r>
          </a:p>
          <a:p>
            <a:pPr algn="l">
              <a:spcAft>
                <a:spcPts val="200"/>
              </a:spcAft>
              <a:defRPr sz="1600" b="0">
                <a:solidFill>
                  <a:srgbClr val="AAAAAA"/>
                </a:solidFill>
                <a:latin typeface="맑은 고딕"/>
              </a:defRPr>
            </a:pPr>
            <a:r>
              <a:t>• DataWarrior: File → Save → .dwar (세션 저장)</a:t>
            </a:r>
          </a:p>
          <a:p>
            <a:pPr algn="l">
              <a:spcAft>
                <a:spcPts val="200"/>
              </a:spcAft>
              <a:defRPr sz="1600" b="0">
                <a:solidFill>
                  <a:srgbClr val="AAAAAA"/>
                </a:solidFill>
                <a:latin typeface="맑은 고딕"/>
              </a:defRPr>
            </a:pPr>
            <a:r>
              <a:t>• 차트 우클릭 → Copy/Save Image (PNG/SVG)</a:t>
            </a:r>
          </a:p>
          <a:p>
            <a:pPr algn="l">
              <a:spcAft>
                <a:spcPts val="200"/>
              </a:spcAft>
              <a:defRPr sz="1600" b="0">
                <a:solidFill>
                  <a:srgbClr val="AAAAAA"/>
                </a:solidFill>
                <a:latin typeface="맑은 고딕"/>
              </a:defRPr>
            </a:pPr>
            <a:r>
              <a:t>• 선별 화합물 → SDF → PyMOL에서 확인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