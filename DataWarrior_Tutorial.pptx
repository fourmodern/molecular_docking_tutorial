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4800" b="1">
                <a:solidFill>
                  <a:srgbClr val="FFFFFF"/>
                </a:solidFill>
                <a:latin typeface="맑은 고딕"/>
              </a:defRPr>
            </a:pPr>
            <a:r>
              <a:t>DataWarrior 도킹 결과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0">
                <a:solidFill>
                  <a:srgbClr val="FF8F00"/>
                </a:solidFill>
                <a:latin typeface="맑은 고딕"/>
              </a:defRPr>
            </a:pPr>
            <a:r>
              <a:t>스코어 시각화, SAR 분석, 화합물 선별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실습 1.  SDF 열기 &amp; 속성 계산</a:t>
            </a:r>
          </a:p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실습 2.  스코어 시각화</a:t>
            </a:r>
          </a:p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실습 3.  Lipinski 필터</a:t>
            </a:r>
          </a:p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실습 4.  SAR Table</a:t>
            </a:r>
          </a:p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실습 5.  PyMOL 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126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무료: openmolecules.org/datawarrior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400" b="1">
                <a:solidFill>
                  <a:srgbClr val="212121"/>
                </a:solidFill>
                <a:latin typeface="맑은 고딕"/>
              </a:defRPr>
            </a:pPr>
            <a:r>
              <a:t>DataWarrior 인터페이스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265176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2651760" cy="59436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테이블 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5740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분자 구조 + 속성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행=화합물, 열=속성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정렬/필터 가능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280160"/>
            <a:ext cx="265176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37560" y="1280160"/>
            <a:ext cx="2651760" cy="59436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차트 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205740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Scatter, Box, Histogram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우클릭 → New View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265176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1280160"/>
            <a:ext cx="2651760" cy="59436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필터 패널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05740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슬라이더로 실시간 필터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구조 검색도 가능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98280" y="1280160"/>
            <a:ext cx="265176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098280" y="1280160"/>
            <a:ext cx="2651760" cy="594360"/>
          </a:xfrm>
          <a:prstGeom prst="round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구조 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72600" y="205740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2D 구조 자동 렌더링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더블클릭 → 확대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805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212121"/>
                </a:solidFill>
                <a:latin typeface="맑은 고딕"/>
              </a:defRPr>
            </a:pPr>
            <a:r>
              <a:t>열 수 있는 파일 형식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46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SDF: 2D/3D 구조 포함, 모든 Chemistry 기능 사용 가능  |  CSV: 숫자/텍스트만, 빠른 로드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Colab 결과: sar_results.sdf, docking_scores.csv, crossdock_matrix.csv 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400" b="1">
                <a:solidFill>
                  <a:srgbClr val="212121"/>
                </a:solidFill>
                <a:latin typeface="맑은 고딕"/>
              </a:defRPr>
            </a:pPr>
            <a:r>
              <a:t>실습 1: SDF 열기 &amp; 분자 속성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Step 1: SDF 파일 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1. File → Open → sar_results.sdf 선택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2. 구조 + 속성 테이블 자동 로드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3. Score 컬럼 헤더 클릭 → 정렬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Step 2: 속성 계산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66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FF8F00"/>
                </a:solidFill>
                <a:latin typeface="맑은 고딕"/>
              </a:defRPr>
            </a:pPr>
            <a:r>
              <a:t>Chemistry → Calculate Properties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MW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4023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분자량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cLogP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4389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소수성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HBA/HBD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4754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수소결합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20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RotBonds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5120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회전 결합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486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TPSA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5486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극성 표면적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852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Drug-Likeness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5852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약물 유사성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1280160"/>
            <a:ext cx="5029200" cy="4846320"/>
          </a:xfrm>
          <a:prstGeom prst="roundRect">
            <a:avLst/>
          </a:prstGeom>
          <a:solidFill>
            <a:srgbClr val="FFF8E1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14173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FF8F00"/>
                </a:solidFill>
                <a:latin typeface="맑은 고딕"/>
              </a:defRPr>
            </a:pPr>
            <a:r>
              <a:t>4가지 차트 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1920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FF8F00"/>
                </a:solidFill>
                <a:latin typeface="맑은 고딕"/>
              </a:defRPr>
            </a:pPr>
            <a:r>
              <a:t>Histogram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21945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스코어 분포 확인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-7 이하 = 좋은 결합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2926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FF8F00"/>
                </a:solidFill>
                <a:latin typeface="맑은 고딕"/>
              </a:defRPr>
            </a:pPr>
            <a:r>
              <a:t>Scatter Plot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2004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Score vs MW, cLogP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상관관계 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931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FF8F00"/>
                </a:solidFill>
                <a:latin typeface="맑은 고딕"/>
              </a:defRPr>
            </a:pPr>
            <a:r>
              <a:t>Box Plot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2062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Vina vs smina 비교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중앙값, 사분위수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9377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FF8F00"/>
                </a:solidFill>
                <a:latin typeface="맑은 고딕"/>
              </a:defRPr>
            </a:pPr>
            <a:r>
              <a:t>Correlation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52120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다중 속성 상관관계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Score vs LE vs MW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400" b="1">
                <a:solidFill>
                  <a:srgbClr val="212121"/>
                </a:solidFill>
                <a:latin typeface="맑은 고딕"/>
              </a:defRPr>
            </a:pPr>
            <a:r>
              <a:t>실습 2: Lipinski Rule of Five 필터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02920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9728" cy="54864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371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212121"/>
                </a:solidFill>
                <a:latin typeface="맑은 고딕"/>
              </a:defRPr>
            </a:pPr>
            <a:r>
              <a:t>MW &lt; 500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3716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분자량이 크면 흡수 불량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920240"/>
            <a:ext cx="502920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920240"/>
            <a:ext cx="109728" cy="54864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0116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212121"/>
                </a:solidFill>
                <a:latin typeface="맑은 고딕"/>
              </a:defRPr>
            </a:pPr>
            <a:r>
              <a:t>cLogP &lt;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011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소수성이면 용해도 문제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560320"/>
            <a:ext cx="502920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560320"/>
            <a:ext cx="109728" cy="54864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6517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212121"/>
                </a:solidFill>
                <a:latin typeface="맑은 고딕"/>
              </a:defRPr>
            </a:pPr>
            <a:r>
              <a:t>HBD ≤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6517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공여체 5개 이하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200399"/>
            <a:ext cx="502920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200399"/>
            <a:ext cx="109728" cy="54864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29183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212121"/>
                </a:solidFill>
                <a:latin typeface="맑은 고딕"/>
              </a:defRPr>
            </a:pPr>
            <a:r>
              <a:t>HBA ≤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29183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수용체 10개 이하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1148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DataWarrior에서 필터 설정: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1. Calculate Properties로 속성 계산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2. 필터 패널 슬라이더 조절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3. 위반 화합물 자동 회색 처리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1280160"/>
            <a:ext cx="5029200" cy="4846320"/>
          </a:xfrm>
          <a:prstGeom prst="roundRect">
            <a:avLst/>
          </a:prstGeom>
          <a:solidFill>
            <a:srgbClr val="FFF8E1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14173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FF8F00"/>
                </a:solidFill>
                <a:latin typeface="맑은 고딕"/>
              </a:defRPr>
            </a:pPr>
            <a:r>
              <a:t>확장 필터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1920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TPSA &lt; 140 A²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1920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경구 흡수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2423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RotBonds ≤ 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2423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유연성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2926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Drug-Likeness &gt; 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2926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약물 유사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429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LE &gt; 0.3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3429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효율적 결합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40233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FF8F00"/>
                </a:solidFill>
                <a:latin typeface="맑은 고딕"/>
              </a:defRPr>
            </a:pPr>
            <a:r>
              <a:t>Toxicity Risk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438912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Chemistry → Predict Properties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→ Mutagenicity, Tumorigenicity,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  Irritant, Reproductive Effect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→ 독성 위험 화합물 사전 제거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400" b="1">
                <a:solidFill>
                  <a:srgbClr val="212121"/>
                </a:solidFill>
                <a:latin typeface="맑은 고딕"/>
              </a:defRPr>
            </a:pPr>
            <a:r>
              <a:t>실습 3: SAR Table &amp; Activity Cliff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00897B"/>
                </a:solidFill>
                <a:latin typeface="맑은 고딕"/>
              </a:defRPr>
            </a:pPr>
            <a:r>
              <a:t>구조-활성 관계 도출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SAR Table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1. SDF 열기 (SAR 노트북 결과)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2. Chemistry → R-Group Decomposition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→ Core structure 자동 감지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→ R-group별 분해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3. Scatter Plot: R1 vs Score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→ 치환체에 따른 스코어 변화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23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Activity Cliff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891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구조 비슷 + 스코어 크게 다른 쌍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= SAR의 핵심 발견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1. Chemistry → Similarity Analysis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2. Structure-Activity Landscape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3. 핵심 약효 그룹 발견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→ PyMOL에서 두 포즈 비교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463040"/>
            <a:ext cx="50292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6002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SAR Table 예시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011680"/>
            <a:ext cx="1005840" cy="32004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2011680"/>
            <a:ext cx="1005840" cy="32004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0" y="2011680"/>
            <a:ext cx="822960" cy="32004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Score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09760" y="2011680"/>
            <a:ext cx="731520" cy="32004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0" y="2377440"/>
            <a:ext cx="100584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—H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2377440"/>
            <a:ext cx="100584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—H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2377440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-7.2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09760" y="2377440"/>
            <a:ext cx="73152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0.33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0" y="2724912"/>
            <a:ext cx="100584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—F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80960" y="2724912"/>
            <a:ext cx="100584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—H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0" y="2724912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-8.5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9760" y="2724912"/>
            <a:ext cx="73152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0.39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0" y="3072384"/>
            <a:ext cx="100584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—Cl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3072384"/>
            <a:ext cx="100584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—H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0" y="3072384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-8.1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09760" y="3072384"/>
            <a:ext cx="73152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0.34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0" y="3419856"/>
            <a:ext cx="100584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—CH₃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80960" y="3419856"/>
            <a:ext cx="100584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—H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0" y="3419856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-7.8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60" y="3419856"/>
            <a:ext cx="73152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0.33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0" y="3767328"/>
            <a:ext cx="100584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—F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80960" y="3767328"/>
            <a:ext cx="100584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—OH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0" y="3767328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-9.1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09760" y="3767328"/>
            <a:ext cx="73152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0.42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0" y="4114800"/>
            <a:ext cx="100584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—OCH₃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680960" y="4114800"/>
            <a:ext cx="100584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—H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686800" y="4114800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-6.9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60" y="4114800"/>
            <a:ext cx="73152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0.27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46634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FF8F00"/>
                </a:solidFill>
                <a:latin typeface="맑은 고딕"/>
              </a:defRPr>
            </a:pPr>
            <a:r>
              <a:t>SAR 인사이트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502920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• —F → 스코어 향상 (전기음성도)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• —OH 추가 → 추가 H-bond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• —OCH₃ → 입체 장애로 하락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• LE&gt;0.3 화합물만 리드 후보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400" b="1">
                <a:solidFill>
                  <a:srgbClr val="212121"/>
                </a:solidFill>
                <a:latin typeface="맑은 고딕"/>
              </a:defRPr>
            </a:pPr>
            <a:r>
              <a:t>실습 4: DataWarrior → PyMOL 연동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2004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3200400" cy="54864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DataWarrior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9659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필터링 + SAR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관심 포즈 선별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7373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800" b="1">
                <a:solidFill>
                  <a:srgbClr val="FF8F00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280160"/>
            <a:ext cx="32004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0" y="1280160"/>
            <a:ext cx="3200400" cy="54864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SDF Export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9659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Save Special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→ SD-File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17373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800" b="1">
                <a:solidFill>
                  <a:srgbClr val="FF8F00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1280160"/>
            <a:ext cx="32004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80" y="1280160"/>
            <a:ext cx="3200400" cy="54864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PyMOL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19659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3D 확인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상호작용 분석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26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DataWarrior에서 선별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2918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1. 필터: Score &lt; -8, LE &gt; 0.3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2. 행 선택 (Ctrl+클릭)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3. File → Save Special → SD-File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→ selected_poses.sdf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926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PyMOL에서 보기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3291840"/>
            <a:ext cx="5029200" cy="292608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/>
          <a:lstStyle/>
          <a:p>
            <a:pPr algn="ctr">
              <a:spcAft>
                <a:spcPts val="0"/>
              </a:spcAft>
              <a:defRPr sz="1300">
                <a:solidFill>
                  <a:srgbClr val="6A9955"/>
                </a:solidFill>
                <a:latin typeface="Consolas"/>
              </a:defRPr>
            </a:pPr>
            <a:r>
              <a:t># 단백질 + 선별 포즈 로드</a:t>
            </a:r>
          </a:p>
          <a:p>
            <a:pPr>
              <a:spcAft>
                <a:spcPts val="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load protein_H.pdb, protein</a:t>
            </a:r>
          </a:p>
          <a:p>
            <a:pPr>
              <a:spcAft>
                <a:spcPts val="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load selected_poses.sdf, hits</a:t>
            </a:r>
          </a:p>
          <a:p>
            <a:pPr>
              <a:spcAft>
                <a:spcPts val="0"/>
              </a:spcAft>
              <a:defRPr sz="13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show cartoon, protein</a:t>
            </a:r>
          </a:p>
          <a:p>
            <a:pPr>
              <a:spcAft>
                <a:spcPts val="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color white, protein</a:t>
            </a:r>
          </a:p>
          <a:p>
            <a:pPr>
              <a:spcAft>
                <a:spcPts val="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show sticks, hits</a:t>
            </a:r>
          </a:p>
          <a:p>
            <a:pPr>
              <a:spcAft>
                <a:spcPts val="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color green, hits</a:t>
            </a:r>
          </a:p>
          <a:p>
            <a:pPr>
              <a:spcAft>
                <a:spcPts val="0"/>
              </a:spcAft>
              <a:defRPr sz="13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300">
                <a:solidFill>
                  <a:srgbClr val="6A9955"/>
                </a:solidFill>
                <a:latin typeface="Consolas"/>
              </a:defRPr>
            </a:pPr>
            <a:r>
              <a:t># 결합 부위 + H-bond</a:t>
            </a:r>
          </a:p>
          <a:p>
            <a:pPr>
              <a:spcAft>
                <a:spcPts val="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select pocket, protein within 5 of hits</a:t>
            </a:r>
          </a:p>
          <a:p>
            <a:pPr>
              <a:spcAft>
                <a:spcPts val="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show sticks, pocket</a:t>
            </a:r>
          </a:p>
          <a:p>
            <a:pPr>
              <a:spcAft>
                <a:spcPts val="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distance hb, hits, pocket, mode=2</a:t>
            </a:r>
          </a:p>
          <a:p>
            <a:pPr>
              <a:spcAft>
                <a:spcPts val="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zoom hits,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전체 워크플로우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2560320" cy="1645920"/>
          </a:xfrm>
          <a:prstGeom prst="roundRect">
            <a:avLst/>
          </a:prstGeom>
          <a:solidFill>
            <a:srgbClr val="2A2A3E"/>
          </a:solidFill>
          <a:ln w="127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2560320" cy="54864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Colab/Docker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BBBBBB"/>
                </a:solidFill>
                <a:latin typeface="맑은 고딕"/>
              </a:defRPr>
            </a:pPr>
            <a:r>
              <a:t>도킹 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828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400" b="1">
                <a:solidFill>
                  <a:srgbClr val="1E88E5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280160"/>
            <a:ext cx="2560320" cy="1645920"/>
          </a:xfrm>
          <a:prstGeom prst="roundRect">
            <a:avLst/>
          </a:prstGeom>
          <a:solidFill>
            <a:srgbClr val="2A2A3E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83280" y="1280160"/>
            <a:ext cx="2560320" cy="54864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DataWarrior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0116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BBBBBB"/>
                </a:solidFill>
                <a:latin typeface="맑은 고딕"/>
              </a:defRPr>
            </a:pPr>
            <a:r>
              <a:t>데이터 분석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1828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400" b="1">
                <a:solidFill>
                  <a:srgbClr val="FF8F00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280160"/>
            <a:ext cx="2560320" cy="1645920"/>
          </a:xfrm>
          <a:prstGeom prst="roundRect">
            <a:avLst/>
          </a:prstGeom>
          <a:solidFill>
            <a:srgbClr val="2A2A3E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0" y="1280160"/>
            <a:ext cx="2560320" cy="54864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PyMOL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0116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BBBBBB"/>
                </a:solidFill>
                <a:latin typeface="맑은 고딕"/>
              </a:defRPr>
            </a:pPr>
            <a:r>
              <a:t>구조 검증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1828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400" b="1">
                <a:solidFill>
                  <a:srgbClr val="00897B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280160"/>
            <a:ext cx="2560320" cy="1645920"/>
          </a:xfrm>
          <a:prstGeom prst="roundRect">
            <a:avLst/>
          </a:prstGeom>
          <a:solidFill>
            <a:srgbClr val="2A2A3E"/>
          </a:solidFill>
          <a:ln w="1270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235440" y="1280160"/>
            <a:ext cx="2560320" cy="54864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SAR 노트북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20116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BBBBBB"/>
                </a:solidFill>
                <a:latin typeface="맑은 고딕"/>
              </a:defRPr>
            </a:pPr>
            <a:r>
              <a:t>자동화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47472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핵심 메시지</a:t>
            </a:r>
          </a:p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• 스코어만 보지 말고 구조를 보세요 (PyMOL)</a:t>
            </a:r>
          </a:p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• 구조만 보지 말고 데이터를 보세요 (DataWarrior)</a:t>
            </a:r>
          </a:p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• 두 관점을 결합하면 더 좋은 리드를 찾습니다</a:t>
            </a:r>
          </a:p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• SAR 노트북으로 반복 최적화 → 스코어와 LE 개선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