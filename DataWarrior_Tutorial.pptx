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5200" b="1">
                <a:solidFill>
                  <a:srgbClr val="FFFFFF"/>
                </a:solidFill>
                <a:latin typeface="맑은 고딕"/>
              </a:defRPr>
            </a:pPr>
            <a:r>
              <a:t>DataWarrior 도킹 결과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FF8F00"/>
                </a:solidFill>
                <a:latin typeface="맑은 고딕"/>
              </a:defRPr>
            </a:pPr>
            <a:r>
              <a:t>분자 도킹 결과를 시각적으로 분석하고 SAR을 도출하는 실습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1.  SDF 파일 열기 &amp; 분자 속성 계산</a:t>
            </a:r>
          </a:p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2.  스코어 분포 시각화</a:t>
            </a:r>
          </a:p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3.  Lipinski Rule of Five 필터</a:t>
            </a:r>
          </a:p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4.  SAR Table &amp; Activity Cliff</a:t>
            </a:r>
          </a:p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5.  클러스터링 &amp; 화학 공간</a:t>
            </a:r>
          </a:p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6.  PyMOL 연동 워크플로우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17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무료 다운로드: https://openmolecules.org/datawarrior/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DataWarrior 인터페이스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FF8F00"/>
                </a:solidFill>
                <a:latin typeface="맑은 고딕"/>
              </a:defRPr>
            </a:pPr>
            <a:r>
              <a:t>무료 cheminformatics 데스크탑 도구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6517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651760" cy="9144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테이블 뷰</a:t>
            </a:r>
            <a:br/>
            <a:r>
              <a:t>(Table View)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분자 구조 + 속성 테이블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행 = 화합물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열 = 속성/스코어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엑셀처럼 정렬/필터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554480"/>
            <a:ext cx="26517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37560" y="1554480"/>
            <a:ext cx="2651760" cy="91440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차트 뷰</a:t>
            </a:r>
            <a:br/>
            <a:r>
              <a:t>(Chart Views)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2D Scatter, Box Plot,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Histogram, Heatmap 등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우클릭 → New View로 추가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26517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2651760" cy="91440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필터 패널</a:t>
            </a:r>
            <a:br/>
            <a:r>
              <a:t>(Filters)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슬라이더/체크박스로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실시간 데이터 필터링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구조 서브구조 검색도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1554480"/>
            <a:ext cx="26517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98280" y="1554480"/>
            <a:ext cx="2651760" cy="914400"/>
          </a:xfrm>
          <a:prstGeom prst="round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구조 뷰</a:t>
            </a:r>
            <a:br/>
            <a:r>
              <a:t>(Structure View)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2D 구조 자동 렌더링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셀 더블클릭 → 확대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SDF 파일에서 자동 로드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1: SDF 파일 열기 &amp; 분자 속성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Step 1: SDF 파일 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File → Open → 도킹 결과 SDF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12847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(예: 6nzp_lig_vina_out.sdf)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96895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자동으로 구조 + 속성 테이블 로드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809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minimizedAffinity 컬럼 = 도킹 스코어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64991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4. 컬럼 헤더 클릭 → 오름차순 정렬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Step 2: 분자 속성 계산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FF8F00"/>
                </a:solidFill>
                <a:latin typeface="맑은 고딕"/>
              </a:defRPr>
            </a:pPr>
            <a:r>
              <a:t>Chemistry → From Chemical Structure → Calculate Properties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Consolas"/>
              </a:defRPr>
            </a:pPr>
            <a:r>
              <a:t>Total Molweight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754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분자량 (Da)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20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Consolas"/>
              </a:defRPr>
            </a:pPr>
            <a:r>
              <a:t>cLogP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120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소수성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Consolas"/>
              </a:defRPr>
            </a:pPr>
            <a:r>
              <a:t>H-Bond Acceptors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548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수소결합 수용체 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Consolas"/>
              </a:defRPr>
            </a:pPr>
            <a:r>
              <a:t>H-Bond Donors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852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수소결합 공여체 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217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Consolas"/>
              </a:defRPr>
            </a:pPr>
            <a:r>
              <a:t>Rotatable Bonds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6217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회전 가능 결합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583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Consolas"/>
              </a:defRPr>
            </a:pPr>
            <a:r>
              <a:t>Total Surface Area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6583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분자 표면적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949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Consolas"/>
              </a:defRPr>
            </a:pPr>
            <a:r>
              <a:t>Drug-Likeness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6949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약물 유사성 점수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371600"/>
            <a:ext cx="5029200" cy="502920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FF8F00"/>
                </a:solidFill>
                <a:latin typeface="맑은 고딕"/>
              </a:defRPr>
            </a:pPr>
            <a:r>
              <a:t>CSV 파일도 열 수 있습니다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9202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Colab/Docker에서 생성된 CSV 파일: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docking_scores.csv — 전체 스코어 + 속성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rmsd_validation.csv — RMSD 검증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all_docking_scores.csv — Kinase Panel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FF8F00"/>
                </a:solidFill>
                <a:latin typeface="맑은 고딕"/>
              </a:defRPr>
            </a:pPr>
            <a:r>
              <a:t>SDF vs CSV 차이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3474720"/>
            <a:ext cx="1097280" cy="36576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SDF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3474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2D/3D 구조 포함, 구조 검색 가능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DataWarrior의 모든 Chemistry 기능 사용 가능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75120" y="4389120"/>
            <a:ext cx="1097280" cy="365760"/>
          </a:xfrm>
          <a:prstGeom prst="round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3891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구조 없이 숫자/텍스트만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빠른 로드, 간단한 차트 분석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5303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FF8F00"/>
                </a:solidFill>
                <a:latin typeface="맑은 고딕"/>
              </a:defRPr>
            </a:pPr>
            <a:r>
              <a:t>SAR 노트북에서 생성된 파일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57607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sar_results.sdf — 구조 + 스코어 + 속성 통합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sar_table.csv — SAR 테이블 (R-group별 정리)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2: 스코어 분포 시각화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2743200" cy="82296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Histogram</a:t>
            </a:r>
            <a:br/>
            <a:r>
              <a:t>(막대 차트)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스코어 분포 확인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우클릭 → New View →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Bar Chart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X: minimizedAffinity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→ -7 이하가 좋은 결합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→ 분포의 치우침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371600"/>
            <a:ext cx="2743200" cy="82296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Scatter Plot</a:t>
            </a:r>
            <a:br/>
            <a:r>
              <a:t>(산점도)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37744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스코어 vs 분자 속성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우클릭 → New View →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2D Scatter Plot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X: minimizedAffinity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Y: cLogP (또는 MW)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→ 상관관계 확인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→ 이상치(outlier) 식별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743200" cy="82296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Box Plot</a:t>
            </a:r>
            <a:br/>
            <a:r>
              <a:t>(상자 그림)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7744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Vina vs smina 비교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우클릭 → New View →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Box Plot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Category: Method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Value: minimizedAffinity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→ 중앙값, 사분위수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→ 두 엔진의 일관성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37160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0" y="1371600"/>
            <a:ext cx="2743200" cy="822960"/>
          </a:xfrm>
          <a:prstGeom prst="round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Correlation</a:t>
            </a:r>
            <a:br/>
            <a:r>
              <a:t>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37744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다중 속성 상관관계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우클릭 → New View →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Correlation Matrix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→ Score vs MW vs cLogP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→ LE vs BEI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→ 어떤 속성이 중요한지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3: Lipinski Rule of Five 필터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FF8F00"/>
                </a:solidFill>
                <a:latin typeface="맑은 고딕"/>
              </a:defRPr>
            </a:pPr>
            <a:r>
              <a:t>Drug-likeness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Lipinski Rule of Five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109728" cy="5486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1E88E5"/>
                </a:solidFill>
                <a:latin typeface="Consolas"/>
              </a:defRPr>
            </a:pPr>
            <a:r>
              <a:t>MW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0848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&lt; 500 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0848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분자량이 너무 크면 흡수 안 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51760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109728" cy="5486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72491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0897B"/>
                </a:solidFill>
                <a:latin typeface="Consolas"/>
              </a:defRPr>
            </a:pPr>
            <a:r>
              <a:t>cLogP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72491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&lt;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72491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너무 소수성이면 용해도 문제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91840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291840"/>
            <a:ext cx="109728" cy="5486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6499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43A047"/>
                </a:solidFill>
                <a:latin typeface="Consolas"/>
              </a:defRPr>
            </a:pPr>
            <a:r>
              <a:t>HBD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3649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≤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36499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수소결합 공여체 5개 이하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31919"/>
            <a:ext cx="50292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931919"/>
            <a:ext cx="109728" cy="5486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005071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FF8F00"/>
                </a:solidFill>
                <a:latin typeface="Consolas"/>
              </a:defRPr>
            </a:pPr>
            <a:r>
              <a:t>HBA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005071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≤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00507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수소결합 수용체 10개 이하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663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DataWarrior에서 필터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20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Chemistry → Calculate Properties (MW, cLogP, HBA, HBD)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필터 패널에서 각 속성의 슬라이더 조절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또는 Edit → New Filter → 조건 입력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4. 위반 화합물이 자동으로 회색 처리됨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1554480"/>
            <a:ext cx="5029200" cy="484632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FF8F00"/>
                </a:solidFill>
                <a:latin typeface="맑은 고딕"/>
              </a:defRPr>
            </a:pPr>
            <a:r>
              <a:t>Drug-Likeness 스코어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1031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DataWarrior는 자체 Drug-Likeness 스코어를 계산합니다.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양수 → 약물 유사성 높음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음수 → 약물 유사성 낮음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Fragment-based scoring (Muegge 방식)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FF8F00"/>
                </a:solidFill>
                <a:latin typeface="맑은 고딕"/>
              </a:defRPr>
            </a:pPr>
            <a:r>
              <a:t>확장 필터들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114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TPSA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4114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&lt; 140 A² (경구 흡수)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5720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Rotatable Bonds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≤ 10 (유연성 제한)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029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Drug-Likeness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5029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&gt; 0 (약물 유사)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5486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Toxicity Risk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5486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None (독성 위험 없음)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9436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Ligand Efficiency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5943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&gt; 0.3 (효율적 결합)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4: SAR Table &amp; Activity Cliff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FF8F00"/>
                </a:solidFill>
                <a:latin typeface="맑은 고딕"/>
              </a:defRPr>
            </a:pPr>
            <a:r>
              <a:t>구조-활성 관계(Structure-Activity Relationship) 도출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SAR Table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SDF 열기 (도킹 결과 + SMILES 리간드 시리즈)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Chemistry → From Chemical Structure →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R-Group Decomposition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Core structure 자동 감지 (MCS)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R-group별로 분해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우클릭 → New View → 2D Scatter Plot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X: R1 (R-group 1)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Y: minimizedAffinity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R-group 치환에 따른 스코어 변화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Activity Cliff 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Chemistry → Similarity Analysis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Descriptor: FragFp (fragment fingerprint)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우클릭 → New View →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Structure-Activity Landscape (SALI)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X/Y: 유사도 좌표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Color: minimizedAffinity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구조 비슷 + 스코어 크게 다른 쌍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= Activity Cliff → 핵심 약효 그룹 발견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554480"/>
            <a:ext cx="50292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SAR Table 예시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103120"/>
            <a:ext cx="1097280" cy="36576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2103120"/>
            <a:ext cx="914400" cy="36576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103120"/>
            <a:ext cx="914400" cy="36576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2103120"/>
            <a:ext cx="822960" cy="36576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24160" y="2103120"/>
            <a:ext cx="731520" cy="36576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514600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514600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514600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—OH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2514600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-8.2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24160" y="2514600"/>
            <a:ext cx="7315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0.38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2862072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2862072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—CH₃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2862072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—OH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2862072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-8.7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24160" y="2862072"/>
            <a:ext cx="73152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0.36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3209544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3209544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3209544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—OH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0" y="3209544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-9.1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3209544"/>
            <a:ext cx="7315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0.42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3557016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0" y="3557016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—Cl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0" y="3557016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—NH₂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3557016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-7.5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4160" y="3557016"/>
            <a:ext cx="73152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0.31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3904488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3904488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0" y="3904488"/>
            <a:ext cx="914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—NH₂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3904488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-8.9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424160" y="3904488"/>
            <a:ext cx="7315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0.41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0" y="4251960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Scaffold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4251960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—OCH₃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86800" y="4251960"/>
            <a:ext cx="9144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—OH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01200" y="4251960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-7.1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24160" y="4251960"/>
            <a:ext cx="73152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0.28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FF8F00"/>
                </a:solidFill>
                <a:latin typeface="맑은 고딕"/>
              </a:defRPr>
            </a:pPr>
            <a:r>
              <a:t>SAR 인사이트 도출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0" y="5212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—F 치환 → 스코어 향상 (전기음성도 효과)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75120" y="553211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—OH &gt; —NH₂ (수소결합 수용 능력)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5852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—OCH₃ → 스코어 하락 (입체 장애)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• LE &gt; 0.3인 화합물만 리드 후보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</p:txBody>
      </p:sp>
      <p:sp>
        <p:nvSpPr>
          <p:cNvPr id="52" name="TextBox 51"/>
          <p:cNvSpPr txBox="1"/>
          <p:nvPr/>
        </p:nvSpPr>
        <p:spPr>
          <a:xfrm>
            <a:off x="6675120" y="6812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→ SAR 노트북으로 이 분석을 자동화!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5: 클러스터링 &amp; 화학 공간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화합물 클러스터링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Chemistry → Cluster Compounds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Descriptor: SkelSpheres (3D-aware)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Algorithm: Complete Linkage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구조적으로 유사한 화합물끼리 그룹화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우클릭 → New View → Scatter Plot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Color by: Cluster No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Size by: minimizedAffinity (|value|)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클러스터별 스코어 패턴 확인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대표 화합물 선별: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각 클러스터에서 best score 화합물 선택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다양한 scaffold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PCA / t-SNE 화학 공간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Chemistry → Principal Component Analysis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Descriptor: FragFp 또는 SkelSpheres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자동으로 PCA scatter plot 생성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Color by: minimizedAffinity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화학 공간에서의 위치와 활성 관계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Kinase Panel 결과 분석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029200" cy="457200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FF8F00"/>
                </a:solidFill>
                <a:latin typeface="맑은 고딕"/>
              </a:defRPr>
            </a:pPr>
            <a:r>
              <a:t>all_docking_scores.csv 활용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1. File → Open → all_docking_scores.csv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700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675120" y="291693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2. Box Plot: kinase별 스코어 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16382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Category: kinase, Value: minimizedAffinity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107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Color by: group (TK/CMGC/TKL/AGC)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6576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675120" y="390448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3. Heatmap: Cross-docking 매트릭스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15137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File → Open → crossdock_matrix.csv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39826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Correlation Matrix 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6451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675120" y="48920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4. 선택성 분석: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13892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kinase별 best score 비교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38581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선택적 리간드 식별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63270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675120" y="58795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5. 선별된 화합물 SDF 내보내기: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6126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행 선택 → File → Save Special → SD-File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63733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PyMOL에서 3D 확인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6: DataWarrior → PyMOL 연동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FF8F00"/>
                </a:solidFill>
                <a:latin typeface="맑은 고딕"/>
              </a:defRPr>
            </a:pPr>
            <a:r>
              <a:t>선별한 화합물을 3D로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004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200400" cy="64008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스코어/속성 필터링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SAR 분석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관심 포즈 선별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945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3000" b="1">
                <a:solidFill>
                  <a:srgbClr val="FF8F0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554480"/>
            <a:ext cx="32004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1554480"/>
            <a:ext cx="3200400" cy="6400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SDF 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774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File → Save Special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→ SD-File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선별된 포즈만 저장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1945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3000" b="1">
                <a:solidFill>
                  <a:srgbClr val="FF8F0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554480"/>
            <a:ext cx="32004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1554480"/>
            <a:ext cx="3200400" cy="6400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774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3D 구조 시각화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상호작용 확인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이미지 저장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DataWarrior에서 선별 &amp;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1. 필터로 관심 화합물 선별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(예: Score &lt; -8, LE &gt; 0.3, Lipinski 통과)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2. 선별된 행 선택 (Ctrl+클릭 또는 필터 적용)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3. File → Save Special → SD-File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   → selected_poses.sdf 저장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4. PyMOL에서 이 SDF를 단백질과 함께 로드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PyMOL에서 선별 포즈 보기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114800"/>
            <a:ext cx="50292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단백질 로드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load protein_H.pdb, protein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color white, protein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DataWarrior에서 선별한 포즈 로드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load selected_poses.sdf, hits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sticks, hits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color green, hits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결합 부위 &amp; 수소 결합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select pocket, protein within 5 of hits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distance hb, hits, pocket, mode=2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zoom hits,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SAR 도킹 노트북: 자동화된 SAR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FF8F00"/>
                </a:solidFill>
                <a:latin typeface="맑은 고딕"/>
              </a:defRPr>
            </a:pPr>
            <a:r>
              <a:t>SAR_Docking_Analysis.ipynb — Colab/Docker/WSL에서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노트북 워크플로우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57200" cy="4572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299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SMILES 시리즈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Core scaffold + R-group 치환체 정의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3D 구조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880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RDKit으로 SMILES → 3D 좌표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457200" cy="45720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758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자동 도킹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703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smina로 전체 시리즈 일괄 도킹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480560"/>
            <a:ext cx="457200" cy="45720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4988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SAR Table 생성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Score, LE, MW, cLogP 등 자동 계산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03519"/>
            <a:ext cx="457200" cy="457200"/>
          </a:xfrm>
          <a:prstGeom prst="round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21807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212121"/>
                </a:solidFill>
                <a:latin typeface="맑은 고딕"/>
              </a:defRPr>
            </a:pPr>
            <a:r>
              <a:t>결과 내보내기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34923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SDF (DataWarrior용) + CSV + PyMOL 스크립트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SMILES 시리즈 입력 예시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011680"/>
            <a:ext cx="5029200" cy="45720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SAR 시리즈 정의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CORE_NAME = "Quinazoline"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LIGANDS = [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{"name": "Compound_01", "R1": "H",    "R2": "OH",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"smiles": "c1ccc2c(c1)ncnc2Nc1ccccc1"},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{"name": "Compound_02", "R1": "F",    "R2": "OH",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"smiles": "c1ccc2c(c1)ncnc2Nc1ccc(F)cc1"},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{"name": "Compound_03", "R1": "Cl",   "R2": "OH",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"smiles": "c1ccc2c(c1)ncnc2Nc1ccc(Cl)cc1"},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{"name": "Compound_04", "R1": "CH3",  "R2": "OH",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"smiles": "c1ccc2c(c1)ncnc2Nc1ccc(C)cc1"},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{"name": "Compound_05", "R1": "OCH3", "R2": "NH2",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"smiles": "c1ccc2c(c1)ncnc2Nc1ccc(OC)cc1"},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]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타겟 설정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TARGET_PDB = "6nzp"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TARGET_CHAIN = "A"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자동으로 도킹 실행 → SAR table 생성</a:t>
            </a: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sar_results.sdf (DataWarrior)</a:t>
            </a: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sar_table.csv</a:t>
            </a: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sar_pymol.pml (PyMOL 스크립트)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전체 워크플로우 요약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560320" cy="274320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560320" cy="6400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Colab/Docker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도킹 실행</a:t>
            </a:r>
          </a:p>
          <a:p>
            <a:pPr algn="l">
              <a:spcAft>
                <a:spcPts val="3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SDF + CSV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2800" b="1">
                <a:solidFill>
                  <a:srgbClr val="1E88E5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560320" cy="274320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371600"/>
            <a:ext cx="2560320" cy="64008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28600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속성 계산</a:t>
            </a:r>
          </a:p>
          <a:p>
            <a:pPr algn="l">
              <a:spcAft>
                <a:spcPts val="3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필터링</a:t>
            </a:r>
          </a:p>
          <a:p>
            <a:pPr algn="l">
              <a:spcAft>
                <a:spcPts val="3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SAR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2800" b="1">
                <a:solidFill>
                  <a:srgbClr val="FF8F0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2560320" cy="274320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2560320" cy="6400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8600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3D 시각화</a:t>
            </a:r>
          </a:p>
          <a:p>
            <a:pPr algn="l">
              <a:spcAft>
                <a:spcPts val="3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상호작용</a:t>
            </a:r>
          </a:p>
          <a:p>
            <a:pPr algn="l">
              <a:spcAft>
                <a:spcPts val="3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이미지 저장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28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371600"/>
            <a:ext cx="2560320" cy="274320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35440" y="1371600"/>
            <a:ext cx="2560320" cy="6400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SAR 노트북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8600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리간드 시리즈</a:t>
            </a:r>
          </a:p>
          <a:p>
            <a:pPr algn="l">
              <a:spcAft>
                <a:spcPts val="3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자동 도킹</a:t>
            </a:r>
          </a:p>
          <a:p>
            <a:pPr algn="l">
              <a:spcAft>
                <a:spcPts val="300"/>
              </a:spcAft>
              <a:defRPr sz="1500" b="0">
                <a:solidFill>
                  <a:srgbClr val="BBBBBB"/>
                </a:solidFill>
                <a:latin typeface="맑은 고딕"/>
              </a:defRPr>
            </a:pPr>
            <a:r>
              <a:t>SAR 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핵심: DataWarrior에서 데이터 기반으로 선별 → PyMOL에서 구조 기반으로 검증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스코어만 보지 말고 구조를 보세요 (PyMOL)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구조만 보지 말고 데이터를 보세요 (DataWarrior)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두 관점을 결합하면 더 좋은 리드를 찾을 수 있습니다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