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4800" b="1">
                <a:solidFill>
                  <a:srgbClr val="FFFFFF"/>
                </a:solidFill>
                <a:latin typeface="맑은 고딕"/>
              </a:defRPr>
            </a:pPr>
            <a:r>
              <a:t>PyMOL 도킹 결과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91440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2200" b="0">
                <a:solidFill>
                  <a:srgbClr val="00897B"/>
                </a:solidFill>
                <a:latin typeface="맑은 고딕"/>
              </a:defRPr>
            </a:pPr>
            <a:r>
              <a:t>도킹 결과를 3D로 분석하는 실습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731520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1.  단백질-리간드 복합체 보기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2.  도킹 포즈 분석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3.  Crystal vs Docked 비교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4.  수소 결합 &amp; 거리 측정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5.  EGFR 변이체 비교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6.  Kinase Panel 비교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7.  색상 &amp; 스타일 가이드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8.  이미지 저장 &amp; 세션 관리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9.  DataWarrior 연동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PyMOL 인터페이스 &amp; 기본 조작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6517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2651760" cy="82296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명령줄 (Command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2194560" cy="2926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하단 입력창에서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PyMOL 명령어 직접 입력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fetch 6nzp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show cartoon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188720"/>
            <a:ext cx="26517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37560" y="1188720"/>
            <a:ext cx="2651760" cy="8229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3D 뷰포트 (Viewer)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194560"/>
            <a:ext cx="2194560" cy="2926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마우스로 회전/줌/이동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좌클릭+드래그: 회전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휠: 줌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우클릭+드래그: 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26517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2651760" cy="82296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객체 패널 (Object)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194560"/>
            <a:ext cx="2194560" cy="2926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우측 패널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로드된 분자 목록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A/S/H/L/C 버튼으로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표현 제어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1188720"/>
            <a:ext cx="26517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98280" y="1188720"/>
            <a:ext cx="2651760" cy="822960"/>
          </a:xfrm>
          <a:prstGeom prst="round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스크립트 (Run Script)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194560"/>
            <a:ext cx="2194560" cy="2926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File → Run Script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.pml 파일 선택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→ 명령 자동 실행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@01_load_structure.pml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.pml 스크립트: pymol_scripts/ 폴더에 준비된 스크립트를 실행하면 자동으로 시각화됩니다.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마우스 조작 &amp; 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마우스 조작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좌클릭 + 드래그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600200"/>
            <a:ext cx="2103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분자 회전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우클릭 + 드래그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057400"/>
            <a:ext cx="2103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분자 이동 (팬)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688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146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휠 스크롤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514600"/>
            <a:ext cx="2103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줌 인/아웃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260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휠 클릭 + 드래그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971800"/>
            <a:ext cx="2103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Z-클리핑 (단면 절단)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3832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4290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좌클릭 (원자)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429000"/>
            <a:ext cx="2103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원자 선택 / 정보 표시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404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8862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Ctrl + 좌클릭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886200"/>
            <a:ext cx="2103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거리 측정 모드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18872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핵심 개념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554480"/>
            <a:ext cx="109728" cy="54864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1554480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E88E5"/>
                </a:solidFill>
                <a:latin typeface="맑은 고딕"/>
              </a:defRPr>
            </a:pPr>
            <a:r>
              <a:t>Object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1828800"/>
            <a:ext cx="4572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로드된 분자 단위 (protein, ligand 등)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286000"/>
            <a:ext cx="109728" cy="5486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2286000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00897B"/>
                </a:solidFill>
                <a:latin typeface="맑은 고딕"/>
              </a:defRPr>
            </a:pPr>
            <a:r>
              <a:t>Selection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560320"/>
            <a:ext cx="4572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원자들의 부분 집합 (sele, pocket 등)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017520"/>
            <a:ext cx="109728" cy="54864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3017520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43A047"/>
                </a:solidFill>
                <a:latin typeface="맑은 고딕"/>
              </a:defRPr>
            </a:pPr>
            <a:r>
              <a:t>State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291840"/>
            <a:ext cx="4572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SDF의 여러 포즈 = multi-state object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49040"/>
            <a:ext cx="109728" cy="548640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3749040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8E24AA"/>
                </a:solidFill>
                <a:latin typeface="맑은 고딕"/>
              </a:defRPr>
            </a:pPr>
            <a:r>
              <a:t>Representation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023360"/>
            <a:ext cx="4572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cartoon, sticks, surface, spheres 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4480560"/>
            <a:ext cx="5029200" cy="18288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Selection 문법 예시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polymer.protein       # 단백질만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organic               # 유기 리간드만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prot within 5 of lig  # 5A 이내 잔기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resi 790              # 790번 잔기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name CA               # Calpha 원자만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4가지 표현 방법 (Representation)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이론 PDF "보이지 않는 분자를 보는 3가지 렌즈" 참조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2743200" cy="73152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Cartoon (리본)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237744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전체 뼈대와 2차 구조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α-helix, β-sheet 확인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단백질 전체 fold 파악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886200"/>
            <a:ext cx="2468880" cy="21031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cartoon, protein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palegreen, protein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cartoon_fancy_helices,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4173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1417320"/>
            <a:ext cx="2743200" cy="73152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Sticks (막대)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331720"/>
            <a:ext cx="237744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원자 수준 결합 표시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리간드와 결합 부위 분석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수소결합 확인에 최적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3886200"/>
            <a:ext cx="2468880" cy="21031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ligand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util.cbag ligand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stick_radius, 0.15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173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2743200" cy="73152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Surface (표면)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31720"/>
            <a:ext cx="237744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분자 표면과 포켓 시각화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입체 장애(steric) 확인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전하 분포 표시 가능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886200"/>
            <a:ext cx="2468880" cy="21031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surface, protein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transparency, 0.7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surface_color, white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4173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0" y="1417320"/>
            <a:ext cx="2743200" cy="73152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Spheres (구)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331720"/>
            <a:ext cx="237744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원자의 실제 크기(vdW)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공간 충전 모델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충돌(clash) 확인에 유용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3886200"/>
            <a:ext cx="2468880" cy="21031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spheres, resi 790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sphere_scale, 0.8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red, resi 790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1: 단백질-리간드 복합체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pymol_scripts/01_load_structure.pml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03520" cy="5029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1. 파일 로드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6nzp_clean_H.pdb, protein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6nzp_lig_H.mol2, ref_ligand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2. 단백질: 리본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cartoon, protein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palegreen, protein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3. 리간드: 막대 모델 (원소별 색상)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ref_ligand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util.cbam ref_ligand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4. 결합 부위 (5A 이내)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pocket, protein within 5 of ref_ligand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pocket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skyblue, pocket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util.cbac pocket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5. 반투명 표면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surface, pocket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transparency, 0.7, pocket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surface_color, white, pocket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6. 수소 결합 (노란 점선)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distance hbonds, ref_ligand, pocket, mode=2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dash_color, yellow, hbonds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dash_width, 2.5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dash_gap, 0.15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hide labels, hbonds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7. 잔기 라벨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label pocket and name CA, "%s%s" % (resn, resi)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label_size, 12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label_color, black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8. 카메라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zoom ref_ligand,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417320"/>
            <a:ext cx="4846320" cy="502920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55448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00897B"/>
                </a:solidFill>
                <a:latin typeface="맑은 고딕"/>
              </a:defRPr>
            </a:pPr>
            <a:r>
              <a:t>단계별 설명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0574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05740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PDB/MOL2 파일을 이름 지정하여 로드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606039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cartoon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606039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단백질 전체 뼈대를 리본으로 표시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15468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sticks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15468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리간드를 원자-결합 막대로 표시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70332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util.cbam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70332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원소별 색상 (C=마젠타, N=파랑, O=빨강)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251959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within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251959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리간드에서 5 Angstrom 이내 잔기 자동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8006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surface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80060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표면으로 포켓 형태 시각화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534924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distance mode=2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534924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H-bond 자동 감지 (노란 점선)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589788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label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589788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잔기 이름+번호 라벨 표시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2: 도킹 포즈 분석 — Best 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pymol_scripts/02_docking_pose.pml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03520" cy="5029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===== Best Pose 보기 =====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Vina 도킹 결과 로드 (multi-state SDF)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6nzp_lig_vina_out.sdf, docked_vina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첫 번째 포즈(best score)만 표시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all_states, 0       # 한 포즈만 표시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frame 1                 # 첫 번째 = best score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도킹 포즈: 초록색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docked_vina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green, docked_vina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util.cbag docked_vina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===== Crystal vs Docked 비교 =====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참조 리간드 (마젠타)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ref_ligand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magenta, ref_ligand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겹쳐서 RMSD 시각 확인</a:t>
            </a: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magenta = 실험(crystal)</a:t>
            </a: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green   = 도킹 예측(docked)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zoom ref_ligand, 8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===== 도킹 포즈의 수소 결합 =====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distance hb_docked, docked_vina, pocket, mode=2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dash_color, chartreuse, hb_docked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dash_width, 2.0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hide labels, hb_docked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417320"/>
            <a:ext cx="484632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55448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포즈 분석 포인트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65960"/>
            <a:ext cx="43891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1. Best pose가 crystal pose와 겹치는가?  (RMSD &lt; 2A)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423160"/>
            <a:ext cx="43891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2. 수소결합 패턴이 유사한가?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880360"/>
            <a:ext cx="43891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3. 리간드 방향(orientation)이 일치하는가?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337560"/>
            <a:ext cx="43891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4. 포즈 간 편차가 큰가?  (여러 포즈 비교)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4343400"/>
            <a:ext cx="4846320" cy="210312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448056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00897B"/>
                </a:solidFill>
                <a:latin typeface="맑은 고딕"/>
              </a:defRPr>
            </a:pPr>
            <a:r>
              <a:t>util.cba* 색상 치트시트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892040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00897B"/>
                </a:solidFill>
                <a:latin typeface="맑은 고딕"/>
              </a:defRPr>
            </a:pPr>
            <a:r>
              <a:t>util.cbag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892040"/>
            <a:ext cx="22860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757575"/>
                </a:solidFill>
                <a:latin typeface="맑은 고딕"/>
              </a:defRPr>
            </a:pPr>
            <a:r>
              <a:t>C=Green + 원소별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5184648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00897B"/>
                </a:solidFill>
                <a:latin typeface="맑은 고딕"/>
              </a:defRPr>
            </a:pPr>
            <a:r>
              <a:t>util.cbam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5184648"/>
            <a:ext cx="22860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757575"/>
                </a:solidFill>
                <a:latin typeface="맑은 고딕"/>
              </a:defRPr>
            </a:pPr>
            <a:r>
              <a:t>C=Magenta + 원소별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5477255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00897B"/>
                </a:solidFill>
                <a:latin typeface="맑은 고딕"/>
              </a:defRPr>
            </a:pPr>
            <a:r>
              <a:t>util.cbac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5477255"/>
            <a:ext cx="22860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757575"/>
                </a:solidFill>
                <a:latin typeface="맑은 고딕"/>
              </a:defRPr>
            </a:pPr>
            <a:r>
              <a:t>C=Cyan + 원소별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5769864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00897B"/>
                </a:solidFill>
                <a:latin typeface="맑은 고딕"/>
              </a:defRPr>
            </a:pPr>
            <a:r>
              <a:t>util.cbay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5769864"/>
            <a:ext cx="22860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757575"/>
                </a:solidFill>
                <a:latin typeface="맑은 고딕"/>
              </a:defRPr>
            </a:pPr>
            <a:r>
              <a:t>C=Yellow + 원소별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6062472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00897B"/>
                </a:solidFill>
                <a:latin typeface="맑은 고딕"/>
              </a:defRPr>
            </a:pPr>
            <a:r>
              <a:t>util.cbas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6062472"/>
            <a:ext cx="22860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757575"/>
                </a:solidFill>
                <a:latin typeface="맑은 고딕"/>
              </a:defRPr>
            </a:pPr>
            <a:r>
              <a:t>C=Salmon + 원소별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3: 여러 포즈 비교 &amp; smina 결과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5303520" cy="5029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===== 여러 포즈 동시에 보기 =====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all_states, 1       # 모든 포즈 동시 표시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state, 0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하나씩 넘기기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frame 1   # 1번 포즈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frame 2   # 2번 포즈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frame 3   # 3번 포즈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===== 포즈별 색상 구분 =====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split_states docked_vina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green,  docked_vina_0001   # best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yellow, docked_vina_0002   # 2nd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salmon, docked_vina_0003   # 3rd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cyan,   docked_vina_0004   # 4th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orange, docked_vina_0005   # 5th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===== Vina vs smina 비교 =====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6nzp_native_smina_out.sdf, docked_smina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all_states, 0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frame 1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색상 구분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green, docked_vina     # Vina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cyan, docked_smina     # smina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docked_vina or docked_smina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겹쳐서 비교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zoom ref_ligand,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188720"/>
            <a:ext cx="48463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32588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특정 포즈의 상호작용 분석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1737360"/>
            <a:ext cx="4389120" cy="22860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3번 포즈 선택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frame 3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이 포즈와 단백질 사이 수소결합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distance hb_pose3, \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docked_vina and state 3, \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pocket, mode=2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거리 측정 (특정 원자 간)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distance d1, \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/docked_vina//A/UNK`1/N1, \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/protein//A/LEU`932/O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20624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비교 관찰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572000"/>
            <a:ext cx="4389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Vina와 smina의 best pose가 같은 위치인가?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포즈 간 리간드 방향 편차가 큰가?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여러 포즈에서 공통된 수소결합은?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split_states로 분리 후 개별 분석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4: 수소 결합 &amp; 거리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도킹 결과의 상호작용을 정량적으로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자동 수소 결합 감지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303520" cy="20116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mode=2: H-bond만 자동 감지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hbonds, docked_vina, pocket, mode=2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스타일 설정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dash_color, yellow, hbonds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dash_width, 2.5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dash_gap, 0.15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라벨 (거리 표시)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label_size, 10</a:t>
            </a: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hide labels, hbonds  ← 라벨 숨기려면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4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수동 거리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43400"/>
            <a:ext cx="5303520" cy="22860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특정 원자 간 거리 측정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d1, \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/docked_vina///UNK/N1, \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/protein///LEU932/O</a:t>
            </a: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→ 3.2 A 등의 거리가 표시됨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모든 polar contact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polar, all, all, mode=2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특정 잔기의 H-bond만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hb_asp, \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/protein///ASP/OD*, \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/docked_vina///UNK/N*, mode=2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417320"/>
            <a:ext cx="4846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거리별 상호작용 해석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1874520"/>
            <a:ext cx="109728" cy="4572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92024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&lt; 2.5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920240"/>
            <a:ext cx="29260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매우 강한 H-bond / 공유결합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468880"/>
            <a:ext cx="109728" cy="45720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5146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2.5 - 3.5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29260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수소 결합 (H-bond)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063240"/>
            <a:ext cx="109728" cy="4572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310896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3.5 - 4.0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108960"/>
            <a:ext cx="29260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π-π stacking / 소수성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657600"/>
            <a:ext cx="109728" cy="4572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70332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4.0 - 5.0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703320"/>
            <a:ext cx="29260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약한 상호작용 / van der Waals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4251960"/>
            <a:ext cx="109728" cy="457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29768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&gt; 5.0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297680"/>
            <a:ext cx="29260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직접 상호작용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983480"/>
            <a:ext cx="4846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Polar contact 표시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5349240"/>
            <a:ext cx="4846320" cy="12801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모든 polar contact (mode=2: H-bonds)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polar, all, all, mode=2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특정 잔기만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hb_asp, /protein///ASP/OD*, \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         /docked_vina///UNK/N*, mode=2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5: EGFR WT vs T790M 변이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pymol_scripts/03_compare_mutations.pml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03520" cy="5029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1. 두 구조 로드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WT_Erlotinib/1m17_clean_H.pdb, WT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T790M_Neratinib/2jit_clean_H.pdb, T790M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2. 구조 정렬 (CE-Align)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cealign WT, T790M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3. 색상 구분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palegreen, WT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salmon, T790M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cartoon, WT or T790M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4. Gatekeeper 잔기 (790번)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gate_wt, WT and resi 790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gate_mut, T790M and resi 790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spheres, gate_wt or gate_mut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sphere_scale, 0.8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blue, gate_wt       # Thr (WT)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red, gate_mut       # Met (mutant)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5. 라벨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label gate_wt and name CA, "Thr790 (WT)"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label gate_mut and name CA, "Met790 (Mut)"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label_size, 16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6. 결합 부위 잔기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site_wt, WT within 5 of (WT and organic)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site_mut, T790M within 5 of (T790M and organic)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site_wt or site_mut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417320"/>
            <a:ext cx="4846320" cy="502920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55448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00897B"/>
                </a:solidFill>
                <a:latin typeface="맑은 고딕"/>
              </a:defRPr>
            </a:pPr>
            <a:r>
              <a:t>비교 관찰 포인트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057400"/>
            <a:ext cx="4389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구조 정렬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31720"/>
            <a:ext cx="43891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cealign으로 두 구조의 뼈대를 겹침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→ 전체적인 fold는 유사한지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108959"/>
            <a:ext cx="4389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Gatekeeper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383279"/>
            <a:ext cx="43891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Thr790 → Met790 변이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Met의 큰 side chain이 ATP 포켓 입구를 부분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160520"/>
            <a:ext cx="4389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약물 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4434840"/>
            <a:ext cx="43891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Osimertinib은 T790M에 더 강하게 결합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(3세대 TKI) → Met과의 새로운 상호작용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5212079"/>
            <a:ext cx="4389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포켓 크기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486399"/>
            <a:ext cx="43891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show surface로 비교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변이에 의한 포켓 형태 변화 → 1세대 약물 내성 원인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5 (계속): EGFR 약물 도킹 포즈 비교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1430000" cy="5029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===== 약물 도킹 포즈 비교 =====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WT에 도킹된 Osimertinib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WT_Erlotinib/Osimertinib_smina_out.sdf, osi_in_WT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all_states, 0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frame 1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T790M에 도킹된 Osimertinib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T790M_Neratinib/Osimertinib_smina_out.sdf, osi_in_T790M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all_states, 0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frame 1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색상 구분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green, osi_in_WT         # WT에서의 포즈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orange, osi_in_T790M     # T790M에서의 포즈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sticks, osi_in_WT or osi_in_T790M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→ Osimertinib이 T790M에 더 잘 결합하는지 시각적 확인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===== 1세대 vs 3세대 약물 비교 =====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Erlotinib (1세대) vs Osimertinib (3세대) in T790M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T790M_Neratinib/Erlotinib_smina_out.sdf, erlotinib_T790M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magenta, erlotinib_T790M      # 1세대: 내성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cyan, osi_in_T790M            # 3세대: 효과적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→ 3세대가 T790M 포켓에 더 깊이 들어가는지 확인</a:t>
            </a: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→ 수소결합 패턴 차이 분석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hb_osi, osi_in_T790M, site_mut, mode=2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hb_erl, erlotinib_T790M, site_mut, mode=2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6: Kinase Panel — 결합 부위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pymol_scripts/04_kinase_panel.pml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03520" cy="5029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1. 대표 키나아제 3종 로드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EGFR/1m17_clean_H.pdb, EGFR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ABL1/1iep_clean_H.pdb, ABL1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BRAF/3og7_clean_H.pdb, BRAF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2. 구조 정렬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cealign EGFR, ABL1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cealign EGFR, BRAF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3. 리본 표현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cartoon, all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palegreen, EGFR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lightblue, ABL1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lightorange, BRAF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4. 결합 부위 비교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site_egfr, EGFR within 5 of (EGFR and organic)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site_abl1, ABL1 within 5 of (ABL1 and organic)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site_braf, BRAF within 5 of (BRAF and organic)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site_egfr or site_abl1 or site_braf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5. 리간드 표시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lig_egfr, EGFR and organic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lig_abl1, ABL1 and organic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lig_braf, BRAF and organic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lig_egfr or lig_abl1 or lig_braf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green, lig_egfr and elem C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blue, lig_abl1 and elem C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orange, lig_braf and elem C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stick_radius, 0.2, lig_*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6. 선택적으로 On/Off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disable ABL1    # ABL1 숨기기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enable ABL1     # ABL1 다시 보이기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417320"/>
            <a:ext cx="484632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55448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비교 관찰 포인트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6596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ATP 결합 부위의 전체 형태 유사성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50008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Hinge region 보존 (H-bond anchor)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734056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DFG motif 위치 차이 (active vs inactive)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118104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포켓 입구 크기 차이 → 선택성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502151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각 리간드의 결합 방향 비교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343400"/>
            <a:ext cx="4846320" cy="210312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448056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00897B"/>
                </a:solidFill>
                <a:latin typeface="맑은 고딕"/>
              </a:defRPr>
            </a:pPr>
            <a:r>
              <a:t>유용한 추가 명령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4892040"/>
            <a:ext cx="4389120" cy="13716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B-factor 색상 (구조 유연성)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spectrum b, blue_white_red, EGFR</a:t>
            </a: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시퀀스 정렬 보기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seq_view,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7: 색상 팔레트 &amp; 스타일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일관된 시각화를 위한 색상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486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추천 색상 체계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3035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212121"/>
                </a:solidFill>
                <a:latin typeface="맑은 고딕"/>
              </a:defRPr>
            </a:pPr>
            <a:r>
              <a:t>단백질 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8288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00897B"/>
                </a:solidFill>
                <a:latin typeface="맑은 고딕"/>
              </a:defRPr>
            </a:pPr>
            <a:r>
              <a:t>palegreen / white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8288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757575"/>
                </a:solidFill>
                <a:latin typeface="맑은 고딕"/>
              </a:defRPr>
            </a:pPr>
            <a:r>
              <a:t>color palegreen, protein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40280"/>
            <a:ext cx="53035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860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212121"/>
                </a:solidFill>
                <a:latin typeface="맑은 고딕"/>
              </a:defRPr>
            </a:pPr>
            <a:r>
              <a:t>결합 부위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2860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00897B"/>
                </a:solidFill>
                <a:latin typeface="맑은 고딕"/>
              </a:defRPr>
            </a:pPr>
            <a:r>
              <a:t>skyblue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2860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757575"/>
                </a:solidFill>
                <a:latin typeface="맑은 고딕"/>
              </a:defRPr>
            </a:pPr>
            <a:r>
              <a:t>color skyblue, pocket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697480"/>
            <a:ext cx="53035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7432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212121"/>
                </a:solidFill>
                <a:latin typeface="맑은 고딕"/>
              </a:defRPr>
            </a:pPr>
            <a:r>
              <a:t>Crystal 리간드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7432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00897B"/>
                </a:solidFill>
                <a:latin typeface="맑은 고딕"/>
              </a:defRPr>
            </a:pPr>
            <a:r>
              <a:t>magenta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27432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757575"/>
                </a:solidFill>
                <a:latin typeface="맑은 고딕"/>
              </a:defRPr>
            </a:pPr>
            <a:r>
              <a:t>color magenta, ref_ligand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54680"/>
            <a:ext cx="53035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2004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212121"/>
                </a:solidFill>
                <a:latin typeface="맑은 고딕"/>
              </a:defRPr>
            </a:pPr>
            <a:r>
              <a:t>Docked 포즈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32004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00897B"/>
                </a:solidFill>
                <a:latin typeface="맑은 고딕"/>
              </a:defRPr>
            </a:pPr>
            <a: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32004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757575"/>
                </a:solidFill>
                <a:latin typeface="맑은 고딕"/>
              </a:defRPr>
            </a:pPr>
            <a:r>
              <a:t>color green, docked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611880"/>
            <a:ext cx="53035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6576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212121"/>
                </a:solidFill>
                <a:latin typeface="맑은 고딕"/>
              </a:defRPr>
            </a:pPr>
            <a:r>
              <a:t>수소 결합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36576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00897B"/>
                </a:solidFill>
                <a:latin typeface="맑은 고딕"/>
              </a:defRPr>
            </a:pPr>
            <a:r>
              <a:t>yellow (dash)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36576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757575"/>
                </a:solidFill>
                <a:latin typeface="맑은 고딕"/>
              </a:defRPr>
            </a:pPr>
            <a:r>
              <a:t>set dash_color, yellow, hb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069080"/>
            <a:ext cx="53035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1148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212121"/>
                </a:solidFill>
                <a:latin typeface="맑은 고딕"/>
              </a:defRPr>
            </a:pPr>
            <a:r>
              <a:t>WT 구조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41148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00897B"/>
                </a:solidFill>
                <a:latin typeface="맑은 고딕"/>
              </a:defRPr>
            </a:pPr>
            <a:r>
              <a:t>palegreen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41148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757575"/>
                </a:solidFill>
                <a:latin typeface="맑은 고딕"/>
              </a:defRPr>
            </a:pPr>
            <a:r>
              <a:t>color palegreen, WT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526280"/>
            <a:ext cx="53035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5720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212121"/>
                </a:solidFill>
                <a:latin typeface="맑은 고딕"/>
              </a:defRPr>
            </a:pPr>
            <a:r>
              <a:t>Mutant 구조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45720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00897B"/>
                </a:solidFill>
                <a:latin typeface="맑은 고딕"/>
              </a:defRPr>
            </a:pPr>
            <a:r>
              <a:t>salmon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5720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757575"/>
                </a:solidFill>
                <a:latin typeface="맑은 고딕"/>
              </a:defRPr>
            </a:pPr>
            <a:r>
              <a:t>color salmon, T790M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983480"/>
            <a:ext cx="53035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0292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212121"/>
                </a:solidFill>
                <a:latin typeface="맑은 고딕"/>
              </a:defRPr>
            </a:pPr>
            <a:r>
              <a:t>변이 잔기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0" y="50292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00897B"/>
                </a:solidFill>
                <a:latin typeface="맑은 고딕"/>
              </a:defRPr>
            </a:pPr>
            <a:r>
              <a:t>red (spheres)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23360" y="50292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757575"/>
                </a:solidFill>
                <a:latin typeface="맑은 고딕"/>
              </a:defRPr>
            </a:pPr>
            <a:r>
              <a:t>color red, mutation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1417320"/>
            <a:ext cx="4846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투명도 &amp; 스타일 설정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1783080"/>
            <a:ext cx="4846320" cy="47548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 투명도 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transparency, 0.7, protein     # 표면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cartoon_transparency, 0.3      # 리본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stick_transparency, 0.2        # 막대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 크기 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stick_radius, 0.15             # 막대 굵기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sphere_scale, 0.8              # 구 크기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label_size, 14                 # 라벨 크기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 배경 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bg_color white                     # 출판용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bg_color black                     # 프레젠테이션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 품질 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antialias, 2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ray_shadow, 1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ray_trace_mode, 1              # 고품질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 프리셋 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preset.ball_and_stick("ligand")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preset.publication("protein")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 투명 배경 PNG 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ray_opaque_background, 0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ray 1920, 1080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png output_transparent.png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8: 이미지 저장 &amp; 세션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pymol_scripts/05_save_images.pml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고해상도 이미지 저장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303520" cy="2743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1. 렌더링 설정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antialias, 2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ray_shadow, 1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ray_trace_mode, 1    # 고품질 모드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ambient, 0.4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direct, 0.6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specular, 0.3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bg_color white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2. 렌더링 &amp; 저장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ray 2400, 1800           # 해상도 (픽셀)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png figure_1.png, dpi=300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3. 투명 배경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ray_opaque_background, 0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ray 2400, 1800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png figure_transparent.png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0060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세션 저장 &amp; 복원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66359"/>
            <a:ext cx="5303520" cy="13716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세션 저장 (.pse = 모든 상태 보존)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save my_analysis.pse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세션 복원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my_analysis.pse</a:t>
            </a: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→ 모든 객체, 색상, 카메라 뷰 복원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417320"/>
            <a:ext cx="4846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해상도 &amp; 용도 가이드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874520"/>
            <a:ext cx="48463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1874520"/>
            <a:ext cx="109728" cy="4572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1938528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1920 x 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938528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발표용 (Full HD)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2423160"/>
            <a:ext cx="48463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2423160"/>
            <a:ext cx="109728" cy="4572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2487168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2400 x 1800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487168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논문 figure (300 dpi)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2971800"/>
            <a:ext cx="48463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2971800"/>
            <a:ext cx="109728" cy="45720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035808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3840 x 2160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035808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포스터/고해상 (4K)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703320"/>
            <a:ext cx="4846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파일 포맷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4160520"/>
            <a:ext cx="48463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4206240"/>
            <a:ext cx="10972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.pse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06240"/>
            <a:ext cx="32004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PyMOL 세션 (나중에 수정 가능)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617720"/>
            <a:ext cx="48463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4663440"/>
            <a:ext cx="10972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.png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663440"/>
            <a:ext cx="32004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래스터 이미지 (발표/논문)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0" y="5074920"/>
            <a:ext cx="48463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5120640"/>
            <a:ext cx="10972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.pml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20640"/>
            <a:ext cx="32004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스크립트 (재현 가능한 시각화)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5532120"/>
            <a:ext cx="48463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5577840"/>
            <a:ext cx="10972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.pdb / .sdf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577840"/>
            <a:ext cx="32004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구조 데이터 (다른 도구로 전달)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9: PyMOL ↔ DataWarrior 연동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구조 시각화(PyMOL)와 데이터 분석(DataWarrior)을 연결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5603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2560320" cy="54864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Colab/Docker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21031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도킹 실행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SDF + CSV 생성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14884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200"/>
              </a:spcAft>
              <a:defRPr sz="26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417320"/>
            <a:ext cx="25603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37560" y="1417320"/>
            <a:ext cx="2560320" cy="54864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DataWarrior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48840"/>
            <a:ext cx="21031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스코어 필터링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SAR 분석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관심 포즈 선별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14884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200"/>
              </a:spcAft>
              <a:defRPr sz="26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17320"/>
            <a:ext cx="25603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2560320" cy="54864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SDF Export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148840"/>
            <a:ext cx="21031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File → Save Special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→ SD-File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선별된 포즈만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4884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200"/>
              </a:spcAft>
              <a:defRPr sz="26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417320"/>
            <a:ext cx="25603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98280" y="1417320"/>
            <a:ext cx="2560320" cy="54864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PyMOL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148840"/>
            <a:ext cx="21031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3D 시각화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상호작용 확인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이미지 저장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794760"/>
            <a:ext cx="10698480" cy="2743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DataWarrior에서 선별한 포즈를 PyMOL에서 보기: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1. DataWarrior: 필터 적용 → File → Save Special → SD-File → selected_poses.sdf</a:t>
            </a: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2. PyMOL: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protein_H.pdb, protein                 # 단백질 로드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selected_poses.sdf, hits               # DataWarrior에서 선별한 포즈 로드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cartoon, protein                        # 단백질 리본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sticks, hits                            # 선별 포즈 막대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green, hits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select pocket, protein within 5 of hits     # 결합 부위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sticks, pocket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hb, hits, pocket, mode=2           # 수소 결합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zoom hits, 8                                 # 확대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400" b="1">
                <a:solidFill>
                  <a:srgbClr val="FFFFFF"/>
                </a:solidFill>
                <a:latin typeface="맑은 고딕"/>
              </a:defRPr>
            </a:pPr>
            <a:r>
              <a:t>PyMOL 명령어 치트시트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3657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로드 &amp; 저장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fetch 6nzp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755648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load file.pdb, name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31136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save out.pdb, selection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706624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delete 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914400"/>
            <a:ext cx="3657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선택 (Selection)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280160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select Prot, polymer.protein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755648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select Lig, organic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231136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select site, prot within 5 of lig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706624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remove solvent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914400"/>
            <a:ext cx="3657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표현 (Show/Hide)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280160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show cartoon, protein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755648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show sticks, ligand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231136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show surface, protein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706624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hide everything, solvent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749039"/>
            <a:ext cx="3657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색상 &amp; 라벨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114799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color green, ligand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590287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util.cbag ligand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065775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spectrum b, blue_white_red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5541263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label site and name CA, resn+resi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749039"/>
            <a:ext cx="3657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분석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4114799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distance hb, A, B, mode=2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4590287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cealign ref, mobile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5065775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split_states docked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0" y="5541263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zoom ligand, 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3749039"/>
            <a:ext cx="3657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이미지 저장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4114799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bg_color white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4590287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set ray_trace_mode,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5065775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ray 2400, 1800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5541263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png figure.png, dpi=300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