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5200" b="1">
                <a:solidFill>
                  <a:srgbClr val="FFFFFF"/>
                </a:solidFill>
                <a:latin typeface="맑은 고딕"/>
              </a:defRPr>
            </a:pPr>
            <a:r>
              <a:t>PyMOL 도킹 결과 시각화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2400" b="0">
                <a:solidFill>
                  <a:srgbClr val="00897B"/>
                </a:solidFill>
                <a:latin typeface="맑은 고딕"/>
              </a:defRPr>
            </a:pPr>
            <a:r>
              <a:t>분자 도킹 결과를 3D로 분석하는 실습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AAAAAA"/>
                </a:solidFill>
                <a:latin typeface="맑은 고딕"/>
              </a:defRPr>
            </a:pPr>
            <a:r>
              <a:t>실습 1.  단백질-리간드 복합체 보기</a:t>
            </a:r>
          </a:p>
          <a:p>
            <a:pPr algn="l">
              <a:spcAft>
                <a:spcPts val="300"/>
              </a:spcAft>
              <a:defRPr sz="1800" b="0">
                <a:solidFill>
                  <a:srgbClr val="AAAAAA"/>
                </a:solidFill>
                <a:latin typeface="맑은 고딕"/>
              </a:defRPr>
            </a:pPr>
            <a:r>
              <a:t>실습 2.  도킹 포즈 분석</a:t>
            </a:r>
          </a:p>
          <a:p>
            <a:pPr algn="l">
              <a:spcAft>
                <a:spcPts val="300"/>
              </a:spcAft>
              <a:defRPr sz="1800" b="0">
                <a:solidFill>
                  <a:srgbClr val="AAAAAA"/>
                </a:solidFill>
                <a:latin typeface="맑은 고딕"/>
              </a:defRPr>
            </a:pPr>
            <a:r>
              <a:t>실습 3.  Crystal vs Docked 비교</a:t>
            </a:r>
          </a:p>
          <a:p>
            <a:pPr algn="l">
              <a:spcAft>
                <a:spcPts val="300"/>
              </a:spcAft>
              <a:defRPr sz="1800" b="0">
                <a:solidFill>
                  <a:srgbClr val="AAAAAA"/>
                </a:solidFill>
                <a:latin typeface="맑은 고딕"/>
              </a:defRPr>
            </a:pPr>
            <a:r>
              <a:t>실습 4.  EGFR 변이체 비교</a:t>
            </a:r>
          </a:p>
          <a:p>
            <a:pPr algn="l">
              <a:spcAft>
                <a:spcPts val="300"/>
              </a:spcAft>
              <a:defRPr sz="1800" b="0">
                <a:solidFill>
                  <a:srgbClr val="AAAAAA"/>
                </a:solidFill>
                <a:latin typeface="맑은 고딕"/>
              </a:defRPr>
            </a:pPr>
            <a:r>
              <a:t>실습 5.  Kinase Panel 비교</a:t>
            </a:r>
          </a:p>
          <a:p>
            <a:pPr algn="l">
              <a:spcAft>
                <a:spcPts val="300"/>
              </a:spcAft>
              <a:defRPr sz="1800" b="0">
                <a:solidFill>
                  <a:srgbClr val="AAAAAA"/>
                </a:solidFill>
                <a:latin typeface="맑은 고딕"/>
              </a:defRPr>
            </a:pPr>
            <a:r>
              <a:t>실습 6.  이미지 저장 &amp; 내보내기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PyMOL 인터페이스 &amp; 기본 조작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265176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2651760" cy="91440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명령 줄</a:t>
            </a:r>
            <a:br/>
            <a:r>
              <a:t>(Command Line)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2103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하단 입력창에서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PyMOL 명령어 직접 입력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</a:p>
          <a:p>
            <a:pPr algn="l">
              <a:spcAft>
                <a:spcPts val="3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fetch 6nzp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show cartoon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371600"/>
            <a:ext cx="265176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37560" y="1371600"/>
            <a:ext cx="2651760" cy="91440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3D 뷰포트</a:t>
            </a:r>
            <a:br/>
            <a:r>
              <a:t>(Viewer)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2560320"/>
            <a:ext cx="2103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마우스로 회전/줌/이동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좌클릭+드래그: 회전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휠: 줌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우클릭+드래그: 이동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265176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2651760" cy="91440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객체 패널</a:t>
            </a:r>
            <a:br/>
            <a:r>
              <a:t>(Object Panel)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560320"/>
            <a:ext cx="2103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우측 패널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로드된 분자 목록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A/S/H/L/C 버튼으로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표현 제어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98280" y="1371600"/>
            <a:ext cx="265176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098280" y="1371600"/>
            <a:ext cx="2651760" cy="914400"/>
          </a:xfrm>
          <a:prstGeom prst="round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스크립트 실행</a:t>
            </a:r>
            <a:br/>
            <a:r>
              <a:t>(Run Script)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72600" y="2560320"/>
            <a:ext cx="2103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File → Run Script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.pml 파일 선택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→ 명령 자동 실행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</a:p>
          <a:p>
            <a:pPr algn="l">
              <a:spcAft>
                <a:spcPts val="3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@01_load_structure.pml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.pml 스크립트: pymol_scripts/ 폴더에 준비된 스크립트를 실행하면 자동으로 시각화됩니다.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마우스 조작 &amp; 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2000" b="1">
                <a:solidFill>
                  <a:srgbClr val="212121"/>
                </a:solidFill>
                <a:latin typeface="맑은 고딕"/>
              </a:defRPr>
            </a:pPr>
            <a:r>
              <a:t>마우스 조작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0292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1">
                <a:solidFill>
                  <a:srgbClr val="212121"/>
                </a:solidFill>
                <a:latin typeface="Consolas"/>
              </a:defRPr>
            </a:pPr>
            <a:r>
              <a:t>좌클릭 + 드래그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874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분자 회전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31720"/>
            <a:ext cx="50292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77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1">
                <a:solidFill>
                  <a:srgbClr val="212121"/>
                </a:solidFill>
                <a:latin typeface="Consolas"/>
              </a:defRPr>
            </a:pPr>
            <a:r>
              <a:t>우클릭 + 드래그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3774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분자 이동 (팬)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34640"/>
            <a:ext cx="50292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80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1">
                <a:solidFill>
                  <a:srgbClr val="212121"/>
                </a:solidFill>
                <a:latin typeface="Consolas"/>
              </a:defRPr>
            </a:pPr>
            <a:r>
              <a:t>휠 스크롤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8803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줌 인/아웃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37560"/>
            <a:ext cx="50292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383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1">
                <a:solidFill>
                  <a:srgbClr val="212121"/>
                </a:solidFill>
                <a:latin typeface="Consolas"/>
              </a:defRPr>
            </a:pPr>
            <a:r>
              <a:t>휠 클릭 + 드래그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338328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Z-클리핑 (단면 절단)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840480"/>
            <a:ext cx="50292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86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1">
                <a:solidFill>
                  <a:srgbClr val="212121"/>
                </a:solidFill>
                <a:latin typeface="Consolas"/>
              </a:defRPr>
            </a:pPr>
            <a:r>
              <a:t>좌클릭 (원자)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38862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원자 선택 / 정보 표시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343400"/>
            <a:ext cx="50292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389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1">
                <a:solidFill>
                  <a:srgbClr val="212121"/>
                </a:solidFill>
                <a:latin typeface="Consolas"/>
              </a:defRPr>
            </a:pPr>
            <a:r>
              <a:t>Ctrl + 좌클릭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43891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거리 측정 모드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2000" b="1">
                <a:solidFill>
                  <a:srgbClr val="212121"/>
                </a:solidFill>
                <a:latin typeface="맑은 고딕"/>
              </a:defRPr>
            </a:pPr>
            <a:r>
              <a:t>핵심 개념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1828800"/>
            <a:ext cx="109728" cy="64008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1828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1E88E5"/>
                </a:solidFill>
                <a:latin typeface="맑은 고딕"/>
              </a:defRPr>
            </a:pPr>
            <a:r>
              <a:t>Object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2148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로드된 분자 단위 (protein, ligand 등)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651760"/>
            <a:ext cx="109728" cy="64008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26517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00897B"/>
                </a:solidFill>
                <a:latin typeface="맑은 고딕"/>
              </a:defRPr>
            </a:pPr>
            <a:r>
              <a:t>Selection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2971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원자들의 부분 집합 (sele, pocket 등)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3474720"/>
            <a:ext cx="109728" cy="64008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0" y="3474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43A047"/>
                </a:solidFill>
                <a:latin typeface="맑은 고딕"/>
              </a:defRPr>
            </a:pPr>
            <a:r>
              <a:t>State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37947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SDF의 여러 포즈 = multi-state object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4297680"/>
            <a:ext cx="109728" cy="640080"/>
          </a:xfrm>
          <a:prstGeom prst="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42976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8E24AA"/>
                </a:solidFill>
                <a:latin typeface="맑은 고딕"/>
              </a:defRPr>
            </a:pPr>
            <a:r>
              <a:t>Representation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6177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cartoon, sticks, surface, spheres 등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5212080"/>
            <a:ext cx="5029200" cy="12801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Selection 문법 예시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polymer.protein       # 단백질만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organic               # 유기 리간드만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prot within 5 of lig  # 5A 이내 잔기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resi 790              # 790번 잔기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name CA               # Calpha 원자만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4가지 표현 방법 (Representation)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이론 PDF "보이지 않는 분자를 보는 3가지 렌즈" 참조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554480"/>
            <a:ext cx="27432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554480"/>
            <a:ext cx="2743200" cy="82296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Cartoon</a:t>
            </a:r>
            <a:br/>
            <a:r>
              <a:t>(리본)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603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전체 뼈대와 2차 구조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α-helix, β-sheet 확인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단백질 전체 구조 파악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114800"/>
            <a:ext cx="2468880" cy="21031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show cartoon, protein</a:t>
            </a:r>
          </a:p>
          <a:p>
            <a:pPr>
              <a:spcAft>
                <a:spcPts val="10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color palegreen, protein</a:t>
            </a:r>
          </a:p>
          <a:p>
            <a:pPr>
              <a:spcAft>
                <a:spcPts val="10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set cartoon_fancy_helices,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554480"/>
            <a:ext cx="27432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91840" y="1554480"/>
            <a:ext cx="2743200" cy="82296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Sticks</a:t>
            </a:r>
            <a:br/>
            <a:r>
              <a:t>(막대)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603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원자 수준 결합 표시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리간드와 결합 부위 분석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수소결합 확인에 최적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4114800"/>
            <a:ext cx="2468880" cy="21031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show sticks, ligand</a:t>
            </a:r>
          </a:p>
          <a:p>
            <a:pPr>
              <a:spcAft>
                <a:spcPts val="10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util.cbag ligand</a:t>
            </a:r>
          </a:p>
          <a:p>
            <a:pPr>
              <a:spcAft>
                <a:spcPts val="10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set stick_radius, 0.15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27432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0" y="1554480"/>
            <a:ext cx="2743200" cy="82296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Surface</a:t>
            </a:r>
            <a:br/>
            <a:r>
              <a:t>(표면)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5603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분자 표면과 포켓 시각화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입체 장애(steric) 확인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전하 분포 표시 가능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4114800"/>
            <a:ext cx="2468880" cy="21031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show surface, protein</a:t>
            </a:r>
          </a:p>
          <a:p>
            <a:pPr>
              <a:spcAft>
                <a:spcPts val="10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set transparency, 0.7</a:t>
            </a:r>
          </a:p>
          <a:p>
            <a:pPr>
              <a:spcAft>
                <a:spcPts val="10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set surface_color, white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1554480"/>
            <a:ext cx="27432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0" y="1554480"/>
            <a:ext cx="2743200" cy="82296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Spheres</a:t>
            </a:r>
            <a:br/>
            <a:r>
              <a:t>(구)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25603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원자의 실제 크기(vdW)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공간 충전 모델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충돌(clash) 확인에 유용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81160" y="4114800"/>
            <a:ext cx="2468880" cy="21031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show spheres, resi 790</a:t>
            </a:r>
          </a:p>
          <a:p>
            <a:pPr>
              <a:spcAft>
                <a:spcPts val="10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set sphere_scale, 0.8</a:t>
            </a:r>
          </a:p>
          <a:p>
            <a:pPr>
              <a:spcAft>
                <a:spcPts val="100"/>
              </a:spcAft>
              <a:defRPr sz="1000">
                <a:solidFill>
                  <a:srgbClr val="ABB2BF"/>
                </a:solidFill>
                <a:latin typeface="Consolas"/>
              </a:defRPr>
            </a:pPr>
            <a:r>
              <a:t>color red, resi 790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실습 1: 단백질-리간드 복합체 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pymol_scripts/01_load_structure.pml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303520" cy="50292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300">
                <a:solidFill>
                  <a:srgbClr val="6A9955"/>
                </a:solidFill>
                <a:latin typeface="Consolas"/>
              </a:defRPr>
            </a:pPr>
            <a:r>
              <a:t># 1. 파일 로드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load 6nzp_clean_H.pdb, protein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load 6nzp_lig_H.mol2, ref_ligand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6A9955"/>
                </a:solidFill>
                <a:latin typeface="Consolas"/>
              </a:defRPr>
            </a:pPr>
            <a:r>
              <a:t># 2. 단백질: 리본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show cartoon, protein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color palegreen, protein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6A9955"/>
                </a:solidFill>
                <a:latin typeface="Consolas"/>
              </a:defRPr>
            </a:pPr>
            <a:r>
              <a:t># 3. 리간드: 막대 (원소별 색상)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show sticks, ref_ligand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util.cbam ref_ligand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6A9955"/>
                </a:solidFill>
                <a:latin typeface="Consolas"/>
              </a:defRPr>
            </a:pPr>
            <a:r>
              <a:t># 4. 결합 부위 (5A 이내)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select pocket, protein within 5 of ref_ligand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show sticks, pocket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color skyblue, pocket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6A9955"/>
                </a:solidFill>
                <a:latin typeface="Consolas"/>
              </a:defRPr>
            </a:pPr>
            <a:r>
              <a:t># 5. 반투명 표면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show surface, pocket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set transparency, 0.7, pocket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6A9955"/>
                </a:solidFill>
                <a:latin typeface="Consolas"/>
              </a:defRPr>
            </a:pPr>
            <a:r>
              <a:t># 6. 수소 결합 (노란 점선)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distance hbonds, ref_ligand, pocket, mode=2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set dash_color, yellow, hbonds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set dash_width, 2.5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hide labels, hbonds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6A9955"/>
                </a:solidFill>
                <a:latin typeface="Consolas"/>
              </a:defRPr>
            </a:pPr>
            <a:r>
              <a:t># 7. 잔기 라벨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label pocket and name CA, "%s%s" % (resn, resi)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set label_size, 12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6A9955"/>
                </a:solidFill>
                <a:latin typeface="Consolas"/>
              </a:defRPr>
            </a:pPr>
            <a:r>
              <a:t># 8. 카메라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zoom ref_ligand,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554480"/>
            <a:ext cx="4846320" cy="502920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7373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2000" b="1">
                <a:solidFill>
                  <a:srgbClr val="00897B"/>
                </a:solidFill>
                <a:latin typeface="맑은 고딕"/>
              </a:defRPr>
            </a:pPr>
            <a:r>
              <a:t>단계별 설명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2860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1">
                <a:solidFill>
                  <a:srgbClr val="00897B"/>
                </a:solidFill>
                <a:latin typeface="Consolas"/>
              </a:defRPr>
            </a:pPr>
            <a:r>
              <a:t>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2860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PDB/MOL2 파일을 이름을 지정하여 로드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7889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1">
                <a:solidFill>
                  <a:srgbClr val="00897B"/>
                </a:solidFill>
                <a:latin typeface="Consolas"/>
              </a:defRPr>
            </a:pPr>
            <a:r>
              <a:t>cartoon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7889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단백질 전체 뼈대를 리본으로 표시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32918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1">
                <a:solidFill>
                  <a:srgbClr val="00897B"/>
                </a:solidFill>
                <a:latin typeface="Consolas"/>
              </a:defRPr>
            </a:pPr>
            <a:r>
              <a:t>sticks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32918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리간드를 원자-결합 막대로 표시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7947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1">
                <a:solidFill>
                  <a:srgbClr val="00897B"/>
                </a:solidFill>
                <a:latin typeface="Consolas"/>
              </a:defRPr>
            </a:pPr>
            <a:r>
              <a:t>util.cbam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7947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원소별 색상 (C=마젠타, N=파랑, O=빨강)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4297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1">
                <a:solidFill>
                  <a:srgbClr val="00897B"/>
                </a:solidFill>
                <a:latin typeface="Consolas"/>
              </a:defRPr>
            </a:pPr>
            <a:r>
              <a:t>within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2976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리간드에서 5 A 이내 잔기 자동 선택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48006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1">
                <a:solidFill>
                  <a:srgbClr val="00897B"/>
                </a:solidFill>
                <a:latin typeface="Consolas"/>
              </a:defRPr>
            </a:pPr>
            <a:r>
              <a:t>surface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800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표면으로 포켓 형태 시각화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5303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1">
                <a:solidFill>
                  <a:srgbClr val="00897B"/>
                </a:solidFill>
                <a:latin typeface="Consolas"/>
              </a:defRPr>
            </a:pPr>
            <a:r>
              <a:t>distance mode=2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53035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H-bond 자동 감지 (노란 점선)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58064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1">
                <a:solidFill>
                  <a:srgbClr val="00897B"/>
                </a:solidFill>
                <a:latin typeface="Consolas"/>
              </a:defRPr>
            </a:pPr>
            <a:r>
              <a:t>label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58064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잔기 이름+번호 라벨 표시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실습 2: 도킹 포즈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pymol_scripts/02_docking_pose.pml  |  Crystal vs Docked 비교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303520" cy="50292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===== Best Pose 보기 =====</a:t>
            </a:r>
          </a:p>
          <a:p>
            <a:pPr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Vina 결과 로드 (multi-state SDF)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load 6nzp_lig_vina_out.sdf, docked_vina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all_states, 0       # 한 포즈만 표시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frame 1                 # 첫 번째 = best score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도킹 포즈: 초록색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show sticks, docked_vina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color green, docked_vina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===== Crystal vs Docked 비교 =====</a:t>
            </a:r>
          </a:p>
          <a:p>
            <a:pPr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참조 리간드 (마젠타)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show sticks, ref_ligand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color magenta, ref_ligand</a:t>
            </a:r>
          </a:p>
          <a:p>
            <a:pPr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  magenta = 실험 crystal</a:t>
            </a:r>
          </a:p>
          <a:p>
            <a:pPr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  green   = 도킹 예측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===== 여러 포즈 색상 구분 =====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split_states docked_vina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color green,  docked_vina_0001   # 1st (best)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color yellow, docked_vina_0002   # 2nd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color salmon, docked_vina_0003   # 3rd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color cyan,   docked_vina_0004   # 4th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===== 포즈 순회 =====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frame 1   # 1번 포즈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frame 2   # 2번 포즈 (키보드 ← → 도 가능)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===== 도킹 포즈의 수소 결합 =====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distance hb_dock, docked_vina, pocket, mode=2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dash_color, chartreuse, hb_dock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554480"/>
            <a:ext cx="484632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6916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2000" b="1">
                <a:solidFill>
                  <a:srgbClr val="212121"/>
                </a:solidFill>
                <a:latin typeface="맑은 고딕"/>
              </a:defRPr>
            </a:pPr>
            <a:r>
              <a:t>포즈 분석 포인트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1488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1. Best pose가 crystal pose와 겹치는가? (RMSD &lt; 2A)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6060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2. 수소결합 패턴이 유사한가?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0632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3. 리간드 방향(orientation)이 일치하는가?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520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4. 포즈 간 편차가 큰가? (여러 포즈 비교)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4297680"/>
            <a:ext cx="4846320" cy="228600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44348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00897B"/>
                </a:solidFill>
                <a:latin typeface="맑은 고딕"/>
              </a:defRPr>
            </a:pPr>
            <a:r>
              <a:t>util.cba* 색상 치트시트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48920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1">
                <a:solidFill>
                  <a:srgbClr val="00897B"/>
                </a:solidFill>
                <a:latin typeface="Consolas"/>
              </a:defRPr>
            </a:pPr>
            <a:r>
              <a:t>util.cbag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48920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C=Green + 원소별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1">
                <a:solidFill>
                  <a:srgbClr val="00897B"/>
                </a:solidFill>
                <a:latin typeface="Consolas"/>
              </a:defRPr>
            </a:pPr>
            <a:r>
              <a:t>util.cbam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52120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C=Magenta + 원소별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553211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1">
                <a:solidFill>
                  <a:srgbClr val="00897B"/>
                </a:solidFill>
                <a:latin typeface="Consolas"/>
              </a:defRPr>
            </a:pPr>
            <a:r>
              <a:t>util.cbac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553211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C=Cyan + 원소별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585215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1">
                <a:solidFill>
                  <a:srgbClr val="00897B"/>
                </a:solidFill>
                <a:latin typeface="Consolas"/>
              </a:defRPr>
            </a:pPr>
            <a:r>
              <a:t>util.cbay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585215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C=Yellow + 원소별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61722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1">
                <a:solidFill>
                  <a:srgbClr val="00897B"/>
                </a:solidFill>
                <a:latin typeface="Consolas"/>
              </a:defRPr>
            </a:pPr>
            <a:r>
              <a:t>util.cbas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61722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C=Salmon + 원소별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실습 3: 수소 결합 &amp; 거리 측정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도킹 결과의 상호작용을 정량적으로 분석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자동 수소 결합 감지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303520" cy="201168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300">
                <a:solidFill>
                  <a:srgbClr val="6A9955"/>
                </a:solidFill>
                <a:latin typeface="Consolas"/>
              </a:defRPr>
            </a:pPr>
            <a:r>
              <a:t># mode=2: H-bond만 자동 감지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distance hbonds, docked_vina, pocket, mode=2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6A9955"/>
                </a:solidFill>
                <a:latin typeface="Consolas"/>
              </a:defRPr>
            </a:pPr>
            <a:r>
              <a:t># 스타일 설정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set dash_color, yellow, hbonds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set dash_width, 2.5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set dash_gap, 0.15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6A9955"/>
                </a:solidFill>
                <a:latin typeface="Consolas"/>
              </a:defRPr>
            </a:pPr>
            <a:r>
              <a:t># 라벨 (거리 표시)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set label_size, 10</a:t>
            </a:r>
          </a:p>
          <a:p>
            <a:pPr>
              <a:spcAft>
                <a:spcPts val="100"/>
              </a:spcAft>
              <a:defRPr sz="1300">
                <a:solidFill>
                  <a:srgbClr val="6A9955"/>
                </a:solidFill>
                <a:latin typeface="Consolas"/>
              </a:defRPr>
            </a:pPr>
            <a:r>
              <a:t># hide labels, hbonds  ← 라벨 숨기려면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수동 거리 측정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54880"/>
            <a:ext cx="5303520" cy="18288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300">
                <a:solidFill>
                  <a:srgbClr val="6A9955"/>
                </a:solidFill>
                <a:latin typeface="Consolas"/>
              </a:defRPr>
            </a:pPr>
            <a:r>
              <a:t># 특정 원자 간 거리 측정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distance d1, /docked_vina///UNK/N1, \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             /protein///LEU932/O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6A9955"/>
                </a:solidFill>
                <a:latin typeface="Consolas"/>
              </a:defRPr>
            </a:pPr>
            <a:r>
              <a:t># → 3.2 A 등의 거리가 표시됨</a:t>
            </a:r>
          </a:p>
          <a:p>
            <a:pPr>
              <a:spcAft>
                <a:spcPts val="100"/>
              </a:spcAft>
              <a:defRPr sz="1300">
                <a:solidFill>
                  <a:srgbClr val="6A9955"/>
                </a:solidFill>
                <a:latin typeface="Consolas"/>
              </a:defRPr>
            </a:pPr>
            <a:r>
              <a:t># 2.5-3.5 A = 수소결합 범위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554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거리별 상호작용 해석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057400"/>
            <a:ext cx="109728" cy="4572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20574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212121"/>
                </a:solidFill>
                <a:latin typeface="Consolas"/>
              </a:defRPr>
            </a:pPr>
            <a:r>
              <a:t>&lt; 2.5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057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매우 강한 H-bond / 공유결합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651760"/>
            <a:ext cx="109728" cy="45720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26517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212121"/>
                </a:solidFill>
                <a:latin typeface="Consolas"/>
              </a:defRPr>
            </a:pPr>
            <a:r>
              <a:t>2.5 - 3.5 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651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수소 결합 (H-bond)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246120"/>
            <a:ext cx="109728" cy="4572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32461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212121"/>
                </a:solidFill>
                <a:latin typeface="Consolas"/>
              </a:defRPr>
            </a:pPr>
            <a:r>
              <a:t>3.5 - 4.0 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246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π-π stacking / 소수성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840480"/>
            <a:ext cx="109728" cy="457200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38404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212121"/>
                </a:solidFill>
                <a:latin typeface="Consolas"/>
              </a:defRPr>
            </a:pPr>
            <a:r>
              <a:t>4.0 - 5.0 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8404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약한 상호작용 / van der Waals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4434840"/>
            <a:ext cx="109728" cy="457200"/>
          </a:xfrm>
          <a:prstGeom prst="rect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434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212121"/>
                </a:solidFill>
                <a:latin typeface="Consolas"/>
              </a:defRPr>
            </a:pPr>
            <a:r>
              <a:t>&gt; 5.0 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4348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직접 상호작용 없음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1206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Polar contact 표시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5577840"/>
            <a:ext cx="4846320" cy="109728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모든 polar contact (mode=2: H-bonds)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distance polar, all, all, mode=2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특정 잔기만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distance hb_asp, /protein///ASP/OD*,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         /docked_vina///UNK/N*, mode=2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실습 4: EGFR WT vs T790M 변이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pymol_scripts/03_compare_mutations.pml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303520" cy="50292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1. 두 구조 로드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load WT_Erlotinib/1m17_clean_H.pdb, WT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load T790M_Neratinib/2jit_clean_H.pdb, T790M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2. 구조 정렬 (CE-Align)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cealign WT, T790M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3. 색상 구분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color palegreen, WT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color salmon, T790M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show cartoon, WT or T790M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4. Gatekeeper 잔기 (790번)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select gate_wt,  WT and resi 790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select gate_mut, T790M and resi 790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show spheres, gate_wt or gate_mut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color blue, gate_wt       # Thr (WT)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color red, gate_mut       # Met (mutant)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5. 라벨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label gate_wt and name CA, "Thr790 (WT)"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label gate_mut and name CA, "Met790 (Mut)"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label_size, 16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6. 결합 부위 비교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select site_wt,  WT within 5 of (WT and organic)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select site_mut, T790M within 5 of (T790M and organic)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show sticks, site_wt or site_mut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7. 약물 도킹 포즈 비교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load WT/Osimertinib_smina_out.sdf, osi_WT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load T790M/Osimertinib_smina_out.sdf, osi_T790M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all_states, 0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frame 1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color green, osi_WT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color orange, osi_T790M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554480"/>
            <a:ext cx="4846320" cy="502920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7373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2000" b="1">
                <a:solidFill>
                  <a:srgbClr val="00897B"/>
                </a:solidFill>
                <a:latin typeface="맑은 고딕"/>
              </a:defRPr>
            </a:pPr>
            <a:r>
              <a:t>비교 관찰 포인트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2860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500" b="1">
                <a:solidFill>
                  <a:srgbClr val="00897B"/>
                </a:solidFill>
                <a:latin typeface="맑은 고딕"/>
              </a:defRPr>
            </a:pPr>
            <a:r>
              <a:t>구조 정렬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60604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cealign으로 두 구조의 뼈대를 겹침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→ 전체적인 fold는 유사한지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3832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500" b="1">
                <a:solidFill>
                  <a:srgbClr val="00897B"/>
                </a:solidFill>
                <a:latin typeface="맑은 고딕"/>
              </a:defRPr>
            </a:pPr>
            <a:r>
              <a:t>Gatekeeper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70332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Thr790 → Met790 변이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Met의 큰 side chain이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ATP 포켓 입구를 부분 차단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44805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500" b="1">
                <a:solidFill>
                  <a:srgbClr val="00897B"/>
                </a:solidFill>
                <a:latin typeface="맑은 고딕"/>
              </a:defRPr>
            </a:pPr>
            <a:r>
              <a:t>약물 결합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480060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Osimertinib은 T790M에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더 강하게 결합 (3세대 TKI)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→ Met과의 새로운 상호작용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557783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500" b="1">
                <a:solidFill>
                  <a:srgbClr val="00897B"/>
                </a:solidFill>
                <a:latin typeface="맑은 고딕"/>
              </a:defRPr>
            </a:pPr>
            <a:r>
              <a:t>포켓 크기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5897879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show surface로 비교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변이에 의한 포켓 형태 변화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→ 1세대 약물이 못 들어가는 이유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실습 5: Kinase Panel — 결합 부위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pymol_scripts/04_kinase_panel.pml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303520" cy="50292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1. 대표 키나아제 3종 로드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load EGFR/1m17_clean_H.pdb, EGFR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load ABL1/1iep_clean_H.pdb, ABL1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load BRAF/3og7_clean_H.pdb, BRAF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2. 모두 EGFR 기준으로 정렬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cealign EGFR, ABL1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cealign EGFR, BRAF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3. 리본 색상 구분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show cartoon, all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color palegreen, EGFR    # 초록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color lightblue, ABL1    # 파랑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color lightorange, BRAF  # 주황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4. 각 리간드 표시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select lig_egfr, EGFR and organic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select lig_abl1, ABL1 and organic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select lig_braf, BRAF and organic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show sticks, lig_egfr or lig_abl1 or lig_braf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stick_radius, 0.2, lig_*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5. 결합 부위 표면 비교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select site_egfr, EGFR within 5 of lig_egfr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show surface, site_egfr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transparency, 0.6, site_egfr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6. 선택적으로 On/Off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disable ABL1    # ABL1 숨기기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enable ABL1     # ABL1 다시 보이기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554480"/>
            <a:ext cx="484632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6916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2000" b="1">
                <a:solidFill>
                  <a:srgbClr val="212121"/>
                </a:solidFill>
                <a:latin typeface="맑은 고딕"/>
              </a:defRPr>
            </a:pPr>
            <a:r>
              <a:t>비교 관찰 포인트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1031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• ATP 결합 부위의 전체 형태 유사성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4688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• Hinge region 보존 (H-bond anchor)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8346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• DFG motif 위치 차이 (active vs inactive)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20040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• 포켓 입구 크기 차이 → 선택성 근거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356616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• 각 리간드의 결합 방향 비교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4480560"/>
            <a:ext cx="4846320" cy="210312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46177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00897B"/>
                </a:solidFill>
                <a:latin typeface="맑은 고딕"/>
              </a:defRPr>
            </a:pPr>
            <a:r>
              <a:t>유용한 추가 명령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5029200"/>
            <a:ext cx="4389120" cy="13716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B-factor 색상 (구조 유연성)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spectrum b, blue_white_red, EGFR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전하 표면 (정전기 분포)</a:t>
            </a:r>
          </a:p>
          <a:p>
            <a:pPr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→ APBS 플러그인 필요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시퀀스 정렬 보기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seq_view,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색상 팔레트 &amp; 스타일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일관된 시각화를 위한 색상 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추천 색상 체계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3035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단백질 리본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20574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00897B"/>
                </a:solidFill>
                <a:latin typeface="맑은 고딕"/>
              </a:defRPr>
            </a:pPr>
            <a:r>
              <a:t>palegreen / white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057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757575"/>
                </a:solidFill>
                <a:latin typeface="Consolas"/>
              </a:defRPr>
            </a:pPr>
            <a:r>
              <a:t>color palegreen, protein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14600"/>
            <a:ext cx="53035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결합 부위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5603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00897B"/>
                </a:solidFill>
                <a:latin typeface="맑은 고딕"/>
              </a:defRPr>
            </a:pPr>
            <a:r>
              <a:t>skyblue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560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757575"/>
                </a:solidFill>
                <a:latin typeface="Consolas"/>
              </a:defRPr>
            </a:pPr>
            <a:r>
              <a:t>color skyblue, pocket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017520"/>
            <a:ext cx="53035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0632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Crystal 리간드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0632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00897B"/>
                </a:solidFill>
                <a:latin typeface="맑은 고딕"/>
              </a:defRPr>
            </a:pPr>
            <a:r>
              <a:t>magenta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0632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757575"/>
                </a:solidFill>
                <a:latin typeface="Consolas"/>
              </a:defRPr>
            </a:pPr>
            <a:r>
              <a:t>color magenta, ref_ligand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520440"/>
            <a:ext cx="53035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5661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Docked 포즈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35661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00897B"/>
                </a:solidFill>
                <a:latin typeface="맑은 고딕"/>
              </a:defRPr>
            </a:pPr>
            <a:r>
              <a:t>green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5661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757575"/>
                </a:solidFill>
                <a:latin typeface="Consolas"/>
              </a:defRPr>
            </a:pPr>
            <a:r>
              <a:t>color green, docked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023360"/>
            <a:ext cx="53035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0690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수소 결합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40690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00897B"/>
                </a:solidFill>
                <a:latin typeface="맑은 고딕"/>
              </a:defRPr>
            </a:pPr>
            <a:r>
              <a:t>yellow (dash)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0690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757575"/>
                </a:solidFill>
                <a:latin typeface="Consolas"/>
              </a:defRPr>
            </a:pPr>
            <a:r>
              <a:t>set dash_color, yellow, hb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526280"/>
            <a:ext cx="53035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572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WT 구조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51760" y="45720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00897B"/>
                </a:solidFill>
                <a:latin typeface="맑은 고딕"/>
              </a:defRPr>
            </a:pPr>
            <a:r>
              <a:t>palegreen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45720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757575"/>
                </a:solidFill>
                <a:latin typeface="Consolas"/>
              </a:defRPr>
            </a:pPr>
            <a:r>
              <a:t>color palegreen, WT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029200"/>
            <a:ext cx="53035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0749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Mutant 구조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51760" y="50749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00897B"/>
                </a:solidFill>
                <a:latin typeface="맑은 고딕"/>
              </a:defRPr>
            </a:pPr>
            <a:r>
              <a:t>salmon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5074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757575"/>
                </a:solidFill>
                <a:latin typeface="Consolas"/>
              </a:defRPr>
            </a:pPr>
            <a:r>
              <a:t>color salmon, T790M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5532120"/>
            <a:ext cx="53035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5778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변이 잔기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51760" y="5577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00897B"/>
                </a:solidFill>
                <a:latin typeface="맑은 고딕"/>
              </a:defRPr>
            </a:pPr>
            <a:r>
              <a:t>red (spheres)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55778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757575"/>
                </a:solidFill>
                <a:latin typeface="Consolas"/>
              </a:defRPr>
            </a:pPr>
            <a:r>
              <a:t>color red, mutation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1554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투명도 &amp; 스타일 설정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0" y="2011680"/>
            <a:ext cx="4846320" cy="45720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=== 투명도 ===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transparency, 0.7, protein    # 표면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cartoon_transparency, 0.3     # 리본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stick_transparency, 0.2       # 막대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=== 크기 ===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stick_radius, 0.15            # 막대 굵기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sphere_scale, 0.8             # 구 크기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label_size, 14                # 라벨 크기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=== 배경 ===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bg_color white                    # 출판용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bg_color black                    # 프레젠테이션용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=== 품질 ===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antialias, 2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ray_shadow, 1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ray_trace_mode, 1             # 고품질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=== 자주 쓰는 프리셋 ===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preset.ball_and_stick("ligand")   # Ball &amp; Stick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preset.publication("protein")      # 출판 스타일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=== 배경 없는 PNG (투명) ===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ray_opaque_background, 0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ray 1920, 1080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png output_transparent.png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실습 6: 이미지 저장 &amp; 세션 관리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pymol_scripts/05_save_images.pml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고해상도 이미지 저장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303520" cy="27432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300">
                <a:solidFill>
                  <a:srgbClr val="6A9955"/>
                </a:solidFill>
                <a:latin typeface="Consolas"/>
              </a:defRPr>
            </a:pPr>
            <a:r>
              <a:t># 1. 렌더링 설정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set antialias, 2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set ray_shadow, 1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set ray_trace_mode, 1   # 고품질 모드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set ambient, 0.4        # 주변광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set direct, 0.6         # 직사광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bg_color white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6A9955"/>
                </a:solidFill>
                <a:latin typeface="Consolas"/>
              </a:defRPr>
            </a:pPr>
            <a:r>
              <a:t># 2. 렌더링 &amp; 저장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ray 2400, 1800          # 해상도 (픽셀)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png figure_1.png, dpi=300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6A9955"/>
                </a:solidFill>
                <a:latin typeface="Consolas"/>
              </a:defRPr>
            </a:pPr>
            <a:r>
              <a:t># 3. 투명 배경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set ray_opaque_background, 0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ray 2400, 1800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png figure_1_transparent.png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세션 저장 &amp; 복원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5303520" cy="11887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300">
                <a:solidFill>
                  <a:srgbClr val="6A9955"/>
                </a:solidFill>
                <a:latin typeface="Consolas"/>
              </a:defRPr>
            </a:pPr>
            <a:r>
              <a:t># 세션 저장 (.pse = 모든 상태 보존)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save my_analysis.pse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6A9955"/>
                </a:solidFill>
                <a:latin typeface="Consolas"/>
              </a:defRPr>
            </a:pPr>
            <a:r>
              <a:t># 세션 복원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load my_analysis.pse</a:t>
            </a:r>
          </a:p>
          <a:p>
            <a:pPr>
              <a:spcAft>
                <a:spcPts val="100"/>
              </a:spcAft>
              <a:defRPr sz="1300">
                <a:solidFill>
                  <a:srgbClr val="6A9955"/>
                </a:solidFill>
                <a:latin typeface="Consolas"/>
              </a:defRPr>
            </a:pPr>
            <a:r>
              <a:t># → 모든 객체, 색상, 카메라 뷰 복원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554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해상도 &amp; 용도 가이드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2057400"/>
            <a:ext cx="484632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2057400"/>
            <a:ext cx="109728" cy="4572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103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212121"/>
                </a:solidFill>
                <a:latin typeface="Consolas"/>
              </a:defRPr>
            </a:pPr>
            <a:r>
              <a:t>1920 × 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2103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발표용 (Full HD)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2606040"/>
            <a:ext cx="484632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2606040"/>
            <a:ext cx="109728" cy="4572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26517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212121"/>
                </a:solidFill>
                <a:latin typeface="Consolas"/>
              </a:defRPr>
            </a:pPr>
            <a:r>
              <a:t>2400 × 1800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651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논문 figure (300 dpi)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3154680"/>
            <a:ext cx="484632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3154680"/>
            <a:ext cx="109728" cy="45720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3200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212121"/>
                </a:solidFill>
                <a:latin typeface="Consolas"/>
              </a:defRPr>
            </a:pPr>
            <a:r>
              <a:t>3840 × 2160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2004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포스터/고해상 (4K)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9319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파일 포맷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0" y="4389120"/>
            <a:ext cx="48463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44348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0897B"/>
                </a:solidFill>
                <a:latin typeface="Consolas"/>
              </a:defRPr>
            </a:pPr>
            <a:r>
              <a:t>.pse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4348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PyMOL 세션 (나중에 수정 가능)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4892040"/>
            <a:ext cx="48463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49377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0897B"/>
                </a:solidFill>
                <a:latin typeface="Consolas"/>
              </a:defRPr>
            </a:pPr>
            <a:r>
              <a:t>.png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49377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래스터 이미지 (발표/논문)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0" y="5394960"/>
            <a:ext cx="48463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54406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0897B"/>
                </a:solidFill>
                <a:latin typeface="Consolas"/>
              </a:defRPr>
            </a:pPr>
            <a:r>
              <a:t>.pml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440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스크립트 (재현 가능한 시각화)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0" y="5897880"/>
            <a:ext cx="48463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0" y="59436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0897B"/>
                </a:solidFill>
                <a:latin typeface="Consolas"/>
              </a:defRPr>
            </a:pPr>
            <a:r>
              <a:t>.pdb / .sdf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59436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구조 데이터 (다른 도구로 전달)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PyMOL ↔ DataWarrior 연동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구조 시각화(PyMOL)와 데이터 분석(DataWarrior)을 연결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25603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2560320" cy="64008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Colab/Docker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2011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도킹 실행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SDF + CSV 생성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3774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  <a:defRPr sz="2800" b="1">
                <a:solidFill>
                  <a:srgbClr val="00897B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554480"/>
            <a:ext cx="25603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37560" y="1554480"/>
            <a:ext cx="2560320" cy="64008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DataWarrior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377440"/>
            <a:ext cx="2011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스코어 필터링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SAR 분석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관심 포즈 선별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3774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  <a:defRPr sz="2800" b="1">
                <a:solidFill>
                  <a:srgbClr val="00897B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25603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0" y="1554480"/>
            <a:ext cx="2560320" cy="64008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SDF 내보내기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377440"/>
            <a:ext cx="2011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File → Save Special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→ SD-File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선별된 포즈만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3774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  <a:defRPr sz="2800" b="1">
                <a:solidFill>
                  <a:srgbClr val="00897B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554480"/>
            <a:ext cx="25603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098280" y="1554480"/>
            <a:ext cx="2560320" cy="64008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PyMOL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2377440"/>
            <a:ext cx="2011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3D 시각화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상호작용 확인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이미지 저장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297680"/>
            <a:ext cx="10698480" cy="237744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300">
                <a:solidFill>
                  <a:srgbClr val="6A9955"/>
                </a:solidFill>
                <a:latin typeface="Consolas"/>
              </a:defRPr>
            </a:pPr>
            <a:r>
              <a:t># DataWarrior에서 선별한 포즈를 PyMOL에서 보기: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6A9955"/>
                </a:solidFill>
                <a:latin typeface="Consolas"/>
              </a:defRPr>
            </a:pPr>
            <a:r>
              <a:t># 1. DataWarrior: 필터 적용 → File → Save Special → SD-File → selected_poses.sdf</a:t>
            </a:r>
          </a:p>
          <a:p>
            <a:pPr>
              <a:spcAft>
                <a:spcPts val="100"/>
              </a:spcAft>
              <a:defRPr sz="1300">
                <a:solidFill>
                  <a:srgbClr val="6A9955"/>
                </a:solidFill>
                <a:latin typeface="Consolas"/>
              </a:defRPr>
            </a:pPr>
            <a:r>
              <a:t># 2. PyMOL: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load protein_H.pdb, protein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load selected_poses.sdf, hits       # DataWarrior에서 선별한 포즈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show cartoon, protein               # 단백질 리본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show sticks, hits                   # 선별 포즈 막대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color green, hits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select pocket, protein within 5 of hits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show sticks, pocket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distance hb, hits, pocket, mode=2   # 수소 결합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zoom hits, 8                        # 확대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PyMOL 명령어 치트시트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500" b="1">
                <a:solidFill>
                  <a:srgbClr val="00897B"/>
                </a:solidFill>
                <a:latin typeface="맑은 고딕"/>
              </a:defRPr>
            </a:pPr>
            <a:r>
              <a:t>로드 &amp; 저장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508760"/>
            <a:ext cx="3566160" cy="3657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/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fetch 6nzp                  # PDB 다운로드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965960"/>
            <a:ext cx="3566160" cy="3657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/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load file.pdb, name         # 파일 로드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423160"/>
            <a:ext cx="3566160" cy="3657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/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save out.pdb, selection     # 저장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880360"/>
            <a:ext cx="3566160" cy="3657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/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delete all                  # 전체 삭제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0972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500" b="1">
                <a:solidFill>
                  <a:srgbClr val="00897B"/>
                </a:solidFill>
                <a:latin typeface="맑은 고딕"/>
              </a:defRPr>
            </a:pPr>
            <a:r>
              <a:t>선택 (Selection)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508760"/>
            <a:ext cx="3566160" cy="3657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/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select Prot, polymer.protein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965960"/>
            <a:ext cx="3566160" cy="3657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/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select Lig, organic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2423160"/>
            <a:ext cx="3566160" cy="3657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/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select site, prot w. 5 of lig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2880360"/>
            <a:ext cx="3566160" cy="3657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/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remove solvent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10972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500" b="1">
                <a:solidFill>
                  <a:srgbClr val="00897B"/>
                </a:solidFill>
                <a:latin typeface="맑은 고딕"/>
              </a:defRPr>
            </a:pPr>
            <a:r>
              <a:t>표현 (Show/Hide)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508760"/>
            <a:ext cx="3566160" cy="3657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/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show cartoon, protein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965960"/>
            <a:ext cx="3566160" cy="3657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/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show sticks, ligand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423160"/>
            <a:ext cx="3566160" cy="3657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/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show surface, protein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2880360"/>
            <a:ext cx="3566160" cy="3657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/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hide everything, solvent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931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500" b="1">
                <a:solidFill>
                  <a:srgbClr val="00897B"/>
                </a:solidFill>
                <a:latin typeface="맑은 고딕"/>
              </a:defRPr>
            </a:pPr>
            <a:r>
              <a:t>색상 &amp; 라벨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343400"/>
            <a:ext cx="3566160" cy="3657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/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color green, ligand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4800600"/>
            <a:ext cx="3566160" cy="3657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/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util.cbag ligand            # 원소별 색상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5257800"/>
            <a:ext cx="3566160" cy="3657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/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spectrum b, blue_white_red  # B-factor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5715000"/>
            <a:ext cx="3566160" cy="3657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/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label site and name CA, resn+resi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3931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500" b="1">
                <a:solidFill>
                  <a:srgbClr val="00897B"/>
                </a:solidFill>
                <a:latin typeface="맑은 고딕"/>
              </a:defRPr>
            </a:pPr>
            <a:r>
              <a:t>분석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06240" y="4343400"/>
            <a:ext cx="3566160" cy="3657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/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distance hb, A, B, mode=2   # H-bond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06240" y="4800600"/>
            <a:ext cx="3566160" cy="3657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/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cealign ref, mobile          # 정렬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06240" y="5257800"/>
            <a:ext cx="3566160" cy="3657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/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split_states docked          # 포즈 분리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06240" y="5715000"/>
            <a:ext cx="3566160" cy="3657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/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zoom ligand, 8               # 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3931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500" b="1">
                <a:solidFill>
                  <a:srgbClr val="00897B"/>
                </a:solidFill>
                <a:latin typeface="맑은 고딕"/>
              </a:defRPr>
            </a:pPr>
            <a:r>
              <a:t>이미지 저장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20" y="4343400"/>
            <a:ext cx="3566160" cy="3657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/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bg_color white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20" y="4800600"/>
            <a:ext cx="3566160" cy="3657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/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set ray_trace_mode, 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20" y="5257800"/>
            <a:ext cx="3566160" cy="3657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/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ray 2400, 1800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5715000"/>
            <a:ext cx="3566160" cy="3657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/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png figure.png, dpi=300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