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PyMOL 도킹 결과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0">
                <a:solidFill>
                  <a:srgbClr val="00897B"/>
                </a:solidFill>
                <a:latin typeface="맑은 고딕"/>
              </a:defRPr>
            </a:pPr>
            <a:r>
              <a:t>도킹 결과를 3D로 분석하는 실습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0">
                <a:solidFill>
                  <a:srgbClr val="AAAAAA"/>
                </a:solidFill>
                <a:latin typeface="맑은 고딕"/>
              </a:defRPr>
            </a:pPr>
            <a:r>
              <a:t>실습 1.  구조 로드 &amp; 기본 시각화</a:t>
            </a:r>
          </a:p>
          <a:p>
            <a:pPr algn="l">
              <a:spcAft>
                <a:spcPts val="200"/>
              </a:spcAft>
              <a:defRPr sz="1700" b="0">
                <a:solidFill>
                  <a:srgbClr val="AAAAAA"/>
                </a:solidFill>
                <a:latin typeface="맑은 고딕"/>
              </a:defRPr>
            </a:pPr>
            <a:r>
              <a:t>실습 2.  도킹 포즈 분석</a:t>
            </a:r>
          </a:p>
          <a:p>
            <a:pPr algn="l">
              <a:spcAft>
                <a:spcPts val="200"/>
              </a:spcAft>
              <a:defRPr sz="1700" b="0">
                <a:solidFill>
                  <a:srgbClr val="AAAAAA"/>
                </a:solidFill>
                <a:latin typeface="맑은 고딕"/>
              </a:defRPr>
            </a:pPr>
            <a:r>
              <a:t>실습 3.  수소 결합 &amp; 거리 측정</a:t>
            </a:r>
          </a:p>
          <a:p>
            <a:pPr algn="l">
              <a:spcAft>
                <a:spcPts val="200"/>
              </a:spcAft>
              <a:defRPr sz="1700" b="0">
                <a:solidFill>
                  <a:srgbClr val="AAAAAA"/>
                </a:solidFill>
                <a:latin typeface="맑은 고딕"/>
              </a:defRPr>
            </a:pPr>
            <a:r>
              <a:t>실습 4.  EGFR 변이체 비교</a:t>
            </a:r>
          </a:p>
          <a:p>
            <a:pPr algn="l">
              <a:spcAft>
                <a:spcPts val="200"/>
              </a:spcAft>
              <a:defRPr sz="1700" b="0">
                <a:solidFill>
                  <a:srgbClr val="AAAAAA"/>
                </a:solidFill>
                <a:latin typeface="맑은 고딕"/>
              </a:defRPr>
            </a:pPr>
            <a:r>
              <a:t>실습 5.  이미지 저장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212121"/>
                </a:solidFill>
                <a:latin typeface="맑은 고딕"/>
              </a:defRPr>
            </a:pPr>
            <a:r>
              <a:t>PyMOL 인터페이스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6517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651760" cy="64008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명령줄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103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하단 입력창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PyMOL 명령어 직접 입력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280160"/>
            <a:ext cx="26517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37560" y="1280160"/>
            <a:ext cx="2651760" cy="64008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3D 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103120"/>
            <a:ext cx="2103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좌클릭+드래그: 회전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휠: 줌, 우클릭: 이동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26517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2651760" cy="64008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객체 패널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2103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우측의 분자 목록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A/S/H/L/C 버튼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280160"/>
            <a:ext cx="26517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98280" y="1280160"/>
            <a:ext cx="2651760" cy="640080"/>
          </a:xfrm>
          <a:prstGeom prst="round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스크립트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103120"/>
            <a:ext cx="2103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File → Run Script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.pml 파일 실행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54880"/>
            <a:ext cx="11247120" cy="146304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마우스 조작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좌클릭+드래그 = 회전 | 우클릭+드래그 = 이동 | 휠 = 줌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핵심 개념: Object(분자), Selection(부분 선택), State(포즈), Representation(표현)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Selection 문법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polymer.protein       # 단백질      | organic             # 리간드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prot within 5 of lig  # 5A 이내     | resi 790            # 790번 잔기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212121"/>
                </a:solidFill>
                <a:latin typeface="맑은 고딕"/>
              </a:defRPr>
            </a:pPr>
            <a:r>
              <a:t>4가지 표현 방법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2743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2743200" cy="59436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Cartoon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리본 뼈대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전체 fold 파악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91840"/>
            <a:ext cx="2468880" cy="192024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show cartoon, prot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color palegreen, prot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280160"/>
            <a:ext cx="2743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91840" y="1280160"/>
            <a:ext cx="2743200" cy="59436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Sticks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116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원자 수준 결합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상호작용 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291840"/>
            <a:ext cx="2468880" cy="192024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show sticks, lig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util.cbag lig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2743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2743200" cy="59436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Surface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분자 표면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포켓 시각화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291840"/>
            <a:ext cx="2468880" cy="192024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show surface, prot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set transparency, 0.7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280160"/>
            <a:ext cx="2743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0" y="1280160"/>
            <a:ext cx="2743200" cy="59436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Spheres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0116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실제 원자 크기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충돌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3291840"/>
            <a:ext cx="2468880" cy="192024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show spheres, resi 790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color red, resi 790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212121"/>
                </a:solidFill>
                <a:latin typeface="맑은 고딕"/>
              </a:defRPr>
            </a:pPr>
            <a:r>
              <a:t>실습 1: 구조 로드 &amp; 기본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897B"/>
                </a:solidFill>
                <a:latin typeface="맑은 고딕"/>
              </a:defRPr>
            </a:pPr>
            <a:r>
              <a:t>pymol_scripts/01_load_structure.pml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1. 파일 로드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6nzp_clean_H.pdb, protein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6nzp_lig_H.mol2, ref_ligand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2. 단백질: 리본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cartoon, protein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palegreen, protein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3. 리간드: 원소별 색상 막대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sticks, ref_ligand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util.cbam ref_ligand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4. 결합 부위 (5A 이내 잔기)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select pocket, \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  protein within 5 of ref_ligand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sticks, pocket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skyblue, pocket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5. 반투명 표면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surface, pocket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set transparency, 0.7, pocket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6. 수소 결합 (노란 점선)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distance hb, ref_ligand, pocket, mode=2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set dash_color, yellow, hb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hide labels, hb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7. 잔기 라벨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label pocket and name CA, resn+resi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8. 줌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zoom ref_ligand,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029200" cy="484632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00897B"/>
                </a:solidFill>
                <a:latin typeface="맑은 고딕"/>
              </a:defRPr>
            </a:pPr>
            <a:r>
              <a:t>단계별 설명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00897B"/>
                </a:solidFill>
                <a:latin typeface="맑은 고딕"/>
              </a:defRPr>
            </a:pPr>
            <a:r>
              <a:t>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파일을 이름 지정하여 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243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00897B"/>
                </a:solidFill>
                <a:latin typeface="맑은 고딕"/>
              </a:defRPr>
            </a:pPr>
            <a:r>
              <a:t>cartoon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624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리본으로 전체 뼈대 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14553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00897B"/>
                </a:solidFill>
                <a:latin typeface="맑은 고딕"/>
              </a:defRPr>
            </a:pPr>
            <a:r>
              <a:t>sticks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14553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막대로 원자-결합 표시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6667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00897B"/>
                </a:solidFill>
                <a:latin typeface="맑은 고딕"/>
              </a:defRPr>
            </a:pPr>
            <a:r>
              <a:t>util.cbam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6667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C=마젠타 원소별 색상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18795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00897B"/>
                </a:solidFill>
                <a:latin typeface="맑은 고딕"/>
              </a:defRPr>
            </a:pPr>
            <a:r>
              <a:t>within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18795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5A 이내 잔기 자동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709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00897B"/>
                </a:solidFill>
                <a:latin typeface="맑은 고딕"/>
              </a:defRPr>
            </a:pPr>
            <a:r>
              <a:t>surface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표면으로 포켓 형태 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2303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00897B"/>
                </a:solidFill>
                <a:latin typeface="맑은 고딕"/>
              </a:defRPr>
            </a:pPr>
            <a:r>
              <a:t>mode=2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5230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H-bond 자동 감지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75157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00897B"/>
                </a:solidFill>
                <a:latin typeface="맑은 고딕"/>
              </a:defRPr>
            </a:pPr>
            <a:r>
              <a:t>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7515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잔기명+번호 라벨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212121"/>
                </a:solidFill>
                <a:latin typeface="맑은 고딕"/>
              </a:defRPr>
            </a:pPr>
            <a:r>
              <a:t>실습 2: 도킹 포즈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897B"/>
                </a:solidFill>
                <a:latin typeface="맑은 고딕"/>
              </a:defRPr>
            </a:pPr>
            <a:r>
              <a:t>Crystal vs Docked 비교  |  pymol_scripts/02_docking_pose.pml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=== Best Pose 보기 ===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6nzp_lig_vina_out.sdf, docked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set all_states, 0   # 한 포즈만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frame 1             # best score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sticks, docked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green, docked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=== Crystal vs Docked ===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magenta = 실험 crystal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green   = 도킹 예측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sticks, ref_ligand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magenta, ref_ligand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=== 여러 포즈 색상 구분 ===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split_states docked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green,  docked_0001  # best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yellow, docked_0002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salmon, docked_0003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=== 포즈 순회 ===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frame 1   # ← → 키보드로도 가능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frame 2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frame 3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=== 도킹 포즈 수소 결합 ===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distance hb_dock, docked, pocket, \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  mode=2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set dash_color, chartreuse, hb_dock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029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분석 포인트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1. Best pose가 crystal과 겹치는가?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423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2. 수소결합 패턴이 유사한가?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3. 리간드 방향이 일치하는가?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4. 포즈 간 편차가 큰가?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931920"/>
            <a:ext cx="5029200" cy="237744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0897B"/>
                </a:solidFill>
                <a:latin typeface="맑은 고딕"/>
              </a:defRPr>
            </a:pPr>
            <a:r>
              <a:t>util.cba* 색상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0897B"/>
                </a:solidFill>
                <a:latin typeface="맑은 고딕"/>
              </a:defRPr>
            </a:pPr>
            <a:r>
              <a:t>util.cbag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C=Green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800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0897B"/>
                </a:solidFill>
                <a:latin typeface="맑은 고딕"/>
              </a:defRPr>
            </a:pPr>
            <a:r>
              <a:t>util.cbam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C=Magenta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0897B"/>
                </a:solidFill>
                <a:latin typeface="맑은 고딕"/>
              </a:defRPr>
            </a:pPr>
            <a:r>
              <a:t>util.cbac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C=Cyan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440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0897B"/>
                </a:solidFill>
                <a:latin typeface="맑은 고딕"/>
              </a:defRPr>
            </a:pPr>
            <a:r>
              <a:t>util.cbay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440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C=Yellow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7607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0897B"/>
                </a:solidFill>
                <a:latin typeface="맑은 고딕"/>
              </a:defRPr>
            </a:pPr>
            <a:r>
              <a:t>util.cbas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7607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C=Salmon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212121"/>
                </a:solidFill>
                <a:latin typeface="맑은 고딕"/>
              </a:defRPr>
            </a:pPr>
            <a:r>
              <a:t>실습 3: 수소 결합 &amp; 거리 측정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20116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자동 H-bond 감지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distance hb, docked, pocket, mode=2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set dash_color, yellow, hb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set dash_width, 2.5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수동 거리 측정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distance d1, /docked///UNK/N1, \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  /protein///LEU932/O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5120640" cy="13716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Polar contact 표시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distance polar, all, all, mode=2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특정 잔기의 H-bond만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distance hb_asp, \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  /protein///ASP/OD*, \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  /docked///UNK/N*, mode=2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거리별 상호작용 해석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737360"/>
            <a:ext cx="109728" cy="4114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&lt; 2.5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783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강한 H-bond / 공유결합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286000"/>
            <a:ext cx="109728" cy="4114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2.5-3.5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331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수소 결합 (H-bond)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834640"/>
            <a:ext cx="109728" cy="4114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880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3.5-4.0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880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π-π / 소수성 접촉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383280"/>
            <a:ext cx="109728" cy="41148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429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4.0-5.0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van der Waals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931920"/>
            <a:ext cx="109728" cy="4114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977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&gt; 5.0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977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직접 상호작용 없음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212080"/>
            <a:ext cx="10698480" cy="11887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색상 팔레트 요약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단백질: palegreen  |  결합부위: skyblue  |  Crystal: magenta  |  Docked: green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H-bond: yellow     |  WT: palegreen      |  Mutant: salmon    |  변이잔기: red (spheres)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212121"/>
                </a:solidFill>
                <a:latin typeface="맑은 고딕"/>
              </a:defRPr>
            </a:pPr>
            <a:r>
              <a:t>실습 4: EGFR 변이체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897B"/>
                </a:solidFill>
                <a:latin typeface="맑은 고딕"/>
              </a:defRPr>
            </a:pPr>
            <a:r>
              <a:t>pymol_scripts/03_compare_mutations.pml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1. 구조 로드 &amp; 정렬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1m17_clean_H.pdb, WT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2jit_clean_H.pdb, T790M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cealign WT, T790M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2. 색상 구분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palegreen, WT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salmon, T790M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cartoon, WT or T790M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3. Gatekeeper 잔기 (790)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select gate_wt,  WT and resi 790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select gate_mut, T790M and resi 790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spheres, gate_wt or gate_mut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blue, gate_wt     # Thr(WT)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red, gate_mut     # Met(Mut)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4. 라벨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label gate_wt and name CA,  "Thr790"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label gate_mut and name CA, "Met790"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set label_size, 16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5. 결합 부위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select site_wt, \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  WT within 5 of (WT and organic)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sticks, site_wt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6. 약물 비교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osimertinib.sdf, osi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sticks, osi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cyan, osi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029200" cy="484632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00897B"/>
                </a:solidFill>
                <a:latin typeface="맑은 고딕"/>
              </a:defRPr>
            </a:pPr>
            <a:r>
              <a:t>관찰 포인트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0897B"/>
                </a:solidFill>
                <a:latin typeface="맑은 고딕"/>
              </a:defRPr>
            </a:pPr>
            <a:r>
              <a:t>구조 정렬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12121"/>
                </a:solidFill>
                <a:latin typeface="맑은 고딕"/>
              </a:defRPr>
            </a:pPr>
            <a:r>
              <a:t>cealign으로 뼈대를 겹침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212121"/>
                </a:solidFill>
                <a:latin typeface="맑은 고딕"/>
              </a:defRPr>
            </a:pPr>
            <a:r>
              <a:t>→ 전체 fold 유사성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1546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0897B"/>
                </a:solidFill>
                <a:latin typeface="맑은 고딕"/>
              </a:defRPr>
            </a:pPr>
            <a:r>
              <a:t>Gatekeeper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428999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12121"/>
                </a:solidFill>
                <a:latin typeface="맑은 고딕"/>
              </a:defRPr>
            </a:pPr>
            <a:r>
              <a:t>Thr790→Met790 변이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212121"/>
                </a:solidFill>
                <a:latin typeface="맑은 고딕"/>
              </a:defRPr>
            </a:pPr>
            <a:r>
              <a:t>Met의 큰 side chain이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212121"/>
                </a:solidFill>
                <a:latin typeface="맑은 고딕"/>
              </a:defRPr>
            </a:pPr>
            <a:r>
              <a:t>ATP 포켓 입구를 차단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0897B"/>
                </a:solidFill>
                <a:latin typeface="맑은 고딕"/>
              </a:defRPr>
            </a:pPr>
            <a:r>
              <a:t>약물 결합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4805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12121"/>
                </a:solidFill>
                <a:latin typeface="맑은 고딕"/>
              </a:defRPr>
            </a:pPr>
            <a:r>
              <a:t>Osimertinib(3세대)은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212121"/>
                </a:solidFill>
                <a:latin typeface="맑은 고딕"/>
              </a:defRPr>
            </a:pPr>
            <a:r>
              <a:t>T790M에 더 강하게 결합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212121"/>
                </a:solidFill>
                <a:latin typeface="맑은 고딕"/>
              </a:defRPr>
            </a:pPr>
            <a:r>
              <a:t>→ Met과 새로운 상호작용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525779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0897B"/>
                </a:solidFill>
                <a:latin typeface="맑은 고딕"/>
              </a:defRPr>
            </a:pPr>
            <a:r>
              <a:t>포켓 비교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532119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12121"/>
                </a:solidFill>
                <a:latin typeface="맑은 고딕"/>
              </a:defRPr>
            </a:pPr>
            <a:r>
              <a:t>show surface로 비교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212121"/>
                </a:solidFill>
                <a:latin typeface="맑은 고딕"/>
              </a:defRPr>
            </a:pPr>
            <a:r>
              <a:t>변이에 의한 형태 변화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212121"/>
                </a:solidFill>
                <a:latin typeface="맑은 고딕"/>
              </a:defRPr>
            </a:pPr>
            <a:r>
              <a:t>→ 1세대 약물 내성 원인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212121"/>
                </a:solidFill>
                <a:latin typeface="맑은 고딕"/>
              </a:defRPr>
            </a:pPr>
            <a:r>
              <a:t>실습 5: 이미지 저장 &amp; 세션 관리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32004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고해상도 이미지 저장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set antialias, 2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set ray_shadow, 1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set ray_trace_mode, 1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bg_color white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렌더링 &amp; 저장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ray 2400, 1800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png figure.png, dpi=300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투명 배경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set ray_opaque_background, 0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ray 2400, 1800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png figure_transparent.png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세션 저장 (나중에 수정 가능)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save my_analysis.pse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해상도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737360"/>
            <a:ext cx="109728" cy="3657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1920x1080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발표용 (Full HD)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240280"/>
            <a:ext cx="109728" cy="3657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2400x1800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40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논문 figure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743200"/>
            <a:ext cx="109728" cy="3657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3840x2160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포스터 (4K)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파일 포맷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840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0897B"/>
                </a:solidFill>
                <a:latin typeface="맑은 고딕"/>
              </a:defRPr>
            </a:pPr>
            <a:r>
              <a:t>.pse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PyMOL 세션 (수정 가능)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297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0897B"/>
                </a:solidFill>
                <a:latin typeface="맑은 고딕"/>
              </a:defRPr>
            </a:pPr>
            <a:r>
              <a:t>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이미지 (발표/논문)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0897B"/>
                </a:solidFill>
                <a:latin typeface="맑은 고딕"/>
              </a:defRPr>
            </a:pPr>
            <a:r>
              <a:t>.pml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754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스크립트 (재현용)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FFFFFF"/>
                </a:solidFill>
                <a:latin typeface="맑은 고딕"/>
              </a:defRPr>
            </a:pPr>
            <a:r>
              <a:t>PyMOL 명령어 치트시트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0897B"/>
                </a:solidFill>
                <a:latin typeface="맑은 고딕"/>
              </a:defRPr>
            </a:pPr>
            <a:r>
              <a:t>로드/저장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fetch 6nzp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55648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load f.pdb, 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231136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save out.pdb, sel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706624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delete 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0897B"/>
                </a:solidFill>
                <a:latin typeface="맑은 고딕"/>
              </a:defRPr>
            </a:pPr>
            <a:r>
              <a:t>선택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280160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select P, polymer.protein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755648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select L, organic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2231136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select s, P w. 5 of 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706624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remove solvent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0897B"/>
                </a:solidFill>
                <a:latin typeface="맑은 고딕"/>
              </a:defRPr>
            </a:pPr>
            <a:r>
              <a:t>표현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80160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show cartoon, 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55648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show sticks, 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231136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show surface, 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706624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hide everything, sol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749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0897B"/>
                </a:solidFill>
                <a:latin typeface="맑은 고딕"/>
              </a:defRPr>
            </a:pPr>
            <a:r>
              <a:t>색상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114799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color green, 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590287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util.cbag 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065775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spectrum b, blue_white_red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541263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label s and name CA, resn+resi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749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0897B"/>
                </a:solidFill>
                <a:latin typeface="맑은 고딕"/>
              </a:defRPr>
            </a:pPr>
            <a:r>
              <a:t>분석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4114799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distance hb, A, B, mode=2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4590287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cealign ref, mobile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5065775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split_states docked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5541263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zoom L,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749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0897B"/>
                </a:solidFill>
                <a:latin typeface="맑은 고딕"/>
              </a:defRPr>
            </a:pPr>
            <a:r>
              <a:t>이미지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114799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bg_color white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590287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set ray_trace_mode,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5065775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ray 2400, 1800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5541263"/>
            <a:ext cx="3566160" cy="384048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000">
                <a:solidFill>
                  <a:srgbClr val="ABB2BF"/>
                </a:solidFill>
                <a:latin typeface="Consolas"/>
              </a:defRPr>
            </a:pPr>
            <a:r>
              <a:t>png fig.png, dpi=300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